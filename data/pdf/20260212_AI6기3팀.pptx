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66" r:id="rId2"/>
    <p:sldId id="286" r:id="rId3"/>
    <p:sldId id="336" r:id="rId4"/>
    <p:sldId id="280" r:id="rId5"/>
    <p:sldId id="295" r:id="rId6"/>
    <p:sldId id="301" r:id="rId7"/>
    <p:sldId id="298" r:id="rId8"/>
    <p:sldId id="302" r:id="rId9"/>
    <p:sldId id="306" r:id="rId10"/>
    <p:sldId id="337" r:id="rId11"/>
    <p:sldId id="299" r:id="rId12"/>
    <p:sldId id="303" r:id="rId13"/>
    <p:sldId id="305" r:id="rId14"/>
    <p:sldId id="304" r:id="rId15"/>
    <p:sldId id="307" r:id="rId16"/>
    <p:sldId id="308" r:id="rId17"/>
    <p:sldId id="312" r:id="rId18"/>
    <p:sldId id="313" r:id="rId19"/>
    <p:sldId id="309" r:id="rId20"/>
    <p:sldId id="317" r:id="rId21"/>
    <p:sldId id="310" r:id="rId22"/>
    <p:sldId id="314" r:id="rId23"/>
    <p:sldId id="316" r:id="rId24"/>
    <p:sldId id="311" r:id="rId25"/>
    <p:sldId id="318" r:id="rId26"/>
    <p:sldId id="319" r:id="rId27"/>
    <p:sldId id="323" r:id="rId28"/>
    <p:sldId id="325" r:id="rId29"/>
    <p:sldId id="322" r:id="rId30"/>
    <p:sldId id="326" r:id="rId31"/>
    <p:sldId id="324" r:id="rId32"/>
    <p:sldId id="327" r:id="rId33"/>
    <p:sldId id="321" r:id="rId34"/>
    <p:sldId id="328" r:id="rId35"/>
    <p:sldId id="329" r:id="rId36"/>
    <p:sldId id="330" r:id="rId37"/>
    <p:sldId id="332" r:id="rId38"/>
    <p:sldId id="333" r:id="rId39"/>
    <p:sldId id="335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F00"/>
    <a:srgbClr val="EFD3AF"/>
    <a:srgbClr val="2E3B48"/>
    <a:srgbClr val="D69137"/>
    <a:srgbClr val="F9F9F9"/>
    <a:srgbClr val="FFF5F0"/>
    <a:srgbClr val="455D73"/>
    <a:srgbClr val="EEEEEE"/>
    <a:srgbClr val="D9D9D9"/>
    <a:srgbClr val="F3F1F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74667" autoAdjust="0"/>
  </p:normalViewPr>
  <p:slideViewPr>
    <p:cSldViewPr snapToGrid="0" showGuides="1">
      <p:cViewPr varScale="1">
        <p:scale>
          <a:sx n="74" d="100"/>
          <a:sy n="74" d="100"/>
        </p:scale>
        <p:origin x="174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Dataset2 난이도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AEBB-4F75-AFA2-A25566FB6105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AEBB-4F75-AFA2-A25566FB6105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AEBB-4F75-AFA2-A25566FB61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19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BB-4F75-AFA2-A25566FB610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4200221928496601"/>
          <c:y val="0.86993227089329739"/>
          <c:w val="0.63975141606990449"/>
          <c:h val="0.115598955796605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2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45571538713910759"/>
          <c:y val="0.13038225382053337"/>
          <c:w val="0.5254668635170604"/>
          <c:h val="0.7160957037938788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Paragraph + ko-srobeta_Dataset2 </c:v>
                </c:pt>
                <c:pt idx="1">
                  <c:v>ContextEnriched + openai_Dataset2</c:v>
                </c:pt>
                <c:pt idx="2">
                  <c:v>Paragraph + ko-srobeta_Dataset1</c:v>
                </c:pt>
                <c:pt idx="3">
                  <c:v>ContextEnriched + openai_Dataset1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0.92500000000000004</c:v>
                </c:pt>
                <c:pt idx="1">
                  <c:v>0.92700000000000005</c:v>
                </c:pt>
                <c:pt idx="2">
                  <c:v>0.92700000000000005</c:v>
                </c:pt>
                <c:pt idx="3">
                  <c:v>0.93799999999999994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35-401C-9A6F-CB0447607A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Hit@1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Paragraph + ko-srobeta_Dataset2 </c:v>
                </c:pt>
                <c:pt idx="1">
                  <c:v>ContextEnriched + openai_Dataset2</c:v>
                </c:pt>
                <c:pt idx="2">
                  <c:v>Paragraph + ko-srobeta_Dataset1</c:v>
                </c:pt>
                <c:pt idx="3">
                  <c:v>ContextEnriched + openai_Dataset1</c:v>
                </c:pt>
              </c:strCache>
            </c:strRef>
          </c:cat>
          <c:val>
            <c:numRef>
              <c:f>Sheet1!$C$2:$C$5</c:f>
              <c:numCache>
                <c:formatCode>0.00%</c:formatCode>
                <c:ptCount val="4"/>
                <c:pt idx="0">
                  <c:v>0.9</c:v>
                </c:pt>
                <c:pt idx="1">
                  <c:v>0.97499999999999998</c:v>
                </c:pt>
                <c:pt idx="2" formatCode="0%">
                  <c:v>0.9</c:v>
                </c:pt>
                <c:pt idx="3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35-401C-9A6F-CB0447607A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Hit@5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Paragraph + ko-srobeta_Dataset2 </c:v>
                </c:pt>
                <c:pt idx="1">
                  <c:v>ContextEnriched + openai_Dataset2</c:v>
                </c:pt>
                <c:pt idx="2">
                  <c:v>Paragraph + ko-srobeta_Dataset1</c:v>
                </c:pt>
                <c:pt idx="3">
                  <c:v>ContextEnriched + openai_Dataset1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 formatCode="0.00%">
                  <c:v>0.92500000000000004</c:v>
                </c:pt>
                <c:pt idx="1">
                  <c:v>0.97499999999999998</c:v>
                </c:pt>
                <c:pt idx="2" formatCode="0.00%">
                  <c:v>0.97499999999999998</c:v>
                </c:pt>
                <c:pt idx="3" formatCode="0.00%">
                  <c:v>0.97499999999999998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35-401C-9A6F-CB0447607A0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042239008"/>
        <c:axId val="1221207999"/>
      </c:barChart>
      <c:catAx>
        <c:axId val="2042239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21207999"/>
        <c:crosses val="autoZero"/>
        <c:auto val="1"/>
        <c:lblAlgn val="ctr"/>
        <c:lblOffset val="100"/>
        <c:noMultiLvlLbl val="0"/>
      </c:catAx>
      <c:valAx>
        <c:axId val="1221207999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042239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085546-7C7C-4B3E-ABEB-2669F1A65FB2}" type="doc">
      <dgm:prSet loTypeId="urn:microsoft.com/office/officeart/2017/3/layout/DropPin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6A9AF0-0DAE-4EB3-B448-4501DA034F4A}">
      <dgm:prSet phldrT="[Text]" custT="1"/>
      <dgm:spPr/>
      <dgm:t>
        <a:bodyPr/>
        <a:lstStyle/>
        <a:p>
          <a:pPr>
            <a:defRPr b="1"/>
          </a:pPr>
          <a:r>
            <a:rPr lang="en-US" sz="1600" kern="1200" dirty="0">
              <a:solidFill>
                <a:schemeClr val="bg1"/>
              </a:solidFill>
            </a:rPr>
            <a:t>memory_store.py</a:t>
          </a:r>
          <a:br>
            <a:rPr lang="en-US" sz="1600" kern="1200" dirty="0">
              <a:solidFill>
                <a:schemeClr val="bg1"/>
              </a:solidFill>
            </a:rPr>
          </a:br>
          <a:r>
            <a:rPr lang="en-US" sz="105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SQLite </a:t>
          </a:r>
          <a:r>
            <a:rPr lang="ko-KR" altLang="en-US" sz="105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기반 대화 이력 저장소</a:t>
          </a:r>
          <a:endParaRPr lang="en-US" sz="105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gm:t>
    </dgm:pt>
    <dgm:pt modelId="{8CE6ABD6-768E-42C8-9029-C3B5F278B21C}" type="parTrans" cxnId="{CA0753BD-DB60-4D68-8486-5B376B839B26}">
      <dgm:prSet/>
      <dgm:spPr/>
      <dgm:t>
        <a:bodyPr/>
        <a:lstStyle/>
        <a:p>
          <a:endParaRPr lang="en-US"/>
        </a:p>
      </dgm:t>
    </dgm:pt>
    <dgm:pt modelId="{6B0D7DA9-E6ED-4137-9716-F48BF62327A8}" type="sibTrans" cxnId="{CA0753BD-DB60-4D68-8486-5B376B839B26}">
      <dgm:prSet/>
      <dgm:spPr/>
      <dgm:t>
        <a:bodyPr/>
        <a:lstStyle/>
        <a:p>
          <a:endParaRPr lang="en-US"/>
        </a:p>
      </dgm:t>
    </dgm:pt>
    <dgm:pt modelId="{CA6B1BA0-B2FC-48AD-8EDA-F4AAA4AF2782}">
      <dgm:prSet custT="1"/>
      <dgm:spPr/>
      <dgm:t>
        <a:bodyPr/>
        <a:lstStyle/>
        <a:p>
          <a:pPr>
            <a:defRPr b="1"/>
          </a:pPr>
          <a:r>
            <a:rPr 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RAG </a:t>
          </a:r>
          <a:r>
            <a:rPr lang="ko-KR" alt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테스트 진행</a:t>
          </a:r>
          <a:endParaRPr lang="en-US" sz="160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gm:t>
    </dgm:pt>
    <dgm:pt modelId="{D7D3AA07-BCB9-4212-A556-E90870FB1413}" type="parTrans" cxnId="{CD6B6EE8-3813-4EF1-BFEC-C005A3326D63}">
      <dgm:prSet/>
      <dgm:spPr/>
      <dgm:t>
        <a:bodyPr/>
        <a:lstStyle/>
        <a:p>
          <a:endParaRPr lang="en-US"/>
        </a:p>
      </dgm:t>
    </dgm:pt>
    <dgm:pt modelId="{39FB540D-D808-4040-9A37-0AC474C0212F}" type="sibTrans" cxnId="{CD6B6EE8-3813-4EF1-BFEC-C005A3326D63}">
      <dgm:prSet/>
      <dgm:spPr/>
      <dgm:t>
        <a:bodyPr/>
        <a:lstStyle/>
        <a:p>
          <a:endParaRPr lang="en-US"/>
        </a:p>
      </dgm:t>
    </dgm:pt>
    <dgm:pt modelId="{92921081-529B-4D1C-83A4-C416BB4C5224}">
      <dgm:prSet custT="1"/>
      <dgm:spPr/>
      <dgm:t>
        <a:bodyPr/>
        <a:lstStyle/>
        <a:p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질문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/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답변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/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피드백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SQLite 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저장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5AD2C2F8-A1D7-469B-93D8-B578BEFE51F8}" type="parTrans" cxnId="{B05C4C7C-FEB8-4825-98A0-C38D3021918A}">
      <dgm:prSet/>
      <dgm:spPr/>
      <dgm:t>
        <a:bodyPr/>
        <a:lstStyle/>
        <a:p>
          <a:endParaRPr lang="en-US"/>
        </a:p>
      </dgm:t>
    </dgm:pt>
    <dgm:pt modelId="{ECC13403-1F53-4ED4-AE4F-334EEC7C8710}" type="sibTrans" cxnId="{B05C4C7C-FEB8-4825-98A0-C38D3021918A}">
      <dgm:prSet/>
      <dgm:spPr/>
      <dgm:t>
        <a:bodyPr/>
        <a:lstStyle/>
        <a:p>
          <a:endParaRPr lang="en-US"/>
        </a:p>
      </dgm:t>
    </dgm:pt>
    <dgm:pt modelId="{3CB04A44-4013-4CA7-90FD-29AFC3C15E37}">
      <dgm:prSet custT="1"/>
      <dgm:spPr/>
      <dgm:t>
        <a:bodyPr/>
        <a:lstStyle/>
        <a:p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A. Dense</a:t>
          </a:r>
        </a:p>
      </dgm:t>
    </dgm:pt>
    <dgm:pt modelId="{ECEE936A-E3CC-4209-BECC-1CD0C85A2B72}" type="parTrans" cxnId="{24A8F052-3377-4BA4-8C62-CCF5039C85D7}">
      <dgm:prSet/>
      <dgm:spPr/>
      <dgm:t>
        <a:bodyPr/>
        <a:lstStyle/>
        <a:p>
          <a:endParaRPr lang="en-US"/>
        </a:p>
      </dgm:t>
    </dgm:pt>
    <dgm:pt modelId="{D7A8F7A0-47A3-4464-B3B7-E0806DF46627}" type="sibTrans" cxnId="{24A8F052-3377-4BA4-8C62-CCF5039C85D7}">
      <dgm:prSet/>
      <dgm:spPr/>
      <dgm:t>
        <a:bodyPr/>
        <a:lstStyle/>
        <a:p>
          <a:endParaRPr lang="en-US"/>
        </a:p>
      </dgm:t>
    </dgm:pt>
    <dgm:pt modelId="{212ADAAB-D5CB-4BBC-8DAF-7340FD334994}">
      <dgm:prSet custT="1"/>
      <dgm:spPr/>
      <dgm:t>
        <a:bodyPr/>
        <a:lstStyle/>
        <a:p>
          <a:pPr>
            <a:defRPr b="1"/>
          </a:pPr>
          <a:r>
            <a:rPr 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app.py</a:t>
          </a:r>
          <a:br>
            <a:rPr lang="en-US" sz="1100" kern="1200" dirty="0">
              <a:solidFill>
                <a:schemeClr val="bg1"/>
              </a:solidFill>
            </a:rPr>
          </a:br>
          <a:r>
            <a:rPr lang="en-US" sz="1100" kern="1200" dirty="0" err="1">
              <a:solidFill>
                <a:schemeClr val="bg1"/>
              </a:solidFill>
            </a:rPr>
            <a:t>streamit</a:t>
          </a:r>
          <a:r>
            <a:rPr lang="en-US" sz="1100" kern="1200" dirty="0">
              <a:solidFill>
                <a:schemeClr val="bg1"/>
              </a:solidFill>
            </a:rPr>
            <a:t> </a:t>
          </a:r>
          <a:r>
            <a:rPr lang="ko-KR" altLang="en-US" sz="1100" kern="1200" dirty="0">
              <a:solidFill>
                <a:schemeClr val="bg1"/>
              </a:solidFill>
            </a:rPr>
            <a:t>실행</a:t>
          </a:r>
          <a:endParaRPr lang="en-US" sz="1100" kern="1200" dirty="0">
            <a:solidFill>
              <a:schemeClr val="bg1"/>
            </a:solidFill>
          </a:endParaRPr>
        </a:p>
      </dgm:t>
    </dgm:pt>
    <dgm:pt modelId="{45F6D312-A686-491E-95E3-EFB9640CC472}" type="parTrans" cxnId="{C8C7266C-2A0C-476A-85B3-F12BE2521F4C}">
      <dgm:prSet/>
      <dgm:spPr/>
      <dgm:t>
        <a:bodyPr/>
        <a:lstStyle/>
        <a:p>
          <a:endParaRPr lang="en-US"/>
        </a:p>
      </dgm:t>
    </dgm:pt>
    <dgm:pt modelId="{AB2787E4-2A8B-428D-A4AE-2B14DCFFC4E7}" type="sibTrans" cxnId="{C8C7266C-2A0C-476A-85B3-F12BE2521F4C}">
      <dgm:prSet/>
      <dgm:spPr/>
      <dgm:t>
        <a:bodyPr/>
        <a:lstStyle/>
        <a:p>
          <a:endParaRPr lang="en-US"/>
        </a:p>
      </dgm:t>
    </dgm:pt>
    <dgm:pt modelId="{2AEE5C11-34AE-4EB7-8907-9BED418EA471}">
      <dgm:prSet custT="1"/>
      <dgm:spPr/>
      <dgm:t>
        <a:bodyPr/>
        <a:lstStyle/>
        <a:p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Chatbot </a:t>
          </a:r>
          <a:r>
            <a:rPr lang="ko-KR" altLang="en-US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입찰메이트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AI</a:t>
          </a:r>
          <a:endParaRPr 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2E14AD1F-C7EA-45AE-ADC0-0EE92A6516CB}" type="parTrans" cxnId="{DD687B5C-28C8-4088-99B8-D375C5FDAE4A}">
      <dgm:prSet/>
      <dgm:spPr/>
      <dgm:t>
        <a:bodyPr/>
        <a:lstStyle/>
        <a:p>
          <a:endParaRPr lang="en-US"/>
        </a:p>
      </dgm:t>
    </dgm:pt>
    <dgm:pt modelId="{F36FDDA0-6B91-47CB-8114-B6F076E55FC8}" type="sibTrans" cxnId="{DD687B5C-28C8-4088-99B8-D375C5FDAE4A}">
      <dgm:prSet/>
      <dgm:spPr/>
      <dgm:t>
        <a:bodyPr/>
        <a:lstStyle/>
        <a:p>
          <a:endParaRPr lang="en-US"/>
        </a:p>
      </dgm:t>
    </dgm:pt>
    <dgm:pt modelId="{1BABDC70-C661-4E6F-94AD-4DA92AD2AE41}">
      <dgm:prSet custT="1"/>
      <dgm:spPr/>
      <dgm:t>
        <a:bodyPr/>
        <a:lstStyle/>
        <a:p>
          <a:pPr>
            <a:defRPr b="1"/>
          </a:pPr>
          <a:r>
            <a:rPr lang="ko-KR" altLang="en-US" sz="1600" b="1" kern="1200" dirty="0" err="1">
              <a:solidFill>
                <a:schemeClr val="bg1"/>
              </a:solidFill>
              <a:latin typeface="Pretendard"/>
              <a:ea typeface="Pretendard"/>
              <a:cs typeface="+mn-cs"/>
            </a:rPr>
            <a:t>전처리</a:t>
          </a:r>
          <a:r>
            <a:rPr lang="ko-KR" alt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 테스트 진행</a:t>
          </a:r>
          <a:endParaRPr lang="en-US" sz="160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gm:t>
    </dgm:pt>
    <dgm:pt modelId="{F8098BA6-04BA-434B-BFF9-7C87DEC01D22}" type="parTrans" cxnId="{1B1DEDB9-12E6-43C3-81CB-418072ADA437}">
      <dgm:prSet/>
      <dgm:spPr/>
      <dgm:t>
        <a:bodyPr/>
        <a:lstStyle/>
        <a:p>
          <a:pPr latinLnBrk="1"/>
          <a:endParaRPr lang="ko-KR" altLang="en-US"/>
        </a:p>
      </dgm:t>
    </dgm:pt>
    <dgm:pt modelId="{88813476-59B4-40DC-B478-CFD64177728A}" type="sibTrans" cxnId="{1B1DEDB9-12E6-43C3-81CB-418072ADA437}">
      <dgm:prSet/>
      <dgm:spPr/>
      <dgm:t>
        <a:bodyPr/>
        <a:lstStyle/>
        <a:p>
          <a:pPr latinLnBrk="1"/>
          <a:endParaRPr lang="ko-KR" altLang="en-US"/>
        </a:p>
      </dgm:t>
    </dgm:pt>
    <dgm:pt modelId="{2D27E104-4786-4820-9065-72968B9D7E34}">
      <dgm:prSet custT="1"/>
      <dgm:spPr/>
      <dgm:t>
        <a:bodyPr/>
        <a:lstStyle/>
        <a:p>
          <a:pPr>
            <a:defRPr b="1"/>
          </a:pPr>
          <a:r>
            <a:rPr lang="en-US" sz="1600" kern="1200" dirty="0">
              <a:solidFill>
                <a:schemeClr val="bg1"/>
              </a:solidFill>
            </a:rPr>
            <a:t>tts_worker.py</a:t>
          </a:r>
          <a:br>
            <a:rPr lang="en-US" sz="1600" kern="1200" dirty="0">
              <a:solidFill>
                <a:schemeClr val="bg1"/>
              </a:solidFill>
            </a:rPr>
          </a:br>
          <a:r>
            <a:rPr lang="ko-KR" alt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비동기</a:t>
          </a:r>
          <a:r>
            <a:rPr 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 </a:t>
          </a:r>
          <a:r>
            <a:rPr lang="ko-KR" alt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음성 합성 관리</a:t>
          </a:r>
          <a:endParaRPr lang="en-US" sz="110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gm:t>
    </dgm:pt>
    <dgm:pt modelId="{0FC09231-8261-4704-A0C4-EA48E03F22F9}" type="parTrans" cxnId="{2A9F08AC-6546-4256-B11D-B4B11E04D731}">
      <dgm:prSet/>
      <dgm:spPr/>
      <dgm:t>
        <a:bodyPr/>
        <a:lstStyle/>
        <a:p>
          <a:pPr latinLnBrk="1"/>
          <a:endParaRPr lang="ko-KR" altLang="en-US"/>
        </a:p>
      </dgm:t>
    </dgm:pt>
    <dgm:pt modelId="{CF8DEB4C-CF91-4AE1-B48C-F69D5D22EBA5}" type="sibTrans" cxnId="{2A9F08AC-6546-4256-B11D-B4B11E04D731}">
      <dgm:prSet/>
      <dgm:spPr/>
      <dgm:t>
        <a:bodyPr/>
        <a:lstStyle/>
        <a:p>
          <a:pPr latinLnBrk="1"/>
          <a:endParaRPr lang="ko-KR" altLang="en-US"/>
        </a:p>
      </dgm:t>
    </dgm:pt>
    <dgm:pt modelId="{F0F0BA66-986F-4777-BD2E-6A1A8F471C45}">
      <dgm:prSet custT="1"/>
      <dgm:spPr/>
      <dgm:t>
        <a:bodyPr/>
        <a:lstStyle/>
        <a:p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문장 단위 </a:t>
          </a:r>
          <a:r>
            <a:rPr lang="en-US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TTS 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합성</a:t>
          </a:r>
          <a:r>
            <a:rPr lang="en-US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/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재생을 큐로 처리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문장별 합성을 하나의 파일로 누적 저장</a:t>
          </a:r>
          <a:endParaRPr 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6D07A8AE-ADD4-4AEA-9E3D-4A6C0C0E4421}" type="parTrans" cxnId="{36B08B9B-EE10-4BB6-8219-821D98B6C60D}">
      <dgm:prSet/>
      <dgm:spPr/>
      <dgm:t>
        <a:bodyPr/>
        <a:lstStyle/>
        <a:p>
          <a:pPr latinLnBrk="1"/>
          <a:endParaRPr lang="ko-KR" altLang="en-US"/>
        </a:p>
      </dgm:t>
    </dgm:pt>
    <dgm:pt modelId="{E003A60D-E45A-41A3-B01A-93AF515F95B6}" type="sibTrans" cxnId="{36B08B9B-EE10-4BB6-8219-821D98B6C60D}">
      <dgm:prSet/>
      <dgm:spPr/>
      <dgm:t>
        <a:bodyPr/>
        <a:lstStyle/>
        <a:p>
          <a:pPr latinLnBrk="1"/>
          <a:endParaRPr lang="ko-KR" altLang="en-US"/>
        </a:p>
      </dgm:t>
    </dgm:pt>
    <dgm:pt modelId="{08CAE1A9-57A9-4265-8670-5B3542975321}">
      <dgm:prSet custT="1"/>
      <dgm:spPr/>
      <dgm:t>
        <a:bodyPr/>
        <a:lstStyle/>
        <a:p>
          <a:pPr>
            <a:defRPr b="1"/>
          </a:pPr>
          <a:r>
            <a:rPr 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rag_system.py</a:t>
          </a:r>
          <a:br>
            <a:rPr lang="en-US" sz="1300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MMR </a:t>
          </a:r>
          <a:r>
            <a:rPr lang="ko-KR" alt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검색 전략</a:t>
          </a:r>
          <a:endParaRPr lang="en-US" sz="110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gm:t>
    </dgm:pt>
    <dgm:pt modelId="{C7159EE4-A087-4AB5-9C84-F7DB0FB97832}" type="parTrans" cxnId="{0EE87008-A685-4F81-9056-F5AB187E964C}">
      <dgm:prSet/>
      <dgm:spPr/>
      <dgm:t>
        <a:bodyPr/>
        <a:lstStyle/>
        <a:p>
          <a:pPr latinLnBrk="1"/>
          <a:endParaRPr lang="ko-KR" altLang="en-US"/>
        </a:p>
      </dgm:t>
    </dgm:pt>
    <dgm:pt modelId="{9A403A3E-2D51-42E5-907F-2F16AF2D4863}" type="sibTrans" cxnId="{0EE87008-A685-4F81-9056-F5AB187E964C}">
      <dgm:prSet/>
      <dgm:spPr/>
      <dgm:t>
        <a:bodyPr/>
        <a:lstStyle/>
        <a:p>
          <a:pPr latinLnBrk="1"/>
          <a:endParaRPr lang="ko-KR" altLang="en-US"/>
        </a:p>
      </dgm:t>
    </dgm:pt>
    <dgm:pt modelId="{D4390C85-6C0D-4E82-AD8A-F71F0699F774}">
      <dgm:prSet custT="1"/>
      <dgm:spPr/>
      <dgm:t>
        <a:bodyPr/>
        <a:lstStyle/>
        <a:p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하이브리드 </a:t>
          </a:r>
          <a:r>
            <a:rPr lang="ko-KR" altLang="en-US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리트리버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LLM &amp; </a:t>
          </a:r>
          <a:r>
            <a:rPr lang="ko-KR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프롬프트 설정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r>
            <a:rPr lang="ko-KR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체인 조립 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(LCEL </a:t>
          </a:r>
          <a:r>
            <a:rPr lang="ko-KR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방식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)</a:t>
          </a:r>
        </a:p>
        <a:p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TTS </a:t>
          </a:r>
          <a:r>
            <a:rPr lang="ko-KR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보조 함수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3E20D8BB-8CF3-4DAD-BDB3-5DC62BB3AB64}" type="parTrans" cxnId="{B6EC528C-E742-4348-8A5A-0B3CF1839B4D}">
      <dgm:prSet/>
      <dgm:spPr/>
      <dgm:t>
        <a:bodyPr/>
        <a:lstStyle/>
        <a:p>
          <a:pPr latinLnBrk="1"/>
          <a:endParaRPr lang="ko-KR" altLang="en-US"/>
        </a:p>
      </dgm:t>
    </dgm:pt>
    <dgm:pt modelId="{855008FC-6E50-4CB3-A912-2F28E730E7C5}" type="sibTrans" cxnId="{B6EC528C-E742-4348-8A5A-0B3CF1839B4D}">
      <dgm:prSet/>
      <dgm:spPr/>
      <dgm:t>
        <a:bodyPr/>
        <a:lstStyle/>
        <a:p>
          <a:pPr latinLnBrk="1"/>
          <a:endParaRPr lang="ko-KR" altLang="en-US"/>
        </a:p>
      </dgm:t>
    </dgm:pt>
    <dgm:pt modelId="{33EF7C14-6C39-403E-9696-8AE7E154730C}">
      <dgm:prSet custT="1"/>
      <dgm:spPr/>
      <dgm:t>
        <a:bodyPr/>
        <a:lstStyle/>
        <a:p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TTS</a:t>
          </a:r>
        </a:p>
      </dgm:t>
    </dgm:pt>
    <dgm:pt modelId="{FAAF96BB-2132-4F55-B50F-B5FD1125BBB1}" type="parTrans" cxnId="{B9C6B37A-BD26-4A6B-8B2A-2EDDA52879ED}">
      <dgm:prSet/>
      <dgm:spPr/>
      <dgm:t>
        <a:bodyPr/>
        <a:lstStyle/>
        <a:p>
          <a:pPr latinLnBrk="1"/>
          <a:endParaRPr lang="ko-KR" altLang="en-US"/>
        </a:p>
      </dgm:t>
    </dgm:pt>
    <dgm:pt modelId="{0EB3A443-6417-4D5D-89D0-30A0198BBC06}" type="sibTrans" cxnId="{B9C6B37A-BD26-4A6B-8B2A-2EDDA52879ED}">
      <dgm:prSet/>
      <dgm:spPr/>
      <dgm:t>
        <a:bodyPr/>
        <a:lstStyle/>
        <a:p>
          <a:pPr latinLnBrk="1"/>
          <a:endParaRPr lang="ko-KR" altLang="en-US"/>
        </a:p>
      </dgm:t>
    </dgm:pt>
    <dgm:pt modelId="{9D3185FA-CFD6-49D6-93C1-C48716116575}">
      <dgm:prSet custT="1"/>
      <dgm:spPr/>
      <dgm:t>
        <a:bodyPr/>
        <a:lstStyle/>
        <a:p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피드백</a:t>
          </a:r>
          <a:endParaRPr 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1D974040-5C5F-40F9-80F6-3F60D37F2BE8}" type="parTrans" cxnId="{BE86222E-74E6-4EE8-B96B-8861ABAA3DC6}">
      <dgm:prSet/>
      <dgm:spPr/>
      <dgm:t>
        <a:bodyPr/>
        <a:lstStyle/>
        <a:p>
          <a:pPr latinLnBrk="1"/>
          <a:endParaRPr lang="ko-KR" altLang="en-US"/>
        </a:p>
      </dgm:t>
    </dgm:pt>
    <dgm:pt modelId="{7C0D5E93-6057-4C27-B792-4317568A2856}" type="sibTrans" cxnId="{BE86222E-74E6-4EE8-B96B-8861ABAA3DC6}">
      <dgm:prSet/>
      <dgm:spPr/>
      <dgm:t>
        <a:bodyPr/>
        <a:lstStyle/>
        <a:p>
          <a:pPr latinLnBrk="1"/>
          <a:endParaRPr lang="ko-KR" altLang="en-US"/>
        </a:p>
      </dgm:t>
    </dgm:pt>
    <dgm:pt modelId="{54BE56D2-23BA-4BC5-8498-35A7BED8D5C9}">
      <dgm:prSet custT="1"/>
      <dgm:spPr/>
      <dgm:t>
        <a:bodyPr/>
        <a:lstStyle/>
        <a:p>
          <a:pPr>
            <a:defRPr b="1"/>
          </a:pPr>
          <a:r>
            <a:rPr lang="en-US" altLang="ko-KR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create_vectordb.py</a:t>
          </a:r>
          <a:br>
            <a:rPr lang="en-US" sz="1050" kern="1200" dirty="0">
              <a:solidFill>
                <a:schemeClr val="bg1"/>
              </a:solidFill>
            </a:rPr>
          </a:br>
          <a:r>
            <a:rPr lang="ko-KR" altLang="en-US" sz="1050" kern="1200" dirty="0">
              <a:solidFill>
                <a:schemeClr val="bg1"/>
              </a:solidFill>
            </a:rPr>
            <a:t>텍스트 </a:t>
          </a:r>
          <a:r>
            <a:rPr lang="ko-KR" altLang="en-US" sz="1050" kern="1200" dirty="0" err="1">
              <a:solidFill>
                <a:schemeClr val="bg1"/>
              </a:solidFill>
            </a:rPr>
            <a:t>청킹</a:t>
          </a:r>
          <a:r>
            <a:rPr lang="ko-KR" altLang="en-US" sz="1050" kern="1200" dirty="0">
              <a:solidFill>
                <a:schemeClr val="bg1"/>
              </a:solidFill>
            </a:rPr>
            <a:t> 벡터 </a:t>
          </a:r>
          <a:r>
            <a:rPr lang="en-US" altLang="ko-KR" sz="1050" kern="1200" dirty="0">
              <a:solidFill>
                <a:schemeClr val="bg1"/>
              </a:solidFill>
            </a:rPr>
            <a:t>DB </a:t>
          </a:r>
          <a:r>
            <a:rPr lang="ko-KR" altLang="en-US" sz="1050" kern="1200" dirty="0">
              <a:solidFill>
                <a:schemeClr val="bg1"/>
              </a:solidFill>
            </a:rPr>
            <a:t>생성</a:t>
          </a:r>
          <a:endParaRPr lang="en-US" sz="105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57309E14-9978-4439-A735-419D0D52A3AC}" type="parTrans" cxnId="{65FBF8AE-056B-4C53-A383-3761DC5F4F58}">
      <dgm:prSet/>
      <dgm:spPr/>
      <dgm:t>
        <a:bodyPr/>
        <a:lstStyle/>
        <a:p>
          <a:pPr latinLnBrk="1"/>
          <a:endParaRPr lang="ko-KR" altLang="en-US"/>
        </a:p>
      </dgm:t>
    </dgm:pt>
    <dgm:pt modelId="{5BEE3C8C-1F20-417D-8B60-9D362CB87184}" type="sibTrans" cxnId="{65FBF8AE-056B-4C53-A383-3761DC5F4F58}">
      <dgm:prSet/>
      <dgm:spPr/>
      <dgm:t>
        <a:bodyPr/>
        <a:lstStyle/>
        <a:p>
          <a:pPr latinLnBrk="1"/>
          <a:endParaRPr lang="ko-KR" altLang="en-US"/>
        </a:p>
      </dgm:t>
    </dgm:pt>
    <dgm:pt modelId="{10035DCB-1BA0-4A1C-A358-CC5BEA2E1371}">
      <dgm:prSet custT="1"/>
      <dgm:spPr/>
      <dgm:t>
        <a:bodyPr/>
        <a:lstStyle/>
        <a:p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data_list.csv 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헤더 포함 </a:t>
          </a:r>
          <a:r>
            <a:rPr lang="ko-KR" altLang="en-US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청킹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75AFE600-5212-4D74-8F46-9F532A96C0EC}" type="parTrans" cxnId="{FFEA00DB-F8BC-4A71-84C4-910308BC0DB1}">
      <dgm:prSet/>
      <dgm:spPr/>
      <dgm:t>
        <a:bodyPr/>
        <a:lstStyle/>
        <a:p>
          <a:pPr latinLnBrk="1"/>
          <a:endParaRPr lang="ko-KR" altLang="en-US"/>
        </a:p>
      </dgm:t>
    </dgm:pt>
    <dgm:pt modelId="{6527C2C7-246F-4A6A-866E-D74BE2CB5E4E}" type="sibTrans" cxnId="{FFEA00DB-F8BC-4A71-84C4-910308BC0DB1}">
      <dgm:prSet/>
      <dgm:spPr/>
      <dgm:t>
        <a:bodyPr/>
        <a:lstStyle/>
        <a:p>
          <a:pPr latinLnBrk="1"/>
          <a:endParaRPr lang="ko-KR" altLang="en-US"/>
        </a:p>
      </dgm:t>
    </dgm:pt>
    <dgm:pt modelId="{FE323B1E-5BD6-409E-802D-37920F29C9B5}">
      <dgm:prSet phldrT="[Text]" custT="1"/>
      <dgm:spPr/>
      <dgm:t>
        <a:bodyPr/>
        <a:lstStyle/>
        <a:p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1. VLM </a:t>
          </a:r>
          <a:r>
            <a:rPr lang="ko-KR" alt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추출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테스트</a:t>
          </a:r>
          <a:endParaRPr lang="en-US" sz="11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F92BA0B1-10DB-49A5-B131-3FC7BDF5AC36}" type="parTrans" cxnId="{69996342-9C3F-4F03-A71D-3A92225E9FFC}">
      <dgm:prSet/>
      <dgm:spPr/>
      <dgm:t>
        <a:bodyPr/>
        <a:lstStyle/>
        <a:p>
          <a:pPr latinLnBrk="1"/>
          <a:endParaRPr lang="ko-KR" altLang="en-US"/>
        </a:p>
      </dgm:t>
    </dgm:pt>
    <dgm:pt modelId="{74C18936-AFCD-4DB2-9777-8E1861FCEA2F}" type="sibTrans" cxnId="{69996342-9C3F-4F03-A71D-3A92225E9FFC}">
      <dgm:prSet/>
      <dgm:spPr/>
      <dgm:t>
        <a:bodyPr/>
        <a:lstStyle/>
        <a:p>
          <a:pPr latinLnBrk="1"/>
          <a:endParaRPr lang="ko-KR" altLang="en-US"/>
        </a:p>
      </dgm:t>
    </dgm:pt>
    <dgm:pt modelId="{BC22D4DF-76D7-4EAA-81A0-3B001139C241}">
      <dgm:prSet custT="1"/>
      <dgm:spPr/>
      <dgm:t>
        <a:bodyPr/>
        <a:lstStyle/>
        <a:p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2.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파싱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X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청킹X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임베딩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ko-KR" alt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모델 비교</a:t>
          </a:r>
          <a:endParaRPr lang="en-US" altLang="ko-KR" sz="11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83FB9F4F-45B5-46B3-93A3-6413BD23E58C}" type="parTrans" cxnId="{0E72EF4E-8234-4E32-B007-787F04194149}">
      <dgm:prSet/>
      <dgm:spPr/>
      <dgm:t>
        <a:bodyPr/>
        <a:lstStyle/>
        <a:p>
          <a:pPr latinLnBrk="1"/>
          <a:endParaRPr lang="ko-KR" altLang="en-US"/>
        </a:p>
      </dgm:t>
    </dgm:pt>
    <dgm:pt modelId="{E1682201-862A-4EA1-9AEA-8178171CFF73}" type="sibTrans" cxnId="{0E72EF4E-8234-4E32-B007-787F04194149}">
      <dgm:prSet/>
      <dgm:spPr/>
      <dgm:t>
        <a:bodyPr/>
        <a:lstStyle/>
        <a:p>
          <a:pPr latinLnBrk="1"/>
          <a:endParaRPr lang="ko-KR" altLang="en-US"/>
        </a:p>
      </dgm:t>
    </dgm:pt>
    <dgm:pt modelId="{D24E6486-5775-4C42-A98A-AFC62C7940E0}">
      <dgm:prSet custT="1"/>
      <dgm:spPr/>
      <dgm:t>
        <a:bodyPr/>
        <a:lstStyle/>
        <a:p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3. 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검색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파라미터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최적화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테스</a:t>
          </a:r>
          <a:r>
            <a:rPr lang="ko-KR" alt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트</a:t>
          </a:r>
          <a:endParaRPr lang="en-US" sz="11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953B17EE-92F3-4DCA-A1D9-55141F128FBA}" type="parTrans" cxnId="{9A77CF38-520D-43C0-BE1A-B855B2928B6E}">
      <dgm:prSet/>
      <dgm:spPr/>
      <dgm:t>
        <a:bodyPr/>
        <a:lstStyle/>
        <a:p>
          <a:pPr latinLnBrk="1"/>
          <a:endParaRPr lang="ko-KR" altLang="en-US"/>
        </a:p>
      </dgm:t>
    </dgm:pt>
    <dgm:pt modelId="{14ED9F96-546E-47A1-900D-EB4D03085FF4}" type="sibTrans" cxnId="{9A77CF38-520D-43C0-BE1A-B855B2928B6E}">
      <dgm:prSet/>
      <dgm:spPr/>
      <dgm:t>
        <a:bodyPr/>
        <a:lstStyle/>
        <a:p>
          <a:pPr latinLnBrk="1"/>
          <a:endParaRPr lang="ko-KR" altLang="en-US"/>
        </a:p>
      </dgm:t>
    </dgm:pt>
    <dgm:pt modelId="{6E95571E-2495-434B-BCF1-4306D7C5A3CE}">
      <dgm:prSet custT="1"/>
      <dgm:spPr/>
      <dgm:t>
        <a:bodyPr/>
        <a:lstStyle/>
        <a:p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메타 데이터 추출</a:t>
          </a:r>
        </a:p>
      </dgm:t>
    </dgm:pt>
    <dgm:pt modelId="{32C5A201-2533-4399-86C7-77C9899C3759}" type="parTrans" cxnId="{88857711-0348-4496-8DE4-638051577C9D}">
      <dgm:prSet/>
      <dgm:spPr/>
      <dgm:t>
        <a:bodyPr/>
        <a:lstStyle/>
        <a:p>
          <a:pPr latinLnBrk="1"/>
          <a:endParaRPr lang="ko-KR" altLang="en-US"/>
        </a:p>
      </dgm:t>
    </dgm:pt>
    <dgm:pt modelId="{51598D2B-7363-43DB-AEB7-9ABA5872C9BE}" type="sibTrans" cxnId="{88857711-0348-4496-8DE4-638051577C9D}">
      <dgm:prSet/>
      <dgm:spPr/>
      <dgm:t>
        <a:bodyPr/>
        <a:lstStyle/>
        <a:p>
          <a:pPr latinLnBrk="1"/>
          <a:endParaRPr lang="ko-KR" altLang="en-US"/>
        </a:p>
      </dgm:t>
    </dgm:pt>
    <dgm:pt modelId="{FE1DEAE8-8337-4354-A7FB-D98C73E640C3}">
      <dgm:prSet custT="1"/>
      <dgm:spPr/>
      <dgm:t>
        <a:bodyPr/>
        <a:lstStyle/>
        <a:p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벡터 </a:t>
          </a:r>
          <a:r>
            <a:rPr lang="en-US" altLang="ko-KR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ChromaDB</a:t>
          </a:r>
          <a:endParaRPr lang="ko-KR" alt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83ED5CD7-9806-4E35-B608-6227FDB17E7E}" type="parTrans" cxnId="{2F5EB2F2-5DA1-4389-B499-808119C86E81}">
      <dgm:prSet/>
      <dgm:spPr/>
      <dgm:t>
        <a:bodyPr/>
        <a:lstStyle/>
        <a:p>
          <a:pPr latinLnBrk="1"/>
          <a:endParaRPr lang="ko-KR" altLang="en-US"/>
        </a:p>
      </dgm:t>
    </dgm:pt>
    <dgm:pt modelId="{E7D8EFC0-3929-4587-8F2C-0A6BC01E0092}" type="sibTrans" cxnId="{2F5EB2F2-5DA1-4389-B499-808119C86E81}">
      <dgm:prSet/>
      <dgm:spPr/>
      <dgm:t>
        <a:bodyPr/>
        <a:lstStyle/>
        <a:p>
          <a:pPr latinLnBrk="1"/>
          <a:endParaRPr lang="ko-KR" altLang="en-US"/>
        </a:p>
      </dgm:t>
    </dgm:pt>
    <dgm:pt modelId="{3C10B071-3BC2-478F-9D13-0FA111560185}">
      <dgm:prSet custT="1"/>
      <dgm:spPr/>
      <dgm:t>
        <a:bodyPr/>
        <a:lstStyle/>
        <a:p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B. Dense + </a:t>
          </a:r>
          <a:r>
            <a:rPr lang="en-US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Reranker</a:t>
          </a:r>
          <a:endParaRPr 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B8280718-9696-4E3F-BDF5-3F0E22C3E9CC}" type="parTrans" cxnId="{47CC4597-EBEB-4A72-8659-D94A4B6CCFA8}">
      <dgm:prSet/>
      <dgm:spPr/>
      <dgm:t>
        <a:bodyPr/>
        <a:lstStyle/>
        <a:p>
          <a:pPr latinLnBrk="1"/>
          <a:endParaRPr lang="ko-KR" altLang="en-US"/>
        </a:p>
      </dgm:t>
    </dgm:pt>
    <dgm:pt modelId="{0A4AB4F3-8E5D-45A9-A269-A110CEC89AA6}" type="sibTrans" cxnId="{47CC4597-EBEB-4A72-8659-D94A4B6CCFA8}">
      <dgm:prSet/>
      <dgm:spPr/>
      <dgm:t>
        <a:bodyPr/>
        <a:lstStyle/>
        <a:p>
          <a:pPr latinLnBrk="1"/>
          <a:endParaRPr lang="ko-KR" altLang="en-US"/>
        </a:p>
      </dgm:t>
    </dgm:pt>
    <dgm:pt modelId="{CCF9BEB3-6613-45F0-BBB9-B7D458C7DC87}">
      <dgm:prSet custT="1"/>
      <dgm:spPr/>
      <dgm:t>
        <a:bodyPr/>
        <a:lstStyle/>
        <a:p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C. Hybrid</a:t>
          </a:r>
        </a:p>
      </dgm:t>
    </dgm:pt>
    <dgm:pt modelId="{AC1E64A1-F7FC-44A8-94FA-095968851673}" type="parTrans" cxnId="{A4FD411C-7657-4F09-A203-29075B84ED03}">
      <dgm:prSet/>
      <dgm:spPr/>
      <dgm:t>
        <a:bodyPr/>
        <a:lstStyle/>
        <a:p>
          <a:pPr latinLnBrk="1"/>
          <a:endParaRPr lang="ko-KR" altLang="en-US"/>
        </a:p>
      </dgm:t>
    </dgm:pt>
    <dgm:pt modelId="{EAE5A878-4A22-4E26-8377-CE5CF6D4A77A}" type="sibTrans" cxnId="{A4FD411C-7657-4F09-A203-29075B84ED03}">
      <dgm:prSet/>
      <dgm:spPr/>
      <dgm:t>
        <a:bodyPr/>
        <a:lstStyle/>
        <a:p>
          <a:pPr latinLnBrk="1"/>
          <a:endParaRPr lang="ko-KR" altLang="en-US"/>
        </a:p>
      </dgm:t>
    </dgm:pt>
    <dgm:pt modelId="{9DCEA5FC-4640-45AF-B712-7A4FD94AEF0D}">
      <dgm:prSet phldrT="[Text]" custT="1"/>
      <dgm:spPr/>
      <dgm:t>
        <a:bodyPr/>
        <a:lstStyle/>
        <a:p>
          <a:pPr>
            <a:defRPr b="1"/>
          </a:pPr>
          <a:r>
            <a:rPr lang="en-US" altLang="ko-KR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text_parsing.py</a:t>
          </a:r>
        </a:p>
        <a:p>
          <a:pPr>
            <a:defRPr b="1"/>
          </a:pPr>
          <a:r>
            <a:rPr lang="ko-KR" altLang="en-US" sz="105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텍스트 파싱</a:t>
          </a:r>
          <a:r>
            <a:rPr lang="en-US" altLang="ko-KR" sz="105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(VLM)</a:t>
          </a:r>
          <a:endParaRPr lang="en-US" sz="105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gm:t>
    </dgm:pt>
    <dgm:pt modelId="{0A99745B-BB5C-49B3-A782-8DB57641F6C9}" type="sibTrans" cxnId="{DBD99269-D7F7-4B47-B17B-A5AE402751D9}">
      <dgm:prSet/>
      <dgm:spPr/>
      <dgm:t>
        <a:bodyPr/>
        <a:lstStyle/>
        <a:p>
          <a:endParaRPr lang="en-US"/>
        </a:p>
      </dgm:t>
    </dgm:pt>
    <dgm:pt modelId="{929A5FD9-0612-4B79-9B59-C3C36D34A069}" type="parTrans" cxnId="{DBD99269-D7F7-4B47-B17B-A5AE402751D9}">
      <dgm:prSet/>
      <dgm:spPr/>
      <dgm:t>
        <a:bodyPr/>
        <a:lstStyle/>
        <a:p>
          <a:endParaRPr lang="en-US"/>
        </a:p>
      </dgm:t>
    </dgm:pt>
    <dgm:pt modelId="{831701CF-77C7-46C0-A913-8CC39517BAB8}">
      <dgm:prSet phldrT="[Text]" custT="1"/>
      <dgm:spPr/>
      <dgm:t>
        <a:bodyPr/>
        <a:lstStyle/>
        <a:p>
          <a:r>
            <a:rPr lang="en-US" altLang="ko-KR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openAI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API 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설정</a:t>
          </a:r>
          <a:endParaRPr lang="en-US" sz="120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</a:endParaRPr>
        </a:p>
      </dgm:t>
    </dgm:pt>
    <dgm:pt modelId="{75156CDF-E17B-4DAD-AE37-EA44D7F37090}" type="sibTrans" cxnId="{39A11E5C-7A57-4117-A6DF-36000C29509C}">
      <dgm:prSet/>
      <dgm:spPr/>
      <dgm:t>
        <a:bodyPr/>
        <a:lstStyle/>
        <a:p>
          <a:endParaRPr lang="en-US"/>
        </a:p>
      </dgm:t>
    </dgm:pt>
    <dgm:pt modelId="{13FBC60D-3EA6-4496-BA97-C1AE8C7F8961}" type="parTrans" cxnId="{39A11E5C-7A57-4117-A6DF-36000C29509C}">
      <dgm:prSet/>
      <dgm:spPr/>
      <dgm:t>
        <a:bodyPr/>
        <a:lstStyle/>
        <a:p>
          <a:endParaRPr lang="en-US"/>
        </a:p>
      </dgm:t>
    </dgm:pt>
    <dgm:pt modelId="{8D2BF9C4-B93B-4B0D-BB5D-E02EBEF7519B}">
      <dgm:prSet custT="1"/>
      <dgm:spPr/>
      <dgm:t>
        <a:bodyPr/>
        <a:lstStyle/>
        <a:p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원본 데이터 텍스트 파싱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gm:t>
    </dgm:pt>
    <dgm:pt modelId="{75C71EFB-18EF-4AC2-91D3-16F786F37051}" type="sibTrans" cxnId="{41BEEF97-C3D1-4089-ADB4-5DB7E0C77337}">
      <dgm:prSet/>
      <dgm:spPr/>
      <dgm:t>
        <a:bodyPr/>
        <a:lstStyle/>
        <a:p>
          <a:pPr latinLnBrk="1"/>
          <a:endParaRPr lang="ko-KR" altLang="en-US"/>
        </a:p>
      </dgm:t>
    </dgm:pt>
    <dgm:pt modelId="{D8119DFD-7C6C-4771-8FBE-9584F42D7B92}" type="parTrans" cxnId="{41BEEF97-C3D1-4089-ADB4-5DB7E0C77337}">
      <dgm:prSet/>
      <dgm:spPr/>
      <dgm:t>
        <a:bodyPr/>
        <a:lstStyle/>
        <a:p>
          <a:pPr latinLnBrk="1"/>
          <a:endParaRPr lang="ko-KR" altLang="en-US"/>
        </a:p>
      </dgm:t>
    </dgm:pt>
    <dgm:pt modelId="{7A5D3400-AF5B-4297-8592-4C1EDB9D0973}" type="pres">
      <dgm:prSet presAssocID="{63085546-7C7C-4B3E-ABEB-2669F1A65FB2}" presName="root" presStyleCnt="0">
        <dgm:presLayoutVars>
          <dgm:chMax/>
          <dgm:chPref/>
          <dgm:animLvl val="lvl"/>
        </dgm:presLayoutVars>
      </dgm:prSet>
      <dgm:spPr/>
    </dgm:pt>
    <dgm:pt modelId="{BD204284-1F7C-4D58-BC79-8C2DEE7E9FAF}" type="pres">
      <dgm:prSet presAssocID="{63085546-7C7C-4B3E-ABEB-2669F1A65FB2}" presName="divider" presStyleLbl="fgAcc1" presStyleIdx="0" presStyleCnt="9" custSzY="428624"/>
      <dgm:spPr>
        <a:prstGeom prst="homePlate">
          <a:avLst/>
        </a:prstGeom>
        <a:gradFill rotWithShape="0">
          <a:gsLst>
            <a:gs pos="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lin ang="1200000" scaled="0"/>
        </a:gradFill>
        <a:ln w="12700" cap="flat" cmpd="sng" algn="ctr">
          <a:noFill/>
          <a:prstDash val="solid"/>
          <a:miter lim="800000"/>
          <a:tailEnd type="arrow" w="sm" len="sm"/>
        </a:ln>
        <a:effectLst/>
      </dgm:spPr>
    </dgm:pt>
    <dgm:pt modelId="{46A6B157-7198-41C4-9D25-C4F8885F1B6F}" type="pres">
      <dgm:prSet presAssocID="{63085546-7C7C-4B3E-ABEB-2669F1A65FB2}" presName="nodes" presStyleCnt="0">
        <dgm:presLayoutVars>
          <dgm:chMax/>
          <dgm:chPref/>
          <dgm:animLvl val="lvl"/>
        </dgm:presLayoutVars>
      </dgm:prSet>
      <dgm:spPr/>
    </dgm:pt>
    <dgm:pt modelId="{578E6A06-6F61-48BD-9F1A-48E731D6E26D}" type="pres">
      <dgm:prSet presAssocID="{9DCEA5FC-4640-45AF-B712-7A4FD94AEF0D}" presName="composite" presStyleCnt="0"/>
      <dgm:spPr/>
    </dgm:pt>
    <dgm:pt modelId="{9F727168-E825-43C1-AF50-41E115F59C0C}" type="pres">
      <dgm:prSet presAssocID="{9DCEA5FC-4640-45AF-B712-7A4FD94AEF0D}" presName="ConnectorPoint" presStyleLbl="lnNode1" presStyleIdx="0" presStyleCnt="8"/>
      <dgm:spPr>
        <a:solidFill>
          <a:srgbClr val="D69137"/>
        </a:solidFill>
        <a:ln w="6350" cap="flat" cmpd="sng" algn="ctr">
          <a:noFill/>
          <a:prstDash val="solid"/>
          <a:miter lim="800000"/>
        </a:ln>
        <a:effectLst/>
      </dgm:spPr>
    </dgm:pt>
    <dgm:pt modelId="{0C380CA5-521A-4949-A022-450DA9C217F5}" type="pres">
      <dgm:prSet presAssocID="{9DCEA5FC-4640-45AF-B712-7A4FD94AEF0D}" presName="DropPinPlaceHolder" presStyleCnt="0"/>
      <dgm:spPr/>
    </dgm:pt>
    <dgm:pt modelId="{19EF924A-339B-436A-9151-9C7B0B0377B9}" type="pres">
      <dgm:prSet presAssocID="{9DCEA5FC-4640-45AF-B712-7A4FD94AEF0D}" presName="DropPin" presStyleLbl="alignNode1" presStyleIdx="0" presStyleCnt="8"/>
      <dgm:spPr>
        <a:solidFill>
          <a:srgbClr val="D69137"/>
        </a:solidFill>
        <a:ln>
          <a:noFill/>
        </a:ln>
      </dgm:spPr>
    </dgm:pt>
    <dgm:pt modelId="{846B4BA4-33F0-43CE-A60E-B95E195AD5A9}" type="pres">
      <dgm:prSet presAssocID="{9DCEA5FC-4640-45AF-B712-7A4FD94AEF0D}" presName="Ellipse" presStyleLbl="fgAcc1" presStyleIdx="1" presStyleCnt="9"/>
      <dgm:spPr>
        <a:prstGeom prst="donut">
          <a:avLst/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gm:spPr>
    </dgm:pt>
    <dgm:pt modelId="{A782CF5D-A585-4990-846A-5EDBD19A9BDB}" type="pres">
      <dgm:prSet presAssocID="{9DCEA5FC-4640-45AF-B712-7A4FD94AEF0D}" presName="L2TextContainer" presStyleLbl="revTx" presStyleIdx="0" presStyleCnt="16">
        <dgm:presLayoutVars>
          <dgm:bulletEnabled val="1"/>
        </dgm:presLayoutVars>
      </dgm:prSet>
      <dgm:spPr/>
    </dgm:pt>
    <dgm:pt modelId="{85C50C56-6DC8-4C47-8DBC-4FD6B1554AA4}" type="pres">
      <dgm:prSet presAssocID="{9DCEA5FC-4640-45AF-B712-7A4FD94AEF0D}" presName="L1TextContainer" presStyleLbl="revTx" presStyleIdx="1" presStyleCnt="16" custLinFactNeighborX="-608" custLinFactNeighborY="28633">
        <dgm:presLayoutVars>
          <dgm:chMax val="1"/>
          <dgm:chPref val="1"/>
          <dgm:bulletEnabled val="1"/>
        </dgm:presLayoutVars>
      </dgm:prSet>
      <dgm:spPr/>
    </dgm:pt>
    <dgm:pt modelId="{4F322B1B-F357-4BCD-BF34-8A0D705A1CE7}" type="pres">
      <dgm:prSet presAssocID="{9DCEA5FC-4640-45AF-B712-7A4FD94AEF0D}" presName="ConnectLine" presStyleLbl="sibTrans1D1" presStyleIdx="0" presStyleCnt="8" custLinFactNeighborX="-14439" custLinFactNeighborY="0"/>
      <dgm:spPr>
        <a:noFill/>
        <a:ln w="3175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gm:spPr>
    </dgm:pt>
    <dgm:pt modelId="{9FF32B1E-94FD-475E-9959-8E0546070C5B}" type="pres">
      <dgm:prSet presAssocID="{9DCEA5FC-4640-45AF-B712-7A4FD94AEF0D}" presName="EmptyPlaceHolder" presStyleCnt="0"/>
      <dgm:spPr/>
    </dgm:pt>
    <dgm:pt modelId="{C9E000F5-B650-46EB-A3B0-FBA6593CE548}" type="pres">
      <dgm:prSet presAssocID="{0A99745B-BB5C-49B3-A782-8DB57641F6C9}" presName="spaceBetweenRectangles" presStyleCnt="0"/>
      <dgm:spPr/>
    </dgm:pt>
    <dgm:pt modelId="{8DD4F6E2-85A5-4BDF-9886-DFEFF9C41EBE}" type="pres">
      <dgm:prSet presAssocID="{1BABDC70-C661-4E6F-94AD-4DA92AD2AE41}" presName="composite" presStyleCnt="0"/>
      <dgm:spPr/>
    </dgm:pt>
    <dgm:pt modelId="{FEC78AD1-8FC4-438D-911C-4885CE4DCCC5}" type="pres">
      <dgm:prSet presAssocID="{1BABDC70-C661-4E6F-94AD-4DA92AD2AE41}" presName="ConnectorPoint" presStyleLbl="lnNode1" presStyleIdx="1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E4C92F9A-2C8D-48AC-AEBE-6A916D2906AA}" type="pres">
      <dgm:prSet presAssocID="{1BABDC70-C661-4E6F-94AD-4DA92AD2AE41}" presName="DropPinPlaceHolder" presStyleCnt="0"/>
      <dgm:spPr/>
    </dgm:pt>
    <dgm:pt modelId="{DDF095CA-CA5C-4692-9C1C-E6CDC80EF32D}" type="pres">
      <dgm:prSet presAssocID="{1BABDC70-C661-4E6F-94AD-4DA92AD2AE41}" presName="DropPin" presStyleLbl="alignNode1" presStyleIdx="1" presStyleCnt="8"/>
      <dgm:spPr>
        <a:solidFill>
          <a:srgbClr val="D69137"/>
        </a:solidFill>
        <a:ln>
          <a:solidFill>
            <a:srgbClr val="D69137"/>
          </a:solidFill>
        </a:ln>
      </dgm:spPr>
    </dgm:pt>
    <dgm:pt modelId="{BF7E48B9-26B7-4CC4-9BBD-765C85D2D3CE}" type="pres">
      <dgm:prSet presAssocID="{1BABDC70-C661-4E6F-94AD-4DA92AD2AE41}" presName="Ellipse" presStyleLbl="fgAcc1" presStyleIdx="2" presStyleCnt="9"/>
      <dgm:spPr>
        <a:solidFill>
          <a:srgbClr val="D69137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gm:spPr>
    </dgm:pt>
    <dgm:pt modelId="{DA2CDCB7-8776-474C-9375-26F44419C279}" type="pres">
      <dgm:prSet presAssocID="{1BABDC70-C661-4E6F-94AD-4DA92AD2AE41}" presName="L2TextContainer" presStyleLbl="revTx" presStyleIdx="2" presStyleCnt="16">
        <dgm:presLayoutVars>
          <dgm:bulletEnabled val="1"/>
        </dgm:presLayoutVars>
      </dgm:prSet>
      <dgm:spPr/>
    </dgm:pt>
    <dgm:pt modelId="{F98C2007-9DFC-422D-964E-B67973EB8F13}" type="pres">
      <dgm:prSet presAssocID="{1BABDC70-C661-4E6F-94AD-4DA92AD2AE41}" presName="L1TextContainer" presStyleLbl="revTx" presStyleIdx="3" presStyleCnt="16" custLinFactNeighborX="-4165" custLinFactNeighborY="7298">
        <dgm:presLayoutVars>
          <dgm:chMax val="1"/>
          <dgm:chPref val="1"/>
          <dgm:bulletEnabled val="1"/>
        </dgm:presLayoutVars>
      </dgm:prSet>
      <dgm:spPr/>
    </dgm:pt>
    <dgm:pt modelId="{666B3EEF-94B4-4079-8D9B-D73F422B9435}" type="pres">
      <dgm:prSet presAssocID="{1BABDC70-C661-4E6F-94AD-4DA92AD2AE41}" presName="ConnectLine" presStyleLbl="sibTrans1D1" presStyleIdx="1" presStyleCnt="8"/>
      <dgm:spPr>
        <a:noFill/>
        <a:ln w="12700" cap="flat" cmpd="sng" algn="ctr">
          <a:solidFill>
            <a:srgbClr val="D69137"/>
          </a:solidFill>
          <a:prstDash val="dash"/>
          <a:miter lim="800000"/>
        </a:ln>
        <a:effectLst/>
      </dgm:spPr>
    </dgm:pt>
    <dgm:pt modelId="{E2D5E51C-1F5D-4D9A-A74F-4D7E66C8058F}" type="pres">
      <dgm:prSet presAssocID="{1BABDC70-C661-4E6F-94AD-4DA92AD2AE41}" presName="EmptyPlaceHolder" presStyleCnt="0"/>
      <dgm:spPr/>
    </dgm:pt>
    <dgm:pt modelId="{9A6D5E9A-6F18-475E-AE1F-DCCFFCEC7CF5}" type="pres">
      <dgm:prSet presAssocID="{88813476-59B4-40DC-B478-CFD64177728A}" presName="spaceBetweenRectangles" presStyleCnt="0"/>
      <dgm:spPr/>
    </dgm:pt>
    <dgm:pt modelId="{FFD8C5B6-93D0-4853-A97B-40AA593D9F7E}" type="pres">
      <dgm:prSet presAssocID="{54BE56D2-23BA-4BC5-8498-35A7BED8D5C9}" presName="composite" presStyleCnt="0"/>
      <dgm:spPr/>
    </dgm:pt>
    <dgm:pt modelId="{E3B9A7F6-A136-4785-B643-99C27376BA97}" type="pres">
      <dgm:prSet presAssocID="{54BE56D2-23BA-4BC5-8498-35A7BED8D5C9}" presName="ConnectorPoint" presStyleLbl="lnNode1" presStyleIdx="2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CB89C1B-EBA7-4673-B038-89926108802F}" type="pres">
      <dgm:prSet presAssocID="{54BE56D2-23BA-4BC5-8498-35A7BED8D5C9}" presName="DropPinPlaceHolder" presStyleCnt="0"/>
      <dgm:spPr/>
    </dgm:pt>
    <dgm:pt modelId="{5C5D379E-2EDB-4033-8B65-A8D255EB89B4}" type="pres">
      <dgm:prSet presAssocID="{54BE56D2-23BA-4BC5-8498-35A7BED8D5C9}" presName="DropPin" presStyleLbl="alignNode1" presStyleIdx="2" presStyleCnt="8"/>
      <dgm:spPr/>
    </dgm:pt>
    <dgm:pt modelId="{74422501-95A3-43D4-B70E-4D601D523086}" type="pres">
      <dgm:prSet presAssocID="{54BE56D2-23BA-4BC5-8498-35A7BED8D5C9}" presName="Ellipse" presStyleLbl="fgAcc1" presStyleIdx="3" presStyleCnt="9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65EFBAF4-DB3D-413B-9DCB-0D9C5D29A3E3}" type="pres">
      <dgm:prSet presAssocID="{54BE56D2-23BA-4BC5-8498-35A7BED8D5C9}" presName="L2TextContainer" presStyleLbl="revTx" presStyleIdx="4" presStyleCnt="16">
        <dgm:presLayoutVars>
          <dgm:bulletEnabled val="1"/>
        </dgm:presLayoutVars>
      </dgm:prSet>
      <dgm:spPr/>
    </dgm:pt>
    <dgm:pt modelId="{E56E0CF4-6352-424F-B476-0D1E34E35AD2}" type="pres">
      <dgm:prSet presAssocID="{54BE56D2-23BA-4BC5-8498-35A7BED8D5C9}" presName="L1TextContainer" presStyleLbl="revTx" presStyleIdx="5" presStyleCnt="16">
        <dgm:presLayoutVars>
          <dgm:chMax val="1"/>
          <dgm:chPref val="1"/>
          <dgm:bulletEnabled val="1"/>
        </dgm:presLayoutVars>
      </dgm:prSet>
      <dgm:spPr/>
    </dgm:pt>
    <dgm:pt modelId="{27582445-9D8E-427F-BA92-98CA94E41E73}" type="pres">
      <dgm:prSet presAssocID="{54BE56D2-23BA-4BC5-8498-35A7BED8D5C9}" presName="ConnectLine" presStyleLbl="sibTrans1D1" presStyleIdx="2" presStyleCnt="8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0DE415C1-DBCC-4D96-A82C-BFB196FA568A}" type="pres">
      <dgm:prSet presAssocID="{54BE56D2-23BA-4BC5-8498-35A7BED8D5C9}" presName="EmptyPlaceHolder" presStyleCnt="0"/>
      <dgm:spPr/>
    </dgm:pt>
    <dgm:pt modelId="{1DDA96EC-8835-4E27-9679-BC0E2D070FDF}" type="pres">
      <dgm:prSet presAssocID="{5BEE3C8C-1F20-417D-8B60-9D362CB87184}" presName="spaceBetweenRectangles" presStyleCnt="0"/>
      <dgm:spPr/>
    </dgm:pt>
    <dgm:pt modelId="{64373A7D-C7A5-4C0C-9781-58743159539A}" type="pres">
      <dgm:prSet presAssocID="{096A9AF0-0DAE-4EB3-B448-4501DA034F4A}" presName="composite" presStyleCnt="0"/>
      <dgm:spPr/>
    </dgm:pt>
    <dgm:pt modelId="{B57996C3-16BE-4CEB-B9E2-6FFC42938F41}" type="pres">
      <dgm:prSet presAssocID="{096A9AF0-0DAE-4EB3-B448-4501DA034F4A}" presName="ConnectorPoint" presStyleLbl="lnNode1" presStyleIdx="3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BC71368F-DA7E-405D-93AC-3A6767BF9FC6}" type="pres">
      <dgm:prSet presAssocID="{096A9AF0-0DAE-4EB3-B448-4501DA034F4A}" presName="DropPinPlaceHolder" presStyleCnt="0"/>
      <dgm:spPr/>
    </dgm:pt>
    <dgm:pt modelId="{5B4632EA-1574-417A-A3FA-D711159FBAD1}" type="pres">
      <dgm:prSet presAssocID="{096A9AF0-0DAE-4EB3-B448-4501DA034F4A}" presName="DropPin" presStyleLbl="alignNode1" presStyleIdx="3" presStyleCnt="8"/>
      <dgm:spPr>
        <a:ln>
          <a:noFill/>
        </a:ln>
      </dgm:spPr>
    </dgm:pt>
    <dgm:pt modelId="{032E0966-F86B-4BBD-BE80-8FAB861AF0E8}" type="pres">
      <dgm:prSet presAssocID="{096A9AF0-0DAE-4EB3-B448-4501DA034F4A}" presName="Ellipse" presStyleLbl="fgAcc1" presStyleIdx="4" presStyleCnt="9"/>
      <dgm:spPr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608C5A1-CE9E-4410-9F2F-F714CC6AB069}" type="pres">
      <dgm:prSet presAssocID="{096A9AF0-0DAE-4EB3-B448-4501DA034F4A}" presName="L2TextContainer" presStyleLbl="revTx" presStyleIdx="6" presStyleCnt="16">
        <dgm:presLayoutVars>
          <dgm:bulletEnabled val="1"/>
        </dgm:presLayoutVars>
      </dgm:prSet>
      <dgm:spPr/>
    </dgm:pt>
    <dgm:pt modelId="{C1E34084-406C-48D5-88FE-7226282DBC49}" type="pres">
      <dgm:prSet presAssocID="{096A9AF0-0DAE-4EB3-B448-4501DA034F4A}" presName="L1TextContainer" presStyleLbl="revTx" presStyleIdx="7" presStyleCnt="16">
        <dgm:presLayoutVars>
          <dgm:chMax val="1"/>
          <dgm:chPref val="1"/>
          <dgm:bulletEnabled val="1"/>
        </dgm:presLayoutVars>
      </dgm:prSet>
      <dgm:spPr/>
    </dgm:pt>
    <dgm:pt modelId="{33168228-1414-4AAF-B7E5-C08A80BBB2F1}" type="pres">
      <dgm:prSet presAssocID="{096A9AF0-0DAE-4EB3-B448-4501DA034F4A}" presName="ConnectLine" presStyleLbl="sibTrans1D1" presStyleIdx="3" presStyleCnt="8"/>
      <dgm:spPr>
        <a:xfrm>
          <a:off x="1843314" y="2690813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gm:spPr>
    </dgm:pt>
    <dgm:pt modelId="{C791BCDD-76D3-4E0E-98B9-0C4903CF0E94}" type="pres">
      <dgm:prSet presAssocID="{096A9AF0-0DAE-4EB3-B448-4501DA034F4A}" presName="EmptyPlaceHolder" presStyleCnt="0"/>
      <dgm:spPr/>
    </dgm:pt>
    <dgm:pt modelId="{3B1DA912-FDB7-4F73-8823-B30C56F7DE86}" type="pres">
      <dgm:prSet presAssocID="{6B0D7DA9-E6ED-4137-9716-F48BF62327A8}" presName="spaceBetweenRectangles" presStyleCnt="0"/>
      <dgm:spPr/>
    </dgm:pt>
    <dgm:pt modelId="{62CE216D-6CDC-4D21-9F29-72763610645A}" type="pres">
      <dgm:prSet presAssocID="{2D27E104-4786-4820-9065-72968B9D7E34}" presName="composite" presStyleCnt="0"/>
      <dgm:spPr/>
    </dgm:pt>
    <dgm:pt modelId="{A5B891F7-CC81-4B6C-AC1E-BF506EC02C82}" type="pres">
      <dgm:prSet presAssocID="{2D27E104-4786-4820-9065-72968B9D7E34}" presName="ConnectorPoint" presStyleLbl="lnNode1" presStyleIdx="4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607B937-7256-4F13-A60E-D0ABF4896738}" type="pres">
      <dgm:prSet presAssocID="{2D27E104-4786-4820-9065-72968B9D7E34}" presName="DropPinPlaceHolder" presStyleCnt="0"/>
      <dgm:spPr/>
    </dgm:pt>
    <dgm:pt modelId="{566CB300-D8DE-49A8-8209-F26CDC1A14C8}" type="pres">
      <dgm:prSet presAssocID="{2D27E104-4786-4820-9065-72968B9D7E34}" presName="DropPin" presStyleLbl="alignNode1" presStyleIdx="4" presStyleCnt="8" custLinFactNeighborX="2281" custLinFactNeighborY="-711"/>
      <dgm:spPr/>
    </dgm:pt>
    <dgm:pt modelId="{5DF6830F-ED3A-41BE-B038-0FA943CE40EB}" type="pres">
      <dgm:prSet presAssocID="{2D27E104-4786-4820-9065-72968B9D7E34}" presName="Ellipse" presStyleLbl="fgAcc1" presStyleIdx="5" presStyleCnt="9"/>
      <dgm:spPr>
        <a:solidFill>
          <a:schemeClr val="bg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127779D7-7A45-49C7-8E93-11053979418A}" type="pres">
      <dgm:prSet presAssocID="{2D27E104-4786-4820-9065-72968B9D7E34}" presName="L2TextContainer" presStyleLbl="revTx" presStyleIdx="8" presStyleCnt="16">
        <dgm:presLayoutVars>
          <dgm:bulletEnabled val="1"/>
        </dgm:presLayoutVars>
      </dgm:prSet>
      <dgm:spPr/>
    </dgm:pt>
    <dgm:pt modelId="{6570CB9E-A14F-4285-89D6-9115D6E77C46}" type="pres">
      <dgm:prSet presAssocID="{2D27E104-4786-4820-9065-72968B9D7E34}" presName="L1TextContainer" presStyleLbl="revTx" presStyleIdx="9" presStyleCnt="16">
        <dgm:presLayoutVars>
          <dgm:chMax val="1"/>
          <dgm:chPref val="1"/>
          <dgm:bulletEnabled val="1"/>
        </dgm:presLayoutVars>
      </dgm:prSet>
      <dgm:spPr/>
    </dgm:pt>
    <dgm:pt modelId="{5E4F099D-8030-4C88-A999-CF3EABE9B550}" type="pres">
      <dgm:prSet presAssocID="{2D27E104-4786-4820-9065-72968B9D7E34}" presName="ConnectLine" presStyleLbl="sibTrans1D1" presStyleIdx="4" presStyleCnt="8"/>
      <dgm:spPr>
        <a:noFill/>
        <a:ln w="6350" cap="flat" cmpd="sng" algn="ctr">
          <a:solidFill>
            <a:srgbClr val="D9D9D9"/>
          </a:solidFill>
          <a:prstDash val="solid"/>
          <a:miter lim="800000"/>
        </a:ln>
        <a:effectLst/>
      </dgm:spPr>
    </dgm:pt>
    <dgm:pt modelId="{BAEC4686-02F8-45B7-BB84-6FEB6961377A}" type="pres">
      <dgm:prSet presAssocID="{2D27E104-4786-4820-9065-72968B9D7E34}" presName="EmptyPlaceHolder" presStyleCnt="0"/>
      <dgm:spPr/>
    </dgm:pt>
    <dgm:pt modelId="{7DBDD158-DFC9-40BE-8144-F11617ED4205}" type="pres">
      <dgm:prSet presAssocID="{CF8DEB4C-CF91-4AE1-B48C-F69D5D22EBA5}" presName="spaceBetweenRectangles" presStyleCnt="0"/>
      <dgm:spPr/>
    </dgm:pt>
    <dgm:pt modelId="{B744CD57-FD23-4E62-9589-4CAC57B034E9}" type="pres">
      <dgm:prSet presAssocID="{CA6B1BA0-B2FC-48AD-8EDA-F4AAA4AF2782}" presName="composite" presStyleCnt="0"/>
      <dgm:spPr/>
    </dgm:pt>
    <dgm:pt modelId="{D891B168-1DA5-4124-931F-A51FCB8EFC11}" type="pres">
      <dgm:prSet presAssocID="{CA6B1BA0-B2FC-48AD-8EDA-F4AAA4AF2782}" presName="ConnectorPoint" presStyleLbl="lnNode1" presStyleIdx="5" presStyleCnt="8"/>
      <dgm:spPr>
        <a:solidFill>
          <a:srgbClr val="D69137"/>
        </a:solidFill>
        <a:ln w="6350" cap="flat" cmpd="sng" algn="ctr">
          <a:noFill/>
          <a:prstDash val="solid"/>
          <a:miter lim="800000"/>
        </a:ln>
        <a:effectLst/>
      </dgm:spPr>
    </dgm:pt>
    <dgm:pt modelId="{42206762-CD73-4F82-B16A-D168E2503215}" type="pres">
      <dgm:prSet presAssocID="{CA6B1BA0-B2FC-48AD-8EDA-F4AAA4AF2782}" presName="DropPinPlaceHolder" presStyleCnt="0"/>
      <dgm:spPr/>
    </dgm:pt>
    <dgm:pt modelId="{C0DBECBF-E3AA-450B-95D4-8349AA21B4F8}" type="pres">
      <dgm:prSet presAssocID="{CA6B1BA0-B2FC-48AD-8EDA-F4AAA4AF2782}" presName="DropPin" presStyleLbl="alignNode1" presStyleIdx="5" presStyleCnt="8" custLinFactNeighborY="1702"/>
      <dgm:spPr>
        <a:solidFill>
          <a:srgbClr val="D69137"/>
        </a:solidFill>
        <a:ln>
          <a:noFill/>
        </a:ln>
      </dgm:spPr>
    </dgm:pt>
    <dgm:pt modelId="{6EDDD44C-F5E4-49AD-B1D9-346B8B8AEE8F}" type="pres">
      <dgm:prSet presAssocID="{CA6B1BA0-B2FC-48AD-8EDA-F4AAA4AF2782}" presName="Ellipse" presStyleLbl="fgAcc1" presStyleIdx="6" presStyleCnt="9"/>
      <dgm:spPr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FE564261-183D-47F9-8E7E-BCFC5023A815}" type="pres">
      <dgm:prSet presAssocID="{CA6B1BA0-B2FC-48AD-8EDA-F4AAA4AF2782}" presName="L2TextContainer" presStyleLbl="revTx" presStyleIdx="10" presStyleCnt="16">
        <dgm:presLayoutVars>
          <dgm:bulletEnabled val="1"/>
        </dgm:presLayoutVars>
      </dgm:prSet>
      <dgm:spPr/>
    </dgm:pt>
    <dgm:pt modelId="{3DA36ABE-9810-4ED4-9A55-2905E7588D06}" type="pres">
      <dgm:prSet presAssocID="{CA6B1BA0-B2FC-48AD-8EDA-F4AAA4AF2782}" presName="L1TextContainer" presStyleLbl="revTx" presStyleIdx="11" presStyleCnt="16">
        <dgm:presLayoutVars>
          <dgm:chMax val="1"/>
          <dgm:chPref val="1"/>
          <dgm:bulletEnabled val="1"/>
        </dgm:presLayoutVars>
      </dgm:prSet>
      <dgm:spPr/>
    </dgm:pt>
    <dgm:pt modelId="{4B9F5909-A57C-4893-9C8A-D5960FE9BE37}" type="pres">
      <dgm:prSet presAssocID="{CA6B1BA0-B2FC-48AD-8EDA-F4AAA4AF2782}" presName="ConnectLine" presStyleLbl="sibTrans1D1" presStyleIdx="5" presStyleCnt="8" custLinFactNeighborX="-44095"/>
      <dgm:spPr>
        <a:xfrm>
          <a:off x="4960678" y="2690813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gm:spPr>
    </dgm:pt>
    <dgm:pt modelId="{DEDCEF89-DB8F-4197-B2D2-2D39426E0B96}" type="pres">
      <dgm:prSet presAssocID="{CA6B1BA0-B2FC-48AD-8EDA-F4AAA4AF2782}" presName="EmptyPlaceHolder" presStyleCnt="0"/>
      <dgm:spPr/>
    </dgm:pt>
    <dgm:pt modelId="{4A96FD2F-C127-41DC-AA54-1EEBED6BA483}" type="pres">
      <dgm:prSet presAssocID="{39FB540D-D808-4040-9A37-0AC474C0212F}" presName="spaceBetweenRectangles" presStyleCnt="0"/>
      <dgm:spPr/>
    </dgm:pt>
    <dgm:pt modelId="{B8E329FB-87B5-4BEA-A184-1FF0C378F609}" type="pres">
      <dgm:prSet presAssocID="{08CAE1A9-57A9-4265-8670-5B3542975321}" presName="composite" presStyleCnt="0"/>
      <dgm:spPr/>
    </dgm:pt>
    <dgm:pt modelId="{0A7DB76C-A09B-4253-B11B-02223DEA351B}" type="pres">
      <dgm:prSet presAssocID="{08CAE1A9-57A9-4265-8670-5B3542975321}" presName="ConnectorPoint" presStyleLbl="lnNode1" presStyleIdx="6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CAC4482-CB1E-47B6-A628-78D23F7F481C}" type="pres">
      <dgm:prSet presAssocID="{08CAE1A9-57A9-4265-8670-5B3542975321}" presName="DropPinPlaceHolder" presStyleCnt="0"/>
      <dgm:spPr/>
    </dgm:pt>
    <dgm:pt modelId="{4D6931E9-C498-40F4-B514-CF3C5F430F55}" type="pres">
      <dgm:prSet presAssocID="{08CAE1A9-57A9-4265-8670-5B3542975321}" presName="DropPin" presStyleLbl="alignNode1" presStyleIdx="6" presStyleCnt="8"/>
      <dgm:spPr/>
    </dgm:pt>
    <dgm:pt modelId="{5B992108-7BEF-47B0-BCA0-374DA2794280}" type="pres">
      <dgm:prSet presAssocID="{08CAE1A9-57A9-4265-8670-5B3542975321}" presName="Ellipse" presStyleLbl="fgAcc1" presStyleIdx="7" presStyleCnt="9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5E9195F3-E508-4CEC-BA27-0B494212F71D}" type="pres">
      <dgm:prSet presAssocID="{08CAE1A9-57A9-4265-8670-5B3542975321}" presName="L2TextContainer" presStyleLbl="revTx" presStyleIdx="12" presStyleCnt="16">
        <dgm:presLayoutVars>
          <dgm:bulletEnabled val="1"/>
        </dgm:presLayoutVars>
      </dgm:prSet>
      <dgm:spPr/>
    </dgm:pt>
    <dgm:pt modelId="{B72B5116-9950-4EFC-84BF-4C14B4E6DA8D}" type="pres">
      <dgm:prSet presAssocID="{08CAE1A9-57A9-4265-8670-5B3542975321}" presName="L1TextContainer" presStyleLbl="revTx" presStyleIdx="13" presStyleCnt="16">
        <dgm:presLayoutVars>
          <dgm:chMax val="1"/>
          <dgm:chPref val="1"/>
          <dgm:bulletEnabled val="1"/>
        </dgm:presLayoutVars>
      </dgm:prSet>
      <dgm:spPr/>
    </dgm:pt>
    <dgm:pt modelId="{0B311011-698C-4E35-8DCC-01DA8F2C60AB}" type="pres">
      <dgm:prSet presAssocID="{08CAE1A9-57A9-4265-8670-5B3542975321}" presName="ConnectLine" presStyleLbl="sibTrans1D1" presStyleIdx="6" presStyleCnt="8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0D2F16B7-7BAB-4447-AC77-DBE31F7C079E}" type="pres">
      <dgm:prSet presAssocID="{08CAE1A9-57A9-4265-8670-5B3542975321}" presName="EmptyPlaceHolder" presStyleCnt="0"/>
      <dgm:spPr/>
    </dgm:pt>
    <dgm:pt modelId="{322EF4B2-FC3F-4F4D-87A3-3127B542A407}" type="pres">
      <dgm:prSet presAssocID="{9A403A3E-2D51-42E5-907F-2F16AF2D4863}" presName="spaceBetweenRectangles" presStyleCnt="0"/>
      <dgm:spPr/>
    </dgm:pt>
    <dgm:pt modelId="{A1AE2BC4-A99C-4DD3-A84D-EB3461D18287}" type="pres">
      <dgm:prSet presAssocID="{212ADAAB-D5CB-4BBC-8DAF-7340FD334994}" presName="composite" presStyleCnt="0"/>
      <dgm:spPr/>
    </dgm:pt>
    <dgm:pt modelId="{278CF1E0-B1C4-4B10-A5EC-FD7EF0557E2D}" type="pres">
      <dgm:prSet presAssocID="{212ADAAB-D5CB-4BBC-8DAF-7340FD334994}" presName="ConnectorPoint" presStyleLbl="lnNode1" presStyleIdx="7" presStyleCnt="8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gm:spPr>
    </dgm:pt>
    <dgm:pt modelId="{27B65FB4-BE6A-41E6-BBE9-8DC9F7B73486}" type="pres">
      <dgm:prSet presAssocID="{212ADAAB-D5CB-4BBC-8DAF-7340FD334994}" presName="DropPinPlaceHolder" presStyleCnt="0"/>
      <dgm:spPr/>
    </dgm:pt>
    <dgm:pt modelId="{488CC4C6-DFBC-460C-A9ED-BEDA8CC682D4}" type="pres">
      <dgm:prSet presAssocID="{212ADAAB-D5CB-4BBC-8DAF-7340FD334994}" presName="DropPin" presStyleLbl="alignNode1" presStyleIdx="7" presStyleCnt="8" custLinFactNeighborX="1785"/>
      <dgm:spPr>
        <a:ln>
          <a:noFill/>
        </a:ln>
      </dgm:spPr>
    </dgm:pt>
    <dgm:pt modelId="{48CA82DA-B677-461B-A08D-337683480059}" type="pres">
      <dgm:prSet presAssocID="{212ADAAB-D5CB-4BBC-8DAF-7340FD334994}" presName="Ellipse" presStyleLbl="fgAcc1" presStyleIdx="8" presStyleCnt="9"/>
      <dgm:spPr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1646913-A3FA-4470-A3E9-C64B0A13A62A}" type="pres">
      <dgm:prSet presAssocID="{212ADAAB-D5CB-4BBC-8DAF-7340FD334994}" presName="L2TextContainer" presStyleLbl="revTx" presStyleIdx="14" presStyleCnt="16">
        <dgm:presLayoutVars>
          <dgm:bulletEnabled val="1"/>
        </dgm:presLayoutVars>
      </dgm:prSet>
      <dgm:spPr/>
    </dgm:pt>
    <dgm:pt modelId="{6EC2FC68-E1B8-4274-8090-C2C96A4CD82C}" type="pres">
      <dgm:prSet presAssocID="{212ADAAB-D5CB-4BBC-8DAF-7340FD334994}" presName="L1TextContainer" presStyleLbl="revTx" presStyleIdx="15" presStyleCnt="16" custLinFactNeighborX="-1725" custLinFactNeighborY="-22124">
        <dgm:presLayoutVars>
          <dgm:chMax val="1"/>
          <dgm:chPref val="1"/>
          <dgm:bulletEnabled val="1"/>
        </dgm:presLayoutVars>
      </dgm:prSet>
      <dgm:spPr/>
    </dgm:pt>
    <dgm:pt modelId="{4F41BF23-550C-4E7F-977E-3D22E3AF7B51}" type="pres">
      <dgm:prSet presAssocID="{212ADAAB-D5CB-4BBC-8DAF-7340FD334994}" presName="ConnectLine" presStyleLbl="sibTrans1D1" presStyleIdx="7" presStyleCnt="8"/>
      <dgm:spPr>
        <a:xfrm>
          <a:off x="6519360" y="1097851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gm:spPr>
    </dgm:pt>
    <dgm:pt modelId="{5018695D-CFD4-49F8-8967-BA8A0C0A0DE1}" type="pres">
      <dgm:prSet presAssocID="{212ADAAB-D5CB-4BBC-8DAF-7340FD334994}" presName="EmptyPlaceHolder" presStyleCnt="0"/>
      <dgm:spPr/>
    </dgm:pt>
  </dgm:ptLst>
  <dgm:cxnLst>
    <dgm:cxn modelId="{46AA4201-90AB-47C7-8189-EE12D87A4714}" type="presOf" srcId="{9D3185FA-CFD6-49D6-93C1-C48716116575}" destId="{D1646913-A3FA-4470-A3E9-C64B0A13A62A}" srcOrd="0" destOrd="2" presId="urn:microsoft.com/office/officeart/2017/3/layout/DropPinTimeline"/>
    <dgm:cxn modelId="{4B9E1102-7698-4284-9E21-4FDE5017F595}" type="presOf" srcId="{9DCEA5FC-4640-45AF-B712-7A4FD94AEF0D}" destId="{85C50C56-6DC8-4C47-8DBC-4FD6B1554AA4}" srcOrd="0" destOrd="0" presId="urn:microsoft.com/office/officeart/2017/3/layout/DropPinTimeline"/>
    <dgm:cxn modelId="{01F4EF04-A9A6-4D33-9CCE-D877C8EFF8FF}" type="presOf" srcId="{2AEE5C11-34AE-4EB7-8907-9BED418EA471}" destId="{D1646913-A3FA-4470-A3E9-C64B0A13A62A}" srcOrd="0" destOrd="0" presId="urn:microsoft.com/office/officeart/2017/3/layout/DropPinTimeline"/>
    <dgm:cxn modelId="{D1B92408-3575-40F6-AC3B-213671FC1FD5}" type="presOf" srcId="{6E95571E-2495-434B-BCF1-4306D7C5A3CE}" destId="{65EFBAF4-DB3D-413B-9DCB-0D9C5D29A3E3}" srcOrd="0" destOrd="1" presId="urn:microsoft.com/office/officeart/2017/3/layout/DropPinTimeline"/>
    <dgm:cxn modelId="{0EE87008-A685-4F81-9056-F5AB187E964C}" srcId="{63085546-7C7C-4B3E-ABEB-2669F1A65FB2}" destId="{08CAE1A9-57A9-4265-8670-5B3542975321}" srcOrd="6" destOrd="0" parTransId="{C7159EE4-A087-4AB5-9C84-F7DB0FB97832}" sibTransId="{9A403A3E-2D51-42E5-907F-2F16AF2D4863}"/>
    <dgm:cxn modelId="{88857711-0348-4496-8DE4-638051577C9D}" srcId="{54BE56D2-23BA-4BC5-8498-35A7BED8D5C9}" destId="{6E95571E-2495-434B-BCF1-4306D7C5A3CE}" srcOrd="1" destOrd="0" parTransId="{32C5A201-2533-4399-86C7-77C9899C3759}" sibTransId="{51598D2B-7363-43DB-AEB7-9ABA5872C9BE}"/>
    <dgm:cxn modelId="{4B2CE919-D81B-4FBC-801E-E2F2809CC048}" type="presOf" srcId="{1BABDC70-C661-4E6F-94AD-4DA92AD2AE41}" destId="{F98C2007-9DFC-422D-964E-B67973EB8F13}" srcOrd="0" destOrd="0" presId="urn:microsoft.com/office/officeart/2017/3/layout/DropPinTimeline"/>
    <dgm:cxn modelId="{A4FD411C-7657-4F09-A203-29075B84ED03}" srcId="{CA6B1BA0-B2FC-48AD-8EDA-F4AAA4AF2782}" destId="{CCF9BEB3-6613-45F0-BBB9-B7D458C7DC87}" srcOrd="2" destOrd="0" parTransId="{AC1E64A1-F7FC-44A8-94FA-095968851673}" sibTransId="{EAE5A878-4A22-4E26-8377-CE5CF6D4A77A}"/>
    <dgm:cxn modelId="{2E244323-A109-4EF3-A556-46370808BDC9}" type="presOf" srcId="{3C10B071-3BC2-478F-9D13-0FA111560185}" destId="{FE564261-183D-47F9-8E7E-BCFC5023A815}" srcOrd="0" destOrd="1" presId="urn:microsoft.com/office/officeart/2017/3/layout/DropPinTimeline"/>
    <dgm:cxn modelId="{8C6B6E23-6A0A-4C6C-8293-808B717B023A}" type="presOf" srcId="{096A9AF0-0DAE-4EB3-B448-4501DA034F4A}" destId="{C1E34084-406C-48D5-88FE-7226282DBC49}" srcOrd="0" destOrd="0" presId="urn:microsoft.com/office/officeart/2017/3/layout/DropPinTimeline"/>
    <dgm:cxn modelId="{D4B5AA26-4F5B-45A3-9C6C-FA209B689694}" type="presOf" srcId="{831701CF-77C7-46C0-A913-8CC39517BAB8}" destId="{A782CF5D-A585-4990-846A-5EDBD19A9BDB}" srcOrd="0" destOrd="0" presId="urn:microsoft.com/office/officeart/2017/3/layout/DropPinTimeline"/>
    <dgm:cxn modelId="{E0C67F27-8B4F-4264-B763-37CEC09D814C}" type="presOf" srcId="{10035DCB-1BA0-4A1C-A358-CC5BEA2E1371}" destId="{65EFBAF4-DB3D-413B-9DCB-0D9C5D29A3E3}" srcOrd="0" destOrd="0" presId="urn:microsoft.com/office/officeart/2017/3/layout/DropPinTimeline"/>
    <dgm:cxn modelId="{BE86222E-74E6-4EE8-B96B-8861ABAA3DC6}" srcId="{212ADAAB-D5CB-4BBC-8DAF-7340FD334994}" destId="{9D3185FA-CFD6-49D6-93C1-C48716116575}" srcOrd="2" destOrd="0" parTransId="{1D974040-5C5F-40F9-80F6-3F60D37F2BE8}" sibTransId="{7C0D5E93-6057-4C27-B792-4317568A2856}"/>
    <dgm:cxn modelId="{1E4FAC31-85E2-42D8-8B61-5E189AC3B3C3}" type="presOf" srcId="{3CB04A44-4013-4CA7-90FD-29AFC3C15E37}" destId="{FE564261-183D-47F9-8E7E-BCFC5023A815}" srcOrd="0" destOrd="0" presId="urn:microsoft.com/office/officeart/2017/3/layout/DropPinTimeline"/>
    <dgm:cxn modelId="{9A77CF38-520D-43C0-BE1A-B855B2928B6E}" srcId="{1BABDC70-C661-4E6F-94AD-4DA92AD2AE41}" destId="{D24E6486-5775-4C42-A98A-AFC62C7940E0}" srcOrd="2" destOrd="0" parTransId="{953B17EE-92F3-4DCA-A1D9-55141F128FBA}" sibTransId="{14ED9F96-546E-47A1-900D-EB4D03085FF4}"/>
    <dgm:cxn modelId="{D7EE645B-C5BA-4D22-A191-3459F4F3E283}" type="presOf" srcId="{92921081-529B-4D1C-83A4-C416BB4C5224}" destId="{B608C5A1-CE9E-4410-9F2F-F714CC6AB069}" srcOrd="0" destOrd="0" presId="urn:microsoft.com/office/officeart/2017/3/layout/DropPinTimeline"/>
    <dgm:cxn modelId="{39A11E5C-7A57-4117-A6DF-36000C29509C}" srcId="{9DCEA5FC-4640-45AF-B712-7A4FD94AEF0D}" destId="{831701CF-77C7-46C0-A913-8CC39517BAB8}" srcOrd="0" destOrd="0" parTransId="{13FBC60D-3EA6-4496-BA97-C1AE8C7F8961}" sibTransId="{75156CDF-E17B-4DAD-AE37-EA44D7F37090}"/>
    <dgm:cxn modelId="{DD687B5C-28C8-4088-99B8-D375C5FDAE4A}" srcId="{212ADAAB-D5CB-4BBC-8DAF-7340FD334994}" destId="{2AEE5C11-34AE-4EB7-8907-9BED418EA471}" srcOrd="0" destOrd="0" parTransId="{2E14AD1F-C7EA-45AE-ADC0-0EE92A6516CB}" sibTransId="{F36FDDA0-6B91-47CB-8114-B6F076E55FC8}"/>
    <dgm:cxn modelId="{69996342-9C3F-4F03-A71D-3A92225E9FFC}" srcId="{1BABDC70-C661-4E6F-94AD-4DA92AD2AE41}" destId="{FE323B1E-5BD6-409E-802D-37920F29C9B5}" srcOrd="0" destOrd="0" parTransId="{F92BA0B1-10DB-49A5-B131-3FC7BDF5AC36}" sibTransId="{74C18936-AFCD-4DB2-9777-8E1861FCEA2F}"/>
    <dgm:cxn modelId="{AFBB4C64-BF3C-4F55-A43C-A37398B5B67E}" type="presOf" srcId="{33EF7C14-6C39-403E-9696-8AE7E154730C}" destId="{D1646913-A3FA-4470-A3E9-C64B0A13A62A}" srcOrd="0" destOrd="1" presId="urn:microsoft.com/office/officeart/2017/3/layout/DropPinTimeline"/>
    <dgm:cxn modelId="{5B57C865-E482-41CE-A2FC-9C39137B4407}" type="presOf" srcId="{D24E6486-5775-4C42-A98A-AFC62C7940E0}" destId="{DA2CDCB7-8776-474C-9375-26F44419C279}" srcOrd="0" destOrd="2" presId="urn:microsoft.com/office/officeart/2017/3/layout/DropPinTimeline"/>
    <dgm:cxn modelId="{D487CF46-9F86-495B-AE69-4BCFAA338FA6}" type="presOf" srcId="{08CAE1A9-57A9-4265-8670-5B3542975321}" destId="{B72B5116-9950-4EFC-84BF-4C14B4E6DA8D}" srcOrd="0" destOrd="0" presId="urn:microsoft.com/office/officeart/2017/3/layout/DropPinTimeline"/>
    <dgm:cxn modelId="{DBD99269-D7F7-4B47-B17B-A5AE402751D9}" srcId="{63085546-7C7C-4B3E-ABEB-2669F1A65FB2}" destId="{9DCEA5FC-4640-45AF-B712-7A4FD94AEF0D}" srcOrd="0" destOrd="0" parTransId="{929A5FD9-0612-4B79-9B59-C3C36D34A069}" sibTransId="{0A99745B-BB5C-49B3-A782-8DB57641F6C9}"/>
    <dgm:cxn modelId="{4CC0CB6B-554D-4467-B4DB-AFBAB5E1343F}" type="presOf" srcId="{D4390C85-6C0D-4E82-AD8A-F71F0699F774}" destId="{5E9195F3-E508-4CEC-BA27-0B494212F71D}" srcOrd="0" destOrd="0" presId="urn:microsoft.com/office/officeart/2017/3/layout/DropPinTimeline"/>
    <dgm:cxn modelId="{C8C7266C-2A0C-476A-85B3-F12BE2521F4C}" srcId="{63085546-7C7C-4B3E-ABEB-2669F1A65FB2}" destId="{212ADAAB-D5CB-4BBC-8DAF-7340FD334994}" srcOrd="7" destOrd="0" parTransId="{45F6D312-A686-491E-95E3-EFB9640CC472}" sibTransId="{AB2787E4-2A8B-428D-A4AE-2B14DCFFC4E7}"/>
    <dgm:cxn modelId="{0E72EF4E-8234-4E32-B007-787F04194149}" srcId="{1BABDC70-C661-4E6F-94AD-4DA92AD2AE41}" destId="{BC22D4DF-76D7-4EAA-81A0-3B001139C241}" srcOrd="1" destOrd="0" parTransId="{83FB9F4F-45B5-46B3-93A3-6413BD23E58C}" sibTransId="{E1682201-862A-4EA1-9AEA-8178171CFF73}"/>
    <dgm:cxn modelId="{24A8F052-3377-4BA4-8C62-CCF5039C85D7}" srcId="{CA6B1BA0-B2FC-48AD-8EDA-F4AAA4AF2782}" destId="{3CB04A44-4013-4CA7-90FD-29AFC3C15E37}" srcOrd="0" destOrd="0" parTransId="{ECEE936A-E3CC-4209-BECC-1CD0C85A2B72}" sibTransId="{D7A8F7A0-47A3-4464-B3B7-E0806DF46627}"/>
    <dgm:cxn modelId="{B9C6B37A-BD26-4A6B-8B2A-2EDDA52879ED}" srcId="{212ADAAB-D5CB-4BBC-8DAF-7340FD334994}" destId="{33EF7C14-6C39-403E-9696-8AE7E154730C}" srcOrd="1" destOrd="0" parTransId="{FAAF96BB-2132-4F55-B50F-B5FD1125BBB1}" sibTransId="{0EB3A443-6417-4D5D-89D0-30A0198BBC06}"/>
    <dgm:cxn modelId="{B05C4C7C-FEB8-4825-98A0-C38D3021918A}" srcId="{096A9AF0-0DAE-4EB3-B448-4501DA034F4A}" destId="{92921081-529B-4D1C-83A4-C416BB4C5224}" srcOrd="0" destOrd="0" parTransId="{5AD2C2F8-A1D7-469B-93D8-B578BEFE51F8}" sibTransId="{ECC13403-1F53-4ED4-AE4F-334EEC7C8710}"/>
    <dgm:cxn modelId="{5999B57C-1E80-46F0-9C31-4B8C21B0B1F8}" type="presOf" srcId="{BC22D4DF-76D7-4EAA-81A0-3B001139C241}" destId="{DA2CDCB7-8776-474C-9375-26F44419C279}" srcOrd="0" destOrd="1" presId="urn:microsoft.com/office/officeart/2017/3/layout/DropPinTimeline"/>
    <dgm:cxn modelId="{08A57881-0709-4234-8FB6-3791715BD2AF}" type="presOf" srcId="{54BE56D2-23BA-4BC5-8498-35A7BED8D5C9}" destId="{E56E0CF4-6352-424F-B476-0D1E34E35AD2}" srcOrd="0" destOrd="0" presId="urn:microsoft.com/office/officeart/2017/3/layout/DropPinTimeline"/>
    <dgm:cxn modelId="{B6EC528C-E742-4348-8A5A-0B3CF1839B4D}" srcId="{08CAE1A9-57A9-4265-8670-5B3542975321}" destId="{D4390C85-6C0D-4E82-AD8A-F71F0699F774}" srcOrd="0" destOrd="0" parTransId="{3E20D8BB-8CF3-4DAD-BDB3-5DC62BB3AB64}" sibTransId="{855008FC-6E50-4CB3-A912-2F28E730E7C5}"/>
    <dgm:cxn modelId="{247DE591-0579-4FF5-9C62-940C4F67096B}" type="presOf" srcId="{63085546-7C7C-4B3E-ABEB-2669F1A65FB2}" destId="{7A5D3400-AF5B-4297-8592-4C1EDB9D0973}" srcOrd="0" destOrd="0" presId="urn:microsoft.com/office/officeart/2017/3/layout/DropPinTimeline"/>
    <dgm:cxn modelId="{47CC4597-EBEB-4A72-8659-D94A4B6CCFA8}" srcId="{CA6B1BA0-B2FC-48AD-8EDA-F4AAA4AF2782}" destId="{3C10B071-3BC2-478F-9D13-0FA111560185}" srcOrd="1" destOrd="0" parTransId="{B8280718-9696-4E3F-BDF5-3F0E22C3E9CC}" sibTransId="{0A4AB4F3-8E5D-45A9-A269-A110CEC89AA6}"/>
    <dgm:cxn modelId="{41BEEF97-C3D1-4089-ADB4-5DB7E0C77337}" srcId="{9DCEA5FC-4640-45AF-B712-7A4FD94AEF0D}" destId="{8D2BF9C4-B93B-4B0D-BB5D-E02EBEF7519B}" srcOrd="1" destOrd="0" parTransId="{D8119DFD-7C6C-4771-8FBE-9584F42D7B92}" sibTransId="{75C71EFB-18EF-4AC2-91D3-16F786F37051}"/>
    <dgm:cxn modelId="{36B08B9B-EE10-4BB6-8219-821D98B6C60D}" srcId="{2D27E104-4786-4820-9065-72968B9D7E34}" destId="{F0F0BA66-986F-4777-BD2E-6A1A8F471C45}" srcOrd="0" destOrd="0" parTransId="{6D07A8AE-ADD4-4AEA-9E3D-4A6C0C0E4421}" sibTransId="{E003A60D-E45A-41A3-B01A-93AF515F95B6}"/>
    <dgm:cxn modelId="{DA65EDAB-DA38-4403-AF06-C7531978D96C}" type="presOf" srcId="{CCF9BEB3-6613-45F0-BBB9-B7D458C7DC87}" destId="{FE564261-183D-47F9-8E7E-BCFC5023A815}" srcOrd="0" destOrd="2" presId="urn:microsoft.com/office/officeart/2017/3/layout/DropPinTimeline"/>
    <dgm:cxn modelId="{2A9F08AC-6546-4256-B11D-B4B11E04D731}" srcId="{63085546-7C7C-4B3E-ABEB-2669F1A65FB2}" destId="{2D27E104-4786-4820-9065-72968B9D7E34}" srcOrd="4" destOrd="0" parTransId="{0FC09231-8261-4704-A0C4-EA48E03F22F9}" sibTransId="{CF8DEB4C-CF91-4AE1-B48C-F69D5D22EBA5}"/>
    <dgm:cxn modelId="{7F3E70AD-6CE8-40F1-B801-C8B7489D1F04}" type="presOf" srcId="{FE1DEAE8-8337-4354-A7FB-D98C73E640C3}" destId="{65EFBAF4-DB3D-413B-9DCB-0D9C5D29A3E3}" srcOrd="0" destOrd="2" presId="urn:microsoft.com/office/officeart/2017/3/layout/DropPinTimeline"/>
    <dgm:cxn modelId="{65FBF8AE-056B-4C53-A383-3761DC5F4F58}" srcId="{63085546-7C7C-4B3E-ABEB-2669F1A65FB2}" destId="{54BE56D2-23BA-4BC5-8498-35A7BED8D5C9}" srcOrd="2" destOrd="0" parTransId="{57309E14-9978-4439-A735-419D0D52A3AC}" sibTransId="{5BEE3C8C-1F20-417D-8B60-9D362CB87184}"/>
    <dgm:cxn modelId="{1B1DEDB9-12E6-43C3-81CB-418072ADA437}" srcId="{63085546-7C7C-4B3E-ABEB-2669F1A65FB2}" destId="{1BABDC70-C661-4E6F-94AD-4DA92AD2AE41}" srcOrd="1" destOrd="0" parTransId="{F8098BA6-04BA-434B-BFF9-7C87DEC01D22}" sibTransId="{88813476-59B4-40DC-B478-CFD64177728A}"/>
    <dgm:cxn modelId="{CA0753BD-DB60-4D68-8486-5B376B839B26}" srcId="{63085546-7C7C-4B3E-ABEB-2669F1A65FB2}" destId="{096A9AF0-0DAE-4EB3-B448-4501DA034F4A}" srcOrd="3" destOrd="0" parTransId="{8CE6ABD6-768E-42C8-9029-C3B5F278B21C}" sibTransId="{6B0D7DA9-E6ED-4137-9716-F48BF62327A8}"/>
    <dgm:cxn modelId="{9BF064D5-325B-4CE5-A770-B26EA5A5C414}" type="presOf" srcId="{FE323B1E-5BD6-409E-802D-37920F29C9B5}" destId="{DA2CDCB7-8776-474C-9375-26F44419C279}" srcOrd="0" destOrd="0" presId="urn:microsoft.com/office/officeart/2017/3/layout/DropPinTimeline"/>
    <dgm:cxn modelId="{92D3C9D5-7C19-4FAC-985D-06C0E1374FEE}" type="presOf" srcId="{212ADAAB-D5CB-4BBC-8DAF-7340FD334994}" destId="{6EC2FC68-E1B8-4274-8090-C2C96A4CD82C}" srcOrd="0" destOrd="0" presId="urn:microsoft.com/office/officeart/2017/3/layout/DropPinTimeline"/>
    <dgm:cxn modelId="{FFEA00DB-F8BC-4A71-84C4-910308BC0DB1}" srcId="{54BE56D2-23BA-4BC5-8498-35A7BED8D5C9}" destId="{10035DCB-1BA0-4A1C-A358-CC5BEA2E1371}" srcOrd="0" destOrd="0" parTransId="{75AFE600-5212-4D74-8F46-9F532A96C0EC}" sibTransId="{6527C2C7-246F-4A6A-866E-D74BE2CB5E4E}"/>
    <dgm:cxn modelId="{4EE121DF-2533-4C5D-80F9-461FAE53B917}" type="presOf" srcId="{CA6B1BA0-B2FC-48AD-8EDA-F4AAA4AF2782}" destId="{3DA36ABE-9810-4ED4-9A55-2905E7588D06}" srcOrd="0" destOrd="0" presId="urn:microsoft.com/office/officeart/2017/3/layout/DropPinTimeline"/>
    <dgm:cxn modelId="{CD6B6EE8-3813-4EF1-BFEC-C005A3326D63}" srcId="{63085546-7C7C-4B3E-ABEB-2669F1A65FB2}" destId="{CA6B1BA0-B2FC-48AD-8EDA-F4AAA4AF2782}" srcOrd="5" destOrd="0" parTransId="{D7D3AA07-BCB9-4212-A556-E90870FB1413}" sibTransId="{39FB540D-D808-4040-9A37-0AC474C0212F}"/>
    <dgm:cxn modelId="{EF80AAEC-0DDB-4B8F-B765-84FD49A5BAE5}" type="presOf" srcId="{8D2BF9C4-B93B-4B0D-BB5D-E02EBEF7519B}" destId="{A782CF5D-A585-4990-846A-5EDBD19A9BDB}" srcOrd="0" destOrd="1" presId="urn:microsoft.com/office/officeart/2017/3/layout/DropPinTimeline"/>
    <dgm:cxn modelId="{1C7471F1-792E-43B5-B206-B5DB32E04FA3}" type="presOf" srcId="{2D27E104-4786-4820-9065-72968B9D7E34}" destId="{6570CB9E-A14F-4285-89D6-9115D6E77C46}" srcOrd="0" destOrd="0" presId="urn:microsoft.com/office/officeart/2017/3/layout/DropPinTimeline"/>
    <dgm:cxn modelId="{2F5EB2F2-5DA1-4389-B499-808119C86E81}" srcId="{54BE56D2-23BA-4BC5-8498-35A7BED8D5C9}" destId="{FE1DEAE8-8337-4354-A7FB-D98C73E640C3}" srcOrd="2" destOrd="0" parTransId="{83ED5CD7-9806-4E35-B608-6227FDB17E7E}" sibTransId="{E7D8EFC0-3929-4587-8F2C-0A6BC01E0092}"/>
    <dgm:cxn modelId="{213D65FD-0EA0-43F1-B754-C462BF8CA916}" type="presOf" srcId="{F0F0BA66-986F-4777-BD2E-6A1A8F471C45}" destId="{127779D7-7A45-49C7-8E93-11053979418A}" srcOrd="0" destOrd="0" presId="urn:microsoft.com/office/officeart/2017/3/layout/DropPinTimeline"/>
    <dgm:cxn modelId="{DF5DE698-F5F1-45A4-BFB9-946B861C3360}" type="presParOf" srcId="{7A5D3400-AF5B-4297-8592-4C1EDB9D0973}" destId="{BD204284-1F7C-4D58-BC79-8C2DEE7E9FAF}" srcOrd="0" destOrd="0" presId="urn:microsoft.com/office/officeart/2017/3/layout/DropPinTimeline"/>
    <dgm:cxn modelId="{3379E4D5-BFEA-425D-9187-738D4DDB51E8}" type="presParOf" srcId="{7A5D3400-AF5B-4297-8592-4C1EDB9D0973}" destId="{46A6B157-7198-41C4-9D25-C4F8885F1B6F}" srcOrd="1" destOrd="0" presId="urn:microsoft.com/office/officeart/2017/3/layout/DropPinTimeline"/>
    <dgm:cxn modelId="{D2C2F7D3-BC6D-4D39-B1A8-CA57176EEEE0}" type="presParOf" srcId="{46A6B157-7198-41C4-9D25-C4F8885F1B6F}" destId="{578E6A06-6F61-48BD-9F1A-48E731D6E26D}" srcOrd="0" destOrd="0" presId="urn:microsoft.com/office/officeart/2017/3/layout/DropPinTimeline"/>
    <dgm:cxn modelId="{BE00563C-A0AC-4186-AB1D-6EE7800AC2E3}" type="presParOf" srcId="{578E6A06-6F61-48BD-9F1A-48E731D6E26D}" destId="{9F727168-E825-43C1-AF50-41E115F59C0C}" srcOrd="0" destOrd="0" presId="urn:microsoft.com/office/officeart/2017/3/layout/DropPinTimeline"/>
    <dgm:cxn modelId="{D307621D-6EFE-4C7D-9D90-4F46778B17A2}" type="presParOf" srcId="{578E6A06-6F61-48BD-9F1A-48E731D6E26D}" destId="{0C380CA5-521A-4949-A022-450DA9C217F5}" srcOrd="1" destOrd="0" presId="urn:microsoft.com/office/officeart/2017/3/layout/DropPinTimeline"/>
    <dgm:cxn modelId="{A0881413-C055-401B-844A-E3C7CF08C25C}" type="presParOf" srcId="{0C380CA5-521A-4949-A022-450DA9C217F5}" destId="{19EF924A-339B-436A-9151-9C7B0B0377B9}" srcOrd="0" destOrd="0" presId="urn:microsoft.com/office/officeart/2017/3/layout/DropPinTimeline"/>
    <dgm:cxn modelId="{8E8E84C1-CF37-4439-B790-F5C8BBE89718}" type="presParOf" srcId="{0C380CA5-521A-4949-A022-450DA9C217F5}" destId="{846B4BA4-33F0-43CE-A60E-B95E195AD5A9}" srcOrd="1" destOrd="0" presId="urn:microsoft.com/office/officeart/2017/3/layout/DropPinTimeline"/>
    <dgm:cxn modelId="{82AE55A2-5A61-4D9E-8DE3-E9ECA5F44D18}" type="presParOf" srcId="{578E6A06-6F61-48BD-9F1A-48E731D6E26D}" destId="{A782CF5D-A585-4990-846A-5EDBD19A9BDB}" srcOrd="2" destOrd="0" presId="urn:microsoft.com/office/officeart/2017/3/layout/DropPinTimeline"/>
    <dgm:cxn modelId="{12C99D24-AC27-4E3A-9386-4AE9079126FE}" type="presParOf" srcId="{578E6A06-6F61-48BD-9F1A-48E731D6E26D}" destId="{85C50C56-6DC8-4C47-8DBC-4FD6B1554AA4}" srcOrd="3" destOrd="0" presId="urn:microsoft.com/office/officeart/2017/3/layout/DropPinTimeline"/>
    <dgm:cxn modelId="{62534CB0-A0BA-4509-9BD8-F13D9313FB8B}" type="presParOf" srcId="{578E6A06-6F61-48BD-9F1A-48E731D6E26D}" destId="{4F322B1B-F357-4BCD-BF34-8A0D705A1CE7}" srcOrd="4" destOrd="0" presId="urn:microsoft.com/office/officeart/2017/3/layout/DropPinTimeline"/>
    <dgm:cxn modelId="{908ED23D-F762-4E26-922F-7B58C7D225F7}" type="presParOf" srcId="{578E6A06-6F61-48BD-9F1A-48E731D6E26D}" destId="{9FF32B1E-94FD-475E-9959-8E0546070C5B}" srcOrd="5" destOrd="0" presId="urn:microsoft.com/office/officeart/2017/3/layout/DropPinTimeline"/>
    <dgm:cxn modelId="{2EACE5AC-4878-4919-8EC0-1B4D254E235A}" type="presParOf" srcId="{46A6B157-7198-41C4-9D25-C4F8885F1B6F}" destId="{C9E000F5-B650-46EB-A3B0-FBA6593CE548}" srcOrd="1" destOrd="0" presId="urn:microsoft.com/office/officeart/2017/3/layout/DropPinTimeline"/>
    <dgm:cxn modelId="{FFE5CED4-D41A-4C08-AFFE-7B7A942A4F59}" type="presParOf" srcId="{46A6B157-7198-41C4-9D25-C4F8885F1B6F}" destId="{8DD4F6E2-85A5-4BDF-9886-DFEFF9C41EBE}" srcOrd="2" destOrd="0" presId="urn:microsoft.com/office/officeart/2017/3/layout/DropPinTimeline"/>
    <dgm:cxn modelId="{EA4340A2-8319-48A3-AF2F-0AD366FD3ABD}" type="presParOf" srcId="{8DD4F6E2-85A5-4BDF-9886-DFEFF9C41EBE}" destId="{FEC78AD1-8FC4-438D-911C-4885CE4DCCC5}" srcOrd="0" destOrd="0" presId="urn:microsoft.com/office/officeart/2017/3/layout/DropPinTimeline"/>
    <dgm:cxn modelId="{E95A5BEC-71A4-4B32-8845-77F75BD7A423}" type="presParOf" srcId="{8DD4F6E2-85A5-4BDF-9886-DFEFF9C41EBE}" destId="{E4C92F9A-2C8D-48AC-AEBE-6A916D2906AA}" srcOrd="1" destOrd="0" presId="urn:microsoft.com/office/officeart/2017/3/layout/DropPinTimeline"/>
    <dgm:cxn modelId="{B79E9831-9A90-410B-AB96-25FBD7B3579A}" type="presParOf" srcId="{E4C92F9A-2C8D-48AC-AEBE-6A916D2906AA}" destId="{DDF095CA-CA5C-4692-9C1C-E6CDC80EF32D}" srcOrd="0" destOrd="0" presId="urn:microsoft.com/office/officeart/2017/3/layout/DropPinTimeline"/>
    <dgm:cxn modelId="{3B874A7B-73F6-4A7D-A7CB-4030BF98204B}" type="presParOf" srcId="{E4C92F9A-2C8D-48AC-AEBE-6A916D2906AA}" destId="{BF7E48B9-26B7-4CC4-9BBD-765C85D2D3CE}" srcOrd="1" destOrd="0" presId="urn:microsoft.com/office/officeart/2017/3/layout/DropPinTimeline"/>
    <dgm:cxn modelId="{1C2E8FDD-2BE2-4695-8BBF-FCD05B9E05AD}" type="presParOf" srcId="{8DD4F6E2-85A5-4BDF-9886-DFEFF9C41EBE}" destId="{DA2CDCB7-8776-474C-9375-26F44419C279}" srcOrd="2" destOrd="0" presId="urn:microsoft.com/office/officeart/2017/3/layout/DropPinTimeline"/>
    <dgm:cxn modelId="{190ABA93-FDE2-4D79-9BAC-0FE45FE4D5BC}" type="presParOf" srcId="{8DD4F6E2-85A5-4BDF-9886-DFEFF9C41EBE}" destId="{F98C2007-9DFC-422D-964E-B67973EB8F13}" srcOrd="3" destOrd="0" presId="urn:microsoft.com/office/officeart/2017/3/layout/DropPinTimeline"/>
    <dgm:cxn modelId="{228B92FC-F6AC-4663-B9B0-76B4017F5AEC}" type="presParOf" srcId="{8DD4F6E2-85A5-4BDF-9886-DFEFF9C41EBE}" destId="{666B3EEF-94B4-4079-8D9B-D73F422B9435}" srcOrd="4" destOrd="0" presId="urn:microsoft.com/office/officeart/2017/3/layout/DropPinTimeline"/>
    <dgm:cxn modelId="{45BEA4CA-0409-4F36-A511-C05CF9DACCC1}" type="presParOf" srcId="{8DD4F6E2-85A5-4BDF-9886-DFEFF9C41EBE}" destId="{E2D5E51C-1F5D-4D9A-A74F-4D7E66C8058F}" srcOrd="5" destOrd="0" presId="urn:microsoft.com/office/officeart/2017/3/layout/DropPinTimeline"/>
    <dgm:cxn modelId="{B7B92712-F0F7-44E1-95B3-FA12F20159EA}" type="presParOf" srcId="{46A6B157-7198-41C4-9D25-C4F8885F1B6F}" destId="{9A6D5E9A-6F18-475E-AE1F-DCCFFCEC7CF5}" srcOrd="3" destOrd="0" presId="urn:microsoft.com/office/officeart/2017/3/layout/DropPinTimeline"/>
    <dgm:cxn modelId="{8995753A-0BA0-4E48-8EFA-16C2F09663C1}" type="presParOf" srcId="{46A6B157-7198-41C4-9D25-C4F8885F1B6F}" destId="{FFD8C5B6-93D0-4853-A97B-40AA593D9F7E}" srcOrd="4" destOrd="0" presId="urn:microsoft.com/office/officeart/2017/3/layout/DropPinTimeline"/>
    <dgm:cxn modelId="{A6E98E3A-E829-4ECB-BBE3-96DBEFC6FE1B}" type="presParOf" srcId="{FFD8C5B6-93D0-4853-A97B-40AA593D9F7E}" destId="{E3B9A7F6-A136-4785-B643-99C27376BA97}" srcOrd="0" destOrd="0" presId="urn:microsoft.com/office/officeart/2017/3/layout/DropPinTimeline"/>
    <dgm:cxn modelId="{B135783E-1D4F-45E9-B319-6BD6E8459B8C}" type="presParOf" srcId="{FFD8C5B6-93D0-4853-A97B-40AA593D9F7E}" destId="{1CB89C1B-EBA7-4673-B038-89926108802F}" srcOrd="1" destOrd="0" presId="urn:microsoft.com/office/officeart/2017/3/layout/DropPinTimeline"/>
    <dgm:cxn modelId="{BF0E8FA5-E361-4439-B511-A8AFE680AF3A}" type="presParOf" srcId="{1CB89C1B-EBA7-4673-B038-89926108802F}" destId="{5C5D379E-2EDB-4033-8B65-A8D255EB89B4}" srcOrd="0" destOrd="0" presId="urn:microsoft.com/office/officeart/2017/3/layout/DropPinTimeline"/>
    <dgm:cxn modelId="{4E8A41A6-2286-4D83-8BC3-81D99F7EEDA6}" type="presParOf" srcId="{1CB89C1B-EBA7-4673-B038-89926108802F}" destId="{74422501-95A3-43D4-B70E-4D601D523086}" srcOrd="1" destOrd="0" presId="urn:microsoft.com/office/officeart/2017/3/layout/DropPinTimeline"/>
    <dgm:cxn modelId="{E82487CE-F068-4F3C-8291-5D7815D5FB6E}" type="presParOf" srcId="{FFD8C5B6-93D0-4853-A97B-40AA593D9F7E}" destId="{65EFBAF4-DB3D-413B-9DCB-0D9C5D29A3E3}" srcOrd="2" destOrd="0" presId="urn:microsoft.com/office/officeart/2017/3/layout/DropPinTimeline"/>
    <dgm:cxn modelId="{BB29B22E-46B2-414A-A459-79E9D1FC8CB0}" type="presParOf" srcId="{FFD8C5B6-93D0-4853-A97B-40AA593D9F7E}" destId="{E56E0CF4-6352-424F-B476-0D1E34E35AD2}" srcOrd="3" destOrd="0" presId="urn:microsoft.com/office/officeart/2017/3/layout/DropPinTimeline"/>
    <dgm:cxn modelId="{ED8193BB-4460-4052-8886-210BB27BBB14}" type="presParOf" srcId="{FFD8C5B6-93D0-4853-A97B-40AA593D9F7E}" destId="{27582445-9D8E-427F-BA92-98CA94E41E73}" srcOrd="4" destOrd="0" presId="urn:microsoft.com/office/officeart/2017/3/layout/DropPinTimeline"/>
    <dgm:cxn modelId="{D4C7B867-6004-4CA1-A6EA-4048C3F5E789}" type="presParOf" srcId="{FFD8C5B6-93D0-4853-A97B-40AA593D9F7E}" destId="{0DE415C1-DBCC-4D96-A82C-BFB196FA568A}" srcOrd="5" destOrd="0" presId="urn:microsoft.com/office/officeart/2017/3/layout/DropPinTimeline"/>
    <dgm:cxn modelId="{A1E5EE35-851E-4EE4-9F36-C6A71D8E2A3C}" type="presParOf" srcId="{46A6B157-7198-41C4-9D25-C4F8885F1B6F}" destId="{1DDA96EC-8835-4E27-9679-BC0E2D070FDF}" srcOrd="5" destOrd="0" presId="urn:microsoft.com/office/officeart/2017/3/layout/DropPinTimeline"/>
    <dgm:cxn modelId="{1411B557-D63F-4D7D-B23B-CA461A358514}" type="presParOf" srcId="{46A6B157-7198-41C4-9D25-C4F8885F1B6F}" destId="{64373A7D-C7A5-4C0C-9781-58743159539A}" srcOrd="6" destOrd="0" presId="urn:microsoft.com/office/officeart/2017/3/layout/DropPinTimeline"/>
    <dgm:cxn modelId="{6CB32CC7-B0CD-4AD6-931E-1463A3E4BDD1}" type="presParOf" srcId="{64373A7D-C7A5-4C0C-9781-58743159539A}" destId="{B57996C3-16BE-4CEB-B9E2-6FFC42938F41}" srcOrd="0" destOrd="0" presId="urn:microsoft.com/office/officeart/2017/3/layout/DropPinTimeline"/>
    <dgm:cxn modelId="{A471333E-D970-4016-BB0D-388B5E931527}" type="presParOf" srcId="{64373A7D-C7A5-4C0C-9781-58743159539A}" destId="{BC71368F-DA7E-405D-93AC-3A6767BF9FC6}" srcOrd="1" destOrd="0" presId="urn:microsoft.com/office/officeart/2017/3/layout/DropPinTimeline"/>
    <dgm:cxn modelId="{ABBB56D4-5125-4186-B69F-043F938BFB3A}" type="presParOf" srcId="{BC71368F-DA7E-405D-93AC-3A6767BF9FC6}" destId="{5B4632EA-1574-417A-A3FA-D711159FBAD1}" srcOrd="0" destOrd="0" presId="urn:microsoft.com/office/officeart/2017/3/layout/DropPinTimeline"/>
    <dgm:cxn modelId="{FD34DFF8-9712-424A-AF5A-22AC0789AFB9}" type="presParOf" srcId="{BC71368F-DA7E-405D-93AC-3A6767BF9FC6}" destId="{032E0966-F86B-4BBD-BE80-8FAB861AF0E8}" srcOrd="1" destOrd="0" presId="urn:microsoft.com/office/officeart/2017/3/layout/DropPinTimeline"/>
    <dgm:cxn modelId="{00695939-ADB7-4791-BD87-3D2EF2FB4892}" type="presParOf" srcId="{64373A7D-C7A5-4C0C-9781-58743159539A}" destId="{B608C5A1-CE9E-4410-9F2F-F714CC6AB069}" srcOrd="2" destOrd="0" presId="urn:microsoft.com/office/officeart/2017/3/layout/DropPinTimeline"/>
    <dgm:cxn modelId="{5FF1A70A-82DC-4985-B9A4-3353BD7CEE42}" type="presParOf" srcId="{64373A7D-C7A5-4C0C-9781-58743159539A}" destId="{C1E34084-406C-48D5-88FE-7226282DBC49}" srcOrd="3" destOrd="0" presId="urn:microsoft.com/office/officeart/2017/3/layout/DropPinTimeline"/>
    <dgm:cxn modelId="{43C8051E-9328-4E30-9394-1E963CC12F44}" type="presParOf" srcId="{64373A7D-C7A5-4C0C-9781-58743159539A}" destId="{33168228-1414-4AAF-B7E5-C08A80BBB2F1}" srcOrd="4" destOrd="0" presId="urn:microsoft.com/office/officeart/2017/3/layout/DropPinTimeline"/>
    <dgm:cxn modelId="{65C8BF36-C966-4992-8FDE-74128C369D5F}" type="presParOf" srcId="{64373A7D-C7A5-4C0C-9781-58743159539A}" destId="{C791BCDD-76D3-4E0E-98B9-0C4903CF0E94}" srcOrd="5" destOrd="0" presId="urn:microsoft.com/office/officeart/2017/3/layout/DropPinTimeline"/>
    <dgm:cxn modelId="{7C13C35C-1744-4179-8C2F-105BDA7146EE}" type="presParOf" srcId="{46A6B157-7198-41C4-9D25-C4F8885F1B6F}" destId="{3B1DA912-FDB7-4F73-8823-B30C56F7DE86}" srcOrd="7" destOrd="0" presId="urn:microsoft.com/office/officeart/2017/3/layout/DropPinTimeline"/>
    <dgm:cxn modelId="{7F970C87-786E-48C9-91E3-3FBC378DBA0D}" type="presParOf" srcId="{46A6B157-7198-41C4-9D25-C4F8885F1B6F}" destId="{62CE216D-6CDC-4D21-9F29-72763610645A}" srcOrd="8" destOrd="0" presId="urn:microsoft.com/office/officeart/2017/3/layout/DropPinTimeline"/>
    <dgm:cxn modelId="{6D277DA3-688F-4E78-AB7C-19D4EAC218C5}" type="presParOf" srcId="{62CE216D-6CDC-4D21-9F29-72763610645A}" destId="{A5B891F7-CC81-4B6C-AC1E-BF506EC02C82}" srcOrd="0" destOrd="0" presId="urn:microsoft.com/office/officeart/2017/3/layout/DropPinTimeline"/>
    <dgm:cxn modelId="{1A37E980-5D77-47B5-985E-A0E6C35E971B}" type="presParOf" srcId="{62CE216D-6CDC-4D21-9F29-72763610645A}" destId="{C607B937-7256-4F13-A60E-D0ABF4896738}" srcOrd="1" destOrd="0" presId="urn:microsoft.com/office/officeart/2017/3/layout/DropPinTimeline"/>
    <dgm:cxn modelId="{59BA652A-FF65-47E7-8C59-4698691409A7}" type="presParOf" srcId="{C607B937-7256-4F13-A60E-D0ABF4896738}" destId="{566CB300-D8DE-49A8-8209-F26CDC1A14C8}" srcOrd="0" destOrd="0" presId="urn:microsoft.com/office/officeart/2017/3/layout/DropPinTimeline"/>
    <dgm:cxn modelId="{05288987-F276-4CA8-86E7-D6C28AC2E26E}" type="presParOf" srcId="{C607B937-7256-4F13-A60E-D0ABF4896738}" destId="{5DF6830F-ED3A-41BE-B038-0FA943CE40EB}" srcOrd="1" destOrd="0" presId="urn:microsoft.com/office/officeart/2017/3/layout/DropPinTimeline"/>
    <dgm:cxn modelId="{D6E43E1D-DEEF-4E11-8B1A-488129251F25}" type="presParOf" srcId="{62CE216D-6CDC-4D21-9F29-72763610645A}" destId="{127779D7-7A45-49C7-8E93-11053979418A}" srcOrd="2" destOrd="0" presId="urn:microsoft.com/office/officeart/2017/3/layout/DropPinTimeline"/>
    <dgm:cxn modelId="{556754CC-68A9-4239-B856-37FF62A905AC}" type="presParOf" srcId="{62CE216D-6CDC-4D21-9F29-72763610645A}" destId="{6570CB9E-A14F-4285-89D6-9115D6E77C46}" srcOrd="3" destOrd="0" presId="urn:microsoft.com/office/officeart/2017/3/layout/DropPinTimeline"/>
    <dgm:cxn modelId="{A80476B7-1B58-4CD2-983F-1F08E652EE91}" type="presParOf" srcId="{62CE216D-6CDC-4D21-9F29-72763610645A}" destId="{5E4F099D-8030-4C88-A999-CF3EABE9B550}" srcOrd="4" destOrd="0" presId="urn:microsoft.com/office/officeart/2017/3/layout/DropPinTimeline"/>
    <dgm:cxn modelId="{C5AE78F8-FD4A-4430-ACDE-411496C1647A}" type="presParOf" srcId="{62CE216D-6CDC-4D21-9F29-72763610645A}" destId="{BAEC4686-02F8-45B7-BB84-6FEB6961377A}" srcOrd="5" destOrd="0" presId="urn:microsoft.com/office/officeart/2017/3/layout/DropPinTimeline"/>
    <dgm:cxn modelId="{0075AA61-BEC9-4788-B1E2-40396F59806E}" type="presParOf" srcId="{46A6B157-7198-41C4-9D25-C4F8885F1B6F}" destId="{7DBDD158-DFC9-40BE-8144-F11617ED4205}" srcOrd="9" destOrd="0" presId="urn:microsoft.com/office/officeart/2017/3/layout/DropPinTimeline"/>
    <dgm:cxn modelId="{4ADEFB53-9E2A-44A0-A969-D7F168938D59}" type="presParOf" srcId="{46A6B157-7198-41C4-9D25-C4F8885F1B6F}" destId="{B744CD57-FD23-4E62-9589-4CAC57B034E9}" srcOrd="10" destOrd="0" presId="urn:microsoft.com/office/officeart/2017/3/layout/DropPinTimeline"/>
    <dgm:cxn modelId="{36E20A48-0405-4015-8F2E-DA40A32B437E}" type="presParOf" srcId="{B744CD57-FD23-4E62-9589-4CAC57B034E9}" destId="{D891B168-1DA5-4124-931F-A51FCB8EFC11}" srcOrd="0" destOrd="0" presId="urn:microsoft.com/office/officeart/2017/3/layout/DropPinTimeline"/>
    <dgm:cxn modelId="{FDF3968B-2E47-4E87-854C-5E77FDD5FEFE}" type="presParOf" srcId="{B744CD57-FD23-4E62-9589-4CAC57B034E9}" destId="{42206762-CD73-4F82-B16A-D168E2503215}" srcOrd="1" destOrd="0" presId="urn:microsoft.com/office/officeart/2017/3/layout/DropPinTimeline"/>
    <dgm:cxn modelId="{21E0E1B4-FEF3-4391-9F7F-B7DDBB22285E}" type="presParOf" srcId="{42206762-CD73-4F82-B16A-D168E2503215}" destId="{C0DBECBF-E3AA-450B-95D4-8349AA21B4F8}" srcOrd="0" destOrd="0" presId="urn:microsoft.com/office/officeart/2017/3/layout/DropPinTimeline"/>
    <dgm:cxn modelId="{3350D102-CC61-45D9-81B3-E81B809C1C85}" type="presParOf" srcId="{42206762-CD73-4F82-B16A-D168E2503215}" destId="{6EDDD44C-F5E4-49AD-B1D9-346B8B8AEE8F}" srcOrd="1" destOrd="0" presId="urn:microsoft.com/office/officeart/2017/3/layout/DropPinTimeline"/>
    <dgm:cxn modelId="{801858C9-6E48-4233-9A2C-93A2980F16D7}" type="presParOf" srcId="{B744CD57-FD23-4E62-9589-4CAC57B034E9}" destId="{FE564261-183D-47F9-8E7E-BCFC5023A815}" srcOrd="2" destOrd="0" presId="urn:microsoft.com/office/officeart/2017/3/layout/DropPinTimeline"/>
    <dgm:cxn modelId="{481C6DAC-4104-474B-8788-CDA5D6A475C6}" type="presParOf" srcId="{B744CD57-FD23-4E62-9589-4CAC57B034E9}" destId="{3DA36ABE-9810-4ED4-9A55-2905E7588D06}" srcOrd="3" destOrd="0" presId="urn:microsoft.com/office/officeart/2017/3/layout/DropPinTimeline"/>
    <dgm:cxn modelId="{0700F1ED-9386-45C6-89CF-6234BBDBF942}" type="presParOf" srcId="{B744CD57-FD23-4E62-9589-4CAC57B034E9}" destId="{4B9F5909-A57C-4893-9C8A-D5960FE9BE37}" srcOrd="4" destOrd="0" presId="urn:microsoft.com/office/officeart/2017/3/layout/DropPinTimeline"/>
    <dgm:cxn modelId="{73ACBFB3-D5D7-40A0-9A0B-89454B90064F}" type="presParOf" srcId="{B744CD57-FD23-4E62-9589-4CAC57B034E9}" destId="{DEDCEF89-DB8F-4197-B2D2-2D39426E0B96}" srcOrd="5" destOrd="0" presId="urn:microsoft.com/office/officeart/2017/3/layout/DropPinTimeline"/>
    <dgm:cxn modelId="{DD2B9A51-B459-4BC2-AB77-E98BC386C8BC}" type="presParOf" srcId="{46A6B157-7198-41C4-9D25-C4F8885F1B6F}" destId="{4A96FD2F-C127-41DC-AA54-1EEBED6BA483}" srcOrd="11" destOrd="0" presId="urn:microsoft.com/office/officeart/2017/3/layout/DropPinTimeline"/>
    <dgm:cxn modelId="{0B3D9A79-C3B7-4589-9D6C-28C344FDEF8D}" type="presParOf" srcId="{46A6B157-7198-41C4-9D25-C4F8885F1B6F}" destId="{B8E329FB-87B5-4BEA-A184-1FF0C378F609}" srcOrd="12" destOrd="0" presId="urn:microsoft.com/office/officeart/2017/3/layout/DropPinTimeline"/>
    <dgm:cxn modelId="{F591ECCC-620C-4F39-8BE1-5C6FE05B43CC}" type="presParOf" srcId="{B8E329FB-87B5-4BEA-A184-1FF0C378F609}" destId="{0A7DB76C-A09B-4253-B11B-02223DEA351B}" srcOrd="0" destOrd="0" presId="urn:microsoft.com/office/officeart/2017/3/layout/DropPinTimeline"/>
    <dgm:cxn modelId="{0D75DECF-1088-433D-8B46-3E1659546B75}" type="presParOf" srcId="{B8E329FB-87B5-4BEA-A184-1FF0C378F609}" destId="{CCAC4482-CB1E-47B6-A628-78D23F7F481C}" srcOrd="1" destOrd="0" presId="urn:microsoft.com/office/officeart/2017/3/layout/DropPinTimeline"/>
    <dgm:cxn modelId="{52B67275-416E-42F2-8114-F89DDE7BB7B9}" type="presParOf" srcId="{CCAC4482-CB1E-47B6-A628-78D23F7F481C}" destId="{4D6931E9-C498-40F4-B514-CF3C5F430F55}" srcOrd="0" destOrd="0" presId="urn:microsoft.com/office/officeart/2017/3/layout/DropPinTimeline"/>
    <dgm:cxn modelId="{148CD854-EC72-4387-B460-FDD0945BDB39}" type="presParOf" srcId="{CCAC4482-CB1E-47B6-A628-78D23F7F481C}" destId="{5B992108-7BEF-47B0-BCA0-374DA2794280}" srcOrd="1" destOrd="0" presId="urn:microsoft.com/office/officeart/2017/3/layout/DropPinTimeline"/>
    <dgm:cxn modelId="{1547D637-F538-4B6D-A6F3-BE0CC5DF0E5C}" type="presParOf" srcId="{B8E329FB-87B5-4BEA-A184-1FF0C378F609}" destId="{5E9195F3-E508-4CEC-BA27-0B494212F71D}" srcOrd="2" destOrd="0" presId="urn:microsoft.com/office/officeart/2017/3/layout/DropPinTimeline"/>
    <dgm:cxn modelId="{5068148A-0ED1-431E-AA7F-A85702FCCBA2}" type="presParOf" srcId="{B8E329FB-87B5-4BEA-A184-1FF0C378F609}" destId="{B72B5116-9950-4EFC-84BF-4C14B4E6DA8D}" srcOrd="3" destOrd="0" presId="urn:microsoft.com/office/officeart/2017/3/layout/DropPinTimeline"/>
    <dgm:cxn modelId="{B228AD93-372C-43B0-B5C6-989D5E567043}" type="presParOf" srcId="{B8E329FB-87B5-4BEA-A184-1FF0C378F609}" destId="{0B311011-698C-4E35-8DCC-01DA8F2C60AB}" srcOrd="4" destOrd="0" presId="urn:microsoft.com/office/officeart/2017/3/layout/DropPinTimeline"/>
    <dgm:cxn modelId="{857D87CD-F1B7-4DA0-B4CD-A2FEF41B1348}" type="presParOf" srcId="{B8E329FB-87B5-4BEA-A184-1FF0C378F609}" destId="{0D2F16B7-7BAB-4447-AC77-DBE31F7C079E}" srcOrd="5" destOrd="0" presId="urn:microsoft.com/office/officeart/2017/3/layout/DropPinTimeline"/>
    <dgm:cxn modelId="{8CC1BDF2-518D-4D80-A6EF-A362BF320F93}" type="presParOf" srcId="{46A6B157-7198-41C4-9D25-C4F8885F1B6F}" destId="{322EF4B2-FC3F-4F4D-87A3-3127B542A407}" srcOrd="13" destOrd="0" presId="urn:microsoft.com/office/officeart/2017/3/layout/DropPinTimeline"/>
    <dgm:cxn modelId="{AC1C9561-BEB1-4D90-B441-A7BEB9503C9B}" type="presParOf" srcId="{46A6B157-7198-41C4-9D25-C4F8885F1B6F}" destId="{A1AE2BC4-A99C-4DD3-A84D-EB3461D18287}" srcOrd="14" destOrd="0" presId="urn:microsoft.com/office/officeart/2017/3/layout/DropPinTimeline"/>
    <dgm:cxn modelId="{D8525EDD-5A90-48A6-B40E-5AA72D833E07}" type="presParOf" srcId="{A1AE2BC4-A99C-4DD3-A84D-EB3461D18287}" destId="{278CF1E0-B1C4-4B10-A5EC-FD7EF0557E2D}" srcOrd="0" destOrd="0" presId="urn:microsoft.com/office/officeart/2017/3/layout/DropPinTimeline"/>
    <dgm:cxn modelId="{CA9E54CA-5D88-46DA-8297-2C48DED38BC3}" type="presParOf" srcId="{A1AE2BC4-A99C-4DD3-A84D-EB3461D18287}" destId="{27B65FB4-BE6A-41E6-BBE9-8DC9F7B73486}" srcOrd="1" destOrd="0" presId="urn:microsoft.com/office/officeart/2017/3/layout/DropPinTimeline"/>
    <dgm:cxn modelId="{6F817240-03AA-4781-B4BB-3F937A1E1F3E}" type="presParOf" srcId="{27B65FB4-BE6A-41E6-BBE9-8DC9F7B73486}" destId="{488CC4C6-DFBC-460C-A9ED-BEDA8CC682D4}" srcOrd="0" destOrd="0" presId="urn:microsoft.com/office/officeart/2017/3/layout/DropPinTimeline"/>
    <dgm:cxn modelId="{B90E3D05-F84F-4A9F-B10E-17C5BC06DACD}" type="presParOf" srcId="{27B65FB4-BE6A-41E6-BBE9-8DC9F7B73486}" destId="{48CA82DA-B677-461B-A08D-337683480059}" srcOrd="1" destOrd="0" presId="urn:microsoft.com/office/officeart/2017/3/layout/DropPinTimeline"/>
    <dgm:cxn modelId="{74633F96-6F8F-4356-907F-3CA04DAD6F85}" type="presParOf" srcId="{A1AE2BC4-A99C-4DD3-A84D-EB3461D18287}" destId="{D1646913-A3FA-4470-A3E9-C64B0A13A62A}" srcOrd="2" destOrd="0" presId="urn:microsoft.com/office/officeart/2017/3/layout/DropPinTimeline"/>
    <dgm:cxn modelId="{9FDB983D-FAE5-4D4B-B2EB-14275C0A0C47}" type="presParOf" srcId="{A1AE2BC4-A99C-4DD3-A84D-EB3461D18287}" destId="{6EC2FC68-E1B8-4274-8090-C2C96A4CD82C}" srcOrd="3" destOrd="0" presId="urn:microsoft.com/office/officeart/2017/3/layout/DropPinTimeline"/>
    <dgm:cxn modelId="{297404A2-AA98-44EE-BD4E-5157B44854F5}" type="presParOf" srcId="{A1AE2BC4-A99C-4DD3-A84D-EB3461D18287}" destId="{4F41BF23-550C-4E7F-977E-3D22E3AF7B51}" srcOrd="4" destOrd="0" presId="urn:microsoft.com/office/officeart/2017/3/layout/DropPinTimeline"/>
    <dgm:cxn modelId="{144BBCDD-9350-41AF-B2D7-1ACC855DC9D6}" type="presParOf" srcId="{A1AE2BC4-A99C-4DD3-A84D-EB3461D18287}" destId="{5018695D-CFD4-49F8-8967-BA8A0C0A0DE1}" srcOrd="5" destOrd="0" presId="urn:microsoft.com/office/officeart/2017/3/layout/DropPinTimeline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04284-1F7C-4D58-BC79-8C2DEE7E9FAF}">
      <dsp:nvSpPr>
        <dsp:cNvPr id="0" name=""/>
        <dsp:cNvSpPr/>
      </dsp:nvSpPr>
      <dsp:spPr>
        <a:xfrm>
          <a:off x="0" y="2476501"/>
          <a:ext cx="10939605" cy="428624"/>
        </a:xfrm>
        <a:prstGeom prst="homePlate">
          <a:avLst/>
        </a:prstGeom>
        <a:gradFill rotWithShape="0">
          <a:gsLst>
            <a:gs pos="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lin ang="1200000" scaled="0"/>
        </a:gradFill>
        <a:ln w="12700" cap="flat" cmpd="sng" algn="ctr">
          <a:noFill/>
          <a:prstDash val="solid"/>
          <a:miter lim="800000"/>
          <a:tailEnd type="arrow" w="sm" len="sm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EF924A-339B-436A-9151-9C7B0B0377B9}">
      <dsp:nvSpPr>
        <dsp:cNvPr id="0" name=""/>
        <dsp:cNvSpPr/>
      </dsp:nvSpPr>
      <dsp:spPr>
        <a:xfrm rot="8100000">
          <a:off x="81527" y="631253"/>
          <a:ext cx="373507" cy="373507"/>
        </a:xfrm>
        <a:prstGeom prst="teardrop">
          <a:avLst>
            <a:gd name="adj" fmla="val 115000"/>
          </a:avLst>
        </a:prstGeom>
        <a:solidFill>
          <a:srgbClr val="D69137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B4BA4-33F0-43CE-A60E-B95E195AD5A9}">
      <dsp:nvSpPr>
        <dsp:cNvPr id="0" name=""/>
        <dsp:cNvSpPr/>
      </dsp:nvSpPr>
      <dsp:spPr>
        <a:xfrm>
          <a:off x="123021" y="672747"/>
          <a:ext cx="290520" cy="290520"/>
        </a:xfrm>
        <a:prstGeom prst="donut">
          <a:avLst/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82CF5D-A585-4990-846A-5EDBD19A9BDB}">
      <dsp:nvSpPr>
        <dsp:cNvPr id="0" name=""/>
        <dsp:cNvSpPr/>
      </dsp:nvSpPr>
      <dsp:spPr>
        <a:xfrm>
          <a:off x="520779" y="1258107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openAI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API 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설정</a:t>
          </a:r>
          <a:endParaRPr lang="en-US" sz="120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원본 데이터 텍스트 파싱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sp:txBody>
      <dsp:txXfrm>
        <a:off x="520779" y="1258107"/>
        <a:ext cx="1909681" cy="1592961"/>
      </dsp:txXfrm>
    </dsp:sp>
    <dsp:sp modelId="{85C50C56-6DC8-4C47-8DBC-4FD6B1554AA4}">
      <dsp:nvSpPr>
        <dsp:cNvPr id="0" name=""/>
        <dsp:cNvSpPr/>
      </dsp:nvSpPr>
      <dsp:spPr>
        <a:xfrm>
          <a:off x="520779" y="698418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text_parsing.py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altLang="en-US" sz="105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텍스트 파싱</a:t>
          </a:r>
          <a:r>
            <a:rPr lang="en-US" altLang="ko-KR" sz="105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(VLM)</a:t>
          </a:r>
          <a:endParaRPr lang="en-US" sz="105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sp:txBody>
      <dsp:txXfrm>
        <a:off x="520779" y="698418"/>
        <a:ext cx="1909681" cy="559689"/>
      </dsp:txXfrm>
    </dsp:sp>
    <dsp:sp modelId="{4F322B1B-F357-4BCD-BF34-8A0D705A1CE7}">
      <dsp:nvSpPr>
        <dsp:cNvPr id="0" name=""/>
        <dsp:cNvSpPr/>
      </dsp:nvSpPr>
      <dsp:spPr>
        <a:xfrm>
          <a:off x="263083" y="1097851"/>
          <a:ext cx="0" cy="1592961"/>
        </a:xfrm>
        <a:prstGeom prst="line">
          <a:avLst/>
        </a:prstGeom>
        <a:noFill/>
        <a:ln w="3175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27168-E825-43C1-AF50-41E115F59C0C}">
      <dsp:nvSpPr>
        <dsp:cNvPr id="0" name=""/>
        <dsp:cNvSpPr/>
      </dsp:nvSpPr>
      <dsp:spPr>
        <a:xfrm>
          <a:off x="231278" y="2640440"/>
          <a:ext cx="95079" cy="100744"/>
        </a:xfrm>
        <a:prstGeom prst="ellipse">
          <a:avLst/>
        </a:prstGeom>
        <a:solidFill>
          <a:srgbClr val="D69137"/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095CA-CA5C-4692-9C1C-E6CDC80EF32D}">
      <dsp:nvSpPr>
        <dsp:cNvPr id="0" name=""/>
        <dsp:cNvSpPr/>
      </dsp:nvSpPr>
      <dsp:spPr>
        <a:xfrm rot="18900000">
          <a:off x="1294865" y="4376865"/>
          <a:ext cx="373507" cy="373507"/>
        </a:xfrm>
        <a:prstGeom prst="teardrop">
          <a:avLst>
            <a:gd name="adj" fmla="val 115000"/>
          </a:avLst>
        </a:prstGeom>
        <a:solidFill>
          <a:srgbClr val="D69137"/>
        </a:solidFill>
        <a:ln w="12700" cap="flat" cmpd="sng" algn="ctr">
          <a:solidFill>
            <a:srgbClr val="D69137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E48B9-26B7-4CC4-9BBD-765C85D2D3CE}">
      <dsp:nvSpPr>
        <dsp:cNvPr id="0" name=""/>
        <dsp:cNvSpPr/>
      </dsp:nvSpPr>
      <dsp:spPr>
        <a:xfrm>
          <a:off x="1336358" y="4418358"/>
          <a:ext cx="290520" cy="290520"/>
        </a:xfrm>
        <a:prstGeom prst="ellipse">
          <a:avLst/>
        </a:prstGeom>
        <a:solidFill>
          <a:srgbClr val="D69137">
            <a:alpha val="90000"/>
          </a:srgb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2CDCB7-8776-474C-9375-26F44419C279}">
      <dsp:nvSpPr>
        <dsp:cNvPr id="0" name=""/>
        <dsp:cNvSpPr/>
      </dsp:nvSpPr>
      <dsp:spPr>
        <a:xfrm>
          <a:off x="1666189" y="2731659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4775" rIns="0" bIns="6985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1. VLM </a:t>
          </a:r>
          <a:r>
            <a:rPr lang="ko-KR" alt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추출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테스트</a:t>
          </a:r>
          <a:endParaRPr lang="en-US" sz="11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2.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파싱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X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청킹X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임베딩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ko-KR" alt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모델 비교</a:t>
          </a:r>
          <a:endParaRPr lang="en-US" altLang="ko-KR" sz="11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3. 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검색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파라미터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최적화</a:t>
          </a:r>
          <a:r>
            <a:rPr lang="en-US" sz="11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테스</a:t>
          </a:r>
          <a:r>
            <a:rPr lang="ko-KR" altLang="en-US" sz="11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트</a:t>
          </a:r>
          <a:endParaRPr lang="en-US" sz="11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sp:txBody>
      <dsp:txXfrm>
        <a:off x="1666189" y="2731659"/>
        <a:ext cx="1909681" cy="1592961"/>
      </dsp:txXfrm>
    </dsp:sp>
    <dsp:sp modelId="{F98C2007-9DFC-422D-964E-B67973EB8F13}">
      <dsp:nvSpPr>
        <dsp:cNvPr id="0" name=""/>
        <dsp:cNvSpPr/>
      </dsp:nvSpPr>
      <dsp:spPr>
        <a:xfrm>
          <a:off x="1666189" y="4324620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altLang="en-US" sz="1600" b="1" kern="1200" dirty="0" err="1">
              <a:solidFill>
                <a:schemeClr val="bg1"/>
              </a:solidFill>
              <a:latin typeface="Pretendard"/>
              <a:ea typeface="Pretendard"/>
              <a:cs typeface="+mn-cs"/>
            </a:rPr>
            <a:t>전처리</a:t>
          </a:r>
          <a:r>
            <a:rPr lang="ko-KR" alt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 테스트 진행</a:t>
          </a:r>
          <a:endParaRPr lang="en-US" sz="160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sp:txBody>
      <dsp:txXfrm>
        <a:off x="1666189" y="4324620"/>
        <a:ext cx="1909681" cy="559689"/>
      </dsp:txXfrm>
    </dsp:sp>
    <dsp:sp modelId="{666B3EEF-94B4-4079-8D9B-D73F422B9435}">
      <dsp:nvSpPr>
        <dsp:cNvPr id="0" name=""/>
        <dsp:cNvSpPr/>
      </dsp:nvSpPr>
      <dsp:spPr>
        <a:xfrm>
          <a:off x="1481618" y="2690813"/>
          <a:ext cx="0" cy="1592961"/>
        </a:xfrm>
        <a:prstGeom prst="line">
          <a:avLst/>
        </a:prstGeom>
        <a:noFill/>
        <a:ln w="12700" cap="flat" cmpd="sng" algn="ctr">
          <a:solidFill>
            <a:srgbClr val="D69137"/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C78AD1-8FC4-438D-911C-4885CE4DCCC5}">
      <dsp:nvSpPr>
        <dsp:cNvPr id="0" name=""/>
        <dsp:cNvSpPr/>
      </dsp:nvSpPr>
      <dsp:spPr>
        <a:xfrm>
          <a:off x="1449814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D379E-2EDB-4033-8B65-A8D255EB89B4}">
      <dsp:nvSpPr>
        <dsp:cNvPr id="0" name=""/>
        <dsp:cNvSpPr/>
      </dsp:nvSpPr>
      <dsp:spPr>
        <a:xfrm rot="8100000">
          <a:off x="2508202" y="631253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22501-95A3-43D4-B70E-4D601D523086}">
      <dsp:nvSpPr>
        <dsp:cNvPr id="0" name=""/>
        <dsp:cNvSpPr/>
      </dsp:nvSpPr>
      <dsp:spPr>
        <a:xfrm>
          <a:off x="2549695" y="672747"/>
          <a:ext cx="290520" cy="29052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FBAF4-DB3D-413B-9DCB-0D9C5D29A3E3}">
      <dsp:nvSpPr>
        <dsp:cNvPr id="0" name=""/>
        <dsp:cNvSpPr/>
      </dsp:nvSpPr>
      <dsp:spPr>
        <a:xfrm>
          <a:off x="2959065" y="1097851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data_list.csv 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헤더 포함 </a:t>
          </a:r>
          <a:r>
            <a:rPr lang="ko-KR" altLang="en-US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청킹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메타 데이터 추출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벡터 </a:t>
          </a:r>
          <a:r>
            <a:rPr lang="en-US" altLang="ko-KR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ChromaDB</a:t>
          </a:r>
          <a:endParaRPr lang="ko-KR" alt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sp:txBody>
      <dsp:txXfrm>
        <a:off x="2959065" y="1097851"/>
        <a:ext cx="1909681" cy="1592961"/>
      </dsp:txXfrm>
    </dsp:sp>
    <dsp:sp modelId="{E56E0CF4-6352-424F-B476-0D1E34E35AD2}">
      <dsp:nvSpPr>
        <dsp:cNvPr id="0" name=""/>
        <dsp:cNvSpPr/>
      </dsp:nvSpPr>
      <dsp:spPr>
        <a:xfrm>
          <a:off x="2959065" y="538162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create_vectordb.py</a:t>
          </a:r>
          <a:br>
            <a:rPr lang="en-US" sz="1050" kern="1200" dirty="0">
              <a:solidFill>
                <a:schemeClr val="bg1"/>
              </a:solidFill>
            </a:rPr>
          </a:br>
          <a:r>
            <a:rPr lang="ko-KR" altLang="en-US" sz="1050" kern="1200" dirty="0">
              <a:solidFill>
                <a:schemeClr val="bg1"/>
              </a:solidFill>
            </a:rPr>
            <a:t>텍스트 </a:t>
          </a:r>
          <a:r>
            <a:rPr lang="ko-KR" altLang="en-US" sz="1050" kern="1200" dirty="0" err="1">
              <a:solidFill>
                <a:schemeClr val="bg1"/>
              </a:solidFill>
            </a:rPr>
            <a:t>청킹</a:t>
          </a:r>
          <a:r>
            <a:rPr lang="ko-KR" altLang="en-US" sz="1050" kern="1200" dirty="0">
              <a:solidFill>
                <a:schemeClr val="bg1"/>
              </a:solidFill>
            </a:rPr>
            <a:t> 벡터 </a:t>
          </a:r>
          <a:r>
            <a:rPr lang="en-US" altLang="ko-KR" sz="1050" kern="1200" dirty="0">
              <a:solidFill>
                <a:schemeClr val="bg1"/>
              </a:solidFill>
            </a:rPr>
            <a:t>DB </a:t>
          </a:r>
          <a:r>
            <a:rPr lang="ko-KR" altLang="en-US" sz="1050" kern="1200" dirty="0">
              <a:solidFill>
                <a:schemeClr val="bg1"/>
              </a:solidFill>
            </a:rPr>
            <a:t>생성</a:t>
          </a:r>
          <a:endParaRPr lang="en-US" sz="105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sp:txBody>
      <dsp:txXfrm>
        <a:off x="2959065" y="538162"/>
        <a:ext cx="1909681" cy="559689"/>
      </dsp:txXfrm>
    </dsp:sp>
    <dsp:sp modelId="{27582445-9D8E-427F-BA92-98CA94E41E73}">
      <dsp:nvSpPr>
        <dsp:cNvPr id="0" name=""/>
        <dsp:cNvSpPr/>
      </dsp:nvSpPr>
      <dsp:spPr>
        <a:xfrm>
          <a:off x="2694955" y="1097851"/>
          <a:ext cx="0" cy="159296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B9A7F6-A136-4785-B643-99C27376BA97}">
      <dsp:nvSpPr>
        <dsp:cNvPr id="0" name=""/>
        <dsp:cNvSpPr/>
      </dsp:nvSpPr>
      <dsp:spPr>
        <a:xfrm>
          <a:off x="2663151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632EA-1574-417A-A3FA-D711159FBAD1}">
      <dsp:nvSpPr>
        <dsp:cNvPr id="0" name=""/>
        <dsp:cNvSpPr/>
      </dsp:nvSpPr>
      <dsp:spPr>
        <a:xfrm rot="18900000">
          <a:off x="3721539" y="4376865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2E0966-F86B-4BBD-BE80-8FAB861AF0E8}">
      <dsp:nvSpPr>
        <dsp:cNvPr id="0" name=""/>
        <dsp:cNvSpPr/>
      </dsp:nvSpPr>
      <dsp:spPr>
        <a:xfrm>
          <a:off x="3763033" y="4418358"/>
          <a:ext cx="290520" cy="290520"/>
        </a:xfrm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08C5A1-CE9E-4410-9F2F-F714CC6AB069}">
      <dsp:nvSpPr>
        <dsp:cNvPr id="0" name=""/>
        <dsp:cNvSpPr/>
      </dsp:nvSpPr>
      <dsp:spPr>
        <a:xfrm>
          <a:off x="4172402" y="2690813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질문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/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답변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/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피드백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SQLite 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저장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sp:txBody>
      <dsp:txXfrm>
        <a:off x="4172402" y="2690813"/>
        <a:ext cx="1909681" cy="1592961"/>
      </dsp:txXfrm>
    </dsp:sp>
    <dsp:sp modelId="{C1E34084-406C-48D5-88FE-7226282DBC49}">
      <dsp:nvSpPr>
        <dsp:cNvPr id="0" name=""/>
        <dsp:cNvSpPr/>
      </dsp:nvSpPr>
      <dsp:spPr>
        <a:xfrm>
          <a:off x="4172402" y="4283774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>
              <a:solidFill>
                <a:schemeClr val="bg1"/>
              </a:solidFill>
            </a:rPr>
            <a:t>memory_store.py</a:t>
          </a:r>
          <a:br>
            <a:rPr lang="en-US" sz="1600" kern="1200" dirty="0">
              <a:solidFill>
                <a:schemeClr val="bg1"/>
              </a:solidFill>
            </a:rPr>
          </a:br>
          <a:r>
            <a:rPr lang="en-US" sz="105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SQLite </a:t>
          </a:r>
          <a:r>
            <a:rPr lang="ko-KR" altLang="en-US" sz="105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기반 대화 이력 저장소</a:t>
          </a:r>
          <a:endParaRPr lang="en-US" sz="105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sp:txBody>
      <dsp:txXfrm>
        <a:off x="4172402" y="4283774"/>
        <a:ext cx="1909681" cy="559689"/>
      </dsp:txXfrm>
    </dsp:sp>
    <dsp:sp modelId="{33168228-1414-4AAF-B7E5-C08A80BBB2F1}">
      <dsp:nvSpPr>
        <dsp:cNvPr id="0" name=""/>
        <dsp:cNvSpPr/>
      </dsp:nvSpPr>
      <dsp:spPr>
        <a:xfrm>
          <a:off x="3908293" y="2690813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996C3-16BE-4CEB-B9E2-6FFC42938F41}">
      <dsp:nvSpPr>
        <dsp:cNvPr id="0" name=""/>
        <dsp:cNvSpPr/>
      </dsp:nvSpPr>
      <dsp:spPr>
        <a:xfrm>
          <a:off x="3876488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CB300-D8DE-49A8-8209-F26CDC1A14C8}">
      <dsp:nvSpPr>
        <dsp:cNvPr id="0" name=""/>
        <dsp:cNvSpPr/>
      </dsp:nvSpPr>
      <dsp:spPr>
        <a:xfrm rot="8100000">
          <a:off x="4946925" y="627274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6830F-ED3A-41BE-B038-0FA943CE40EB}">
      <dsp:nvSpPr>
        <dsp:cNvPr id="0" name=""/>
        <dsp:cNvSpPr/>
      </dsp:nvSpPr>
      <dsp:spPr>
        <a:xfrm>
          <a:off x="4988419" y="668767"/>
          <a:ext cx="290520" cy="290520"/>
        </a:xfrm>
        <a:prstGeom prst="ellipse">
          <a:avLst/>
        </a:prstGeom>
        <a:solidFill>
          <a:schemeClr val="bg1">
            <a:alpha val="9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7779D7-7A45-49C7-8E93-11053979418A}">
      <dsp:nvSpPr>
        <dsp:cNvPr id="0" name=""/>
        <dsp:cNvSpPr/>
      </dsp:nvSpPr>
      <dsp:spPr>
        <a:xfrm>
          <a:off x="5385739" y="1097851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문장 단위 </a:t>
          </a:r>
          <a:r>
            <a:rPr lang="en-US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TTS 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합성</a:t>
          </a:r>
          <a:r>
            <a:rPr lang="en-US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/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재생을 큐로 처리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문장별 합성을 하나의 파일로 누적 저장</a:t>
          </a:r>
          <a:endParaRPr 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sp:txBody>
      <dsp:txXfrm>
        <a:off x="5385739" y="1097851"/>
        <a:ext cx="1909681" cy="1592961"/>
      </dsp:txXfrm>
    </dsp:sp>
    <dsp:sp modelId="{6570CB9E-A14F-4285-89D6-9115D6E77C46}">
      <dsp:nvSpPr>
        <dsp:cNvPr id="0" name=""/>
        <dsp:cNvSpPr/>
      </dsp:nvSpPr>
      <dsp:spPr>
        <a:xfrm>
          <a:off x="5385739" y="538162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>
              <a:solidFill>
                <a:schemeClr val="bg1"/>
              </a:solidFill>
            </a:rPr>
            <a:t>tts_worker.py</a:t>
          </a:r>
          <a:br>
            <a:rPr lang="en-US" sz="1600" kern="1200" dirty="0">
              <a:solidFill>
                <a:schemeClr val="bg1"/>
              </a:solidFill>
            </a:rPr>
          </a:br>
          <a:r>
            <a:rPr lang="ko-KR" alt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비동기</a:t>
          </a:r>
          <a:r>
            <a:rPr 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 </a:t>
          </a:r>
          <a:r>
            <a:rPr lang="ko-KR" alt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음성 합성 관리</a:t>
          </a:r>
          <a:endParaRPr lang="en-US" sz="110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sp:txBody>
      <dsp:txXfrm>
        <a:off x="5385739" y="538162"/>
        <a:ext cx="1909681" cy="559689"/>
      </dsp:txXfrm>
    </dsp:sp>
    <dsp:sp modelId="{5E4F099D-8030-4C88-A999-CF3EABE9B550}">
      <dsp:nvSpPr>
        <dsp:cNvPr id="0" name=""/>
        <dsp:cNvSpPr/>
      </dsp:nvSpPr>
      <dsp:spPr>
        <a:xfrm>
          <a:off x="5121630" y="1097851"/>
          <a:ext cx="0" cy="1592961"/>
        </a:xfrm>
        <a:prstGeom prst="line">
          <a:avLst/>
        </a:prstGeom>
        <a:noFill/>
        <a:ln w="6350" cap="flat" cmpd="sng" algn="ctr">
          <a:solidFill>
            <a:srgbClr val="D9D9D9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B891F7-CC81-4B6C-AC1E-BF506EC02C82}">
      <dsp:nvSpPr>
        <dsp:cNvPr id="0" name=""/>
        <dsp:cNvSpPr/>
      </dsp:nvSpPr>
      <dsp:spPr>
        <a:xfrm>
          <a:off x="5089826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BECBF-E3AA-450B-95D4-8349AA21B4F8}">
      <dsp:nvSpPr>
        <dsp:cNvPr id="0" name=""/>
        <dsp:cNvSpPr/>
      </dsp:nvSpPr>
      <dsp:spPr>
        <a:xfrm rot="18900000">
          <a:off x="6148214" y="4386391"/>
          <a:ext cx="373507" cy="373507"/>
        </a:xfrm>
        <a:prstGeom prst="teardrop">
          <a:avLst>
            <a:gd name="adj" fmla="val 115000"/>
          </a:avLst>
        </a:prstGeom>
        <a:solidFill>
          <a:srgbClr val="D69137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DD44C-F5E4-49AD-B1D9-346B8B8AEE8F}">
      <dsp:nvSpPr>
        <dsp:cNvPr id="0" name=""/>
        <dsp:cNvSpPr/>
      </dsp:nvSpPr>
      <dsp:spPr>
        <a:xfrm>
          <a:off x="6189707" y="4427884"/>
          <a:ext cx="290520" cy="290520"/>
        </a:xfrm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4261-183D-47F9-8E7E-BCFC5023A815}">
      <dsp:nvSpPr>
        <dsp:cNvPr id="0" name=""/>
        <dsp:cNvSpPr/>
      </dsp:nvSpPr>
      <dsp:spPr>
        <a:xfrm>
          <a:off x="6599077" y="2690813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A. Dense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B. Dense + </a:t>
          </a:r>
          <a:r>
            <a:rPr lang="en-US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Reranker</a:t>
          </a:r>
          <a:endParaRPr 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C. Hybrid</a:t>
          </a:r>
        </a:p>
      </dsp:txBody>
      <dsp:txXfrm>
        <a:off x="6599077" y="2690813"/>
        <a:ext cx="1909681" cy="1592961"/>
      </dsp:txXfrm>
    </dsp:sp>
    <dsp:sp modelId="{3DA36ABE-9810-4ED4-9A55-2905E7588D06}">
      <dsp:nvSpPr>
        <dsp:cNvPr id="0" name=""/>
        <dsp:cNvSpPr/>
      </dsp:nvSpPr>
      <dsp:spPr>
        <a:xfrm>
          <a:off x="6599077" y="4283774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RAG </a:t>
          </a:r>
          <a:r>
            <a:rPr lang="ko-KR" alt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테스트 진행</a:t>
          </a:r>
          <a:endParaRPr lang="en-US" sz="160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sp:txBody>
      <dsp:txXfrm>
        <a:off x="6599077" y="4283774"/>
        <a:ext cx="1909681" cy="559689"/>
      </dsp:txXfrm>
    </dsp:sp>
    <dsp:sp modelId="{4B9F5909-A57C-4893-9C8A-D5960FE9BE37}">
      <dsp:nvSpPr>
        <dsp:cNvPr id="0" name=""/>
        <dsp:cNvSpPr/>
      </dsp:nvSpPr>
      <dsp:spPr>
        <a:xfrm>
          <a:off x="6319093" y="2690813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91B168-1DA5-4124-931F-A51FCB8EFC11}">
      <dsp:nvSpPr>
        <dsp:cNvPr id="0" name=""/>
        <dsp:cNvSpPr/>
      </dsp:nvSpPr>
      <dsp:spPr>
        <a:xfrm>
          <a:off x="6287289" y="2640440"/>
          <a:ext cx="95079" cy="100744"/>
        </a:xfrm>
        <a:prstGeom prst="ellipse">
          <a:avLst/>
        </a:prstGeom>
        <a:solidFill>
          <a:srgbClr val="D69137"/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931E9-C498-40F4-B514-CF3C5F430F55}">
      <dsp:nvSpPr>
        <dsp:cNvPr id="0" name=""/>
        <dsp:cNvSpPr/>
      </dsp:nvSpPr>
      <dsp:spPr>
        <a:xfrm rot="8100000">
          <a:off x="7361551" y="631253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92108-7BEF-47B0-BCA0-374DA2794280}">
      <dsp:nvSpPr>
        <dsp:cNvPr id="0" name=""/>
        <dsp:cNvSpPr/>
      </dsp:nvSpPr>
      <dsp:spPr>
        <a:xfrm>
          <a:off x="7403044" y="672747"/>
          <a:ext cx="290520" cy="290520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195F3-E508-4CEC-BA27-0B494212F71D}">
      <dsp:nvSpPr>
        <dsp:cNvPr id="0" name=""/>
        <dsp:cNvSpPr/>
      </dsp:nvSpPr>
      <dsp:spPr>
        <a:xfrm>
          <a:off x="7812414" y="1097851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하이브리드 </a:t>
          </a:r>
          <a:r>
            <a:rPr lang="ko-KR" altLang="en-US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리트리버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LLM &amp; </a:t>
          </a:r>
          <a:r>
            <a:rPr lang="ko-KR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프롬프트 설정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체인 조립 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(LCEL </a:t>
          </a:r>
          <a:r>
            <a:rPr lang="ko-KR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방식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)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TTS </a:t>
          </a:r>
          <a:r>
            <a:rPr lang="ko-KR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보조 함수</a:t>
          </a:r>
          <a:endParaRPr lang="en-US" altLang="ko-KR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sp:txBody>
      <dsp:txXfrm>
        <a:off x="7812414" y="1097851"/>
        <a:ext cx="1909681" cy="1592961"/>
      </dsp:txXfrm>
    </dsp:sp>
    <dsp:sp modelId="{B72B5116-9950-4EFC-84BF-4C14B4E6DA8D}">
      <dsp:nvSpPr>
        <dsp:cNvPr id="0" name=""/>
        <dsp:cNvSpPr/>
      </dsp:nvSpPr>
      <dsp:spPr>
        <a:xfrm>
          <a:off x="7812414" y="538162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rag_system.py</a:t>
          </a:r>
          <a:br>
            <a:rPr lang="en-US" sz="1300" kern="1200" dirty="0">
              <a:solidFill>
                <a:schemeClr val="bg1"/>
              </a:solidFill>
            </a:rPr>
          </a:br>
          <a:r>
            <a:rPr 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MMR </a:t>
          </a:r>
          <a:r>
            <a:rPr lang="ko-KR" altLang="en-US" sz="11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검색 전략</a:t>
          </a:r>
          <a:endParaRPr lang="en-US" sz="1100" b="1" kern="1200" dirty="0">
            <a:solidFill>
              <a:schemeClr val="bg1"/>
            </a:solidFill>
            <a:latin typeface="Pretendard"/>
            <a:ea typeface="Pretendard"/>
            <a:cs typeface="+mn-cs"/>
          </a:endParaRPr>
        </a:p>
      </dsp:txBody>
      <dsp:txXfrm>
        <a:off x="7812414" y="538162"/>
        <a:ext cx="1909681" cy="559689"/>
      </dsp:txXfrm>
    </dsp:sp>
    <dsp:sp modelId="{0B311011-698C-4E35-8DCC-01DA8F2C60AB}">
      <dsp:nvSpPr>
        <dsp:cNvPr id="0" name=""/>
        <dsp:cNvSpPr/>
      </dsp:nvSpPr>
      <dsp:spPr>
        <a:xfrm>
          <a:off x="7548305" y="1097851"/>
          <a:ext cx="0" cy="1592961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7DB76C-A09B-4253-B11B-02223DEA351B}">
      <dsp:nvSpPr>
        <dsp:cNvPr id="0" name=""/>
        <dsp:cNvSpPr/>
      </dsp:nvSpPr>
      <dsp:spPr>
        <a:xfrm>
          <a:off x="7516500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8CC4C6-DFBC-460C-A9ED-BEDA8CC682D4}">
      <dsp:nvSpPr>
        <dsp:cNvPr id="0" name=""/>
        <dsp:cNvSpPr/>
      </dsp:nvSpPr>
      <dsp:spPr>
        <a:xfrm rot="18900000">
          <a:off x="8584317" y="4376865"/>
          <a:ext cx="373507" cy="373507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A82DA-B677-461B-A08D-337683480059}">
      <dsp:nvSpPr>
        <dsp:cNvPr id="0" name=""/>
        <dsp:cNvSpPr/>
      </dsp:nvSpPr>
      <dsp:spPr>
        <a:xfrm>
          <a:off x="8625810" y="4418358"/>
          <a:ext cx="290520" cy="290520"/>
        </a:xfrm>
        <a:prstGeom prst="donut">
          <a:avLst/>
        </a:prstGeom>
        <a:solidFill>
          <a:schemeClr val="lt1">
            <a:hueOff val="0"/>
            <a:satOff val="0"/>
            <a:lum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646913-A3FA-4470-A3E9-C64B0A13A62A}">
      <dsp:nvSpPr>
        <dsp:cNvPr id="0" name=""/>
        <dsp:cNvSpPr/>
      </dsp:nvSpPr>
      <dsp:spPr>
        <a:xfrm>
          <a:off x="8992809" y="2566987"/>
          <a:ext cx="1909681" cy="159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Chatbot </a:t>
          </a:r>
          <a:r>
            <a:rPr lang="ko-KR" altLang="en-US" sz="1200" b="0" i="0" kern="1200" dirty="0" err="1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입찰메이트</a:t>
          </a: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 </a:t>
          </a:r>
          <a:r>
            <a:rPr lang="en-US" altLang="ko-KR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AI</a:t>
          </a:r>
          <a:endParaRPr 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TTS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0" i="0" kern="12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+mn-cs"/>
            </a:rPr>
            <a:t>피드백</a:t>
          </a:r>
          <a:endParaRPr lang="en-US" sz="1200" b="0" i="0" kern="1200" dirty="0">
            <a:solidFill>
              <a:schemeClr val="bg1"/>
            </a:solidFill>
            <a:latin typeface="Noto Sans KR Medium" panose="020B0200000000000000" pitchFamily="50" charset="-127"/>
            <a:ea typeface="Noto Sans KR Medium" panose="020B0200000000000000" pitchFamily="50" charset="-127"/>
            <a:cs typeface="+mn-cs"/>
          </a:endParaRPr>
        </a:p>
      </dsp:txBody>
      <dsp:txXfrm>
        <a:off x="8992809" y="2566987"/>
        <a:ext cx="1909681" cy="1592961"/>
      </dsp:txXfrm>
    </dsp:sp>
    <dsp:sp modelId="{6EC2FC68-E1B8-4274-8090-C2C96A4CD82C}">
      <dsp:nvSpPr>
        <dsp:cNvPr id="0" name=""/>
        <dsp:cNvSpPr/>
      </dsp:nvSpPr>
      <dsp:spPr>
        <a:xfrm>
          <a:off x="8992809" y="4159948"/>
          <a:ext cx="1909681" cy="5596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0160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 dirty="0">
              <a:solidFill>
                <a:schemeClr val="bg1"/>
              </a:solidFill>
              <a:latin typeface="Pretendard"/>
              <a:ea typeface="Pretendard"/>
              <a:cs typeface="+mn-cs"/>
            </a:rPr>
            <a:t>app.py</a:t>
          </a:r>
          <a:br>
            <a:rPr lang="en-US" sz="1100" kern="1200" dirty="0">
              <a:solidFill>
                <a:schemeClr val="bg1"/>
              </a:solidFill>
            </a:rPr>
          </a:br>
          <a:r>
            <a:rPr lang="en-US" sz="1100" kern="1200" dirty="0" err="1">
              <a:solidFill>
                <a:schemeClr val="bg1"/>
              </a:solidFill>
            </a:rPr>
            <a:t>streamit</a:t>
          </a:r>
          <a:r>
            <a:rPr lang="en-US" sz="1100" kern="1200" dirty="0">
              <a:solidFill>
                <a:schemeClr val="bg1"/>
              </a:solidFill>
            </a:rPr>
            <a:t> </a:t>
          </a:r>
          <a:r>
            <a:rPr lang="ko-KR" altLang="en-US" sz="1100" kern="1200" dirty="0">
              <a:solidFill>
                <a:schemeClr val="bg1"/>
              </a:solidFill>
            </a:rPr>
            <a:t>실행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8992809" y="4159948"/>
        <a:ext cx="1909681" cy="559689"/>
      </dsp:txXfrm>
    </dsp:sp>
    <dsp:sp modelId="{4F41BF23-550C-4E7F-977E-3D22E3AF7B51}">
      <dsp:nvSpPr>
        <dsp:cNvPr id="0" name=""/>
        <dsp:cNvSpPr/>
      </dsp:nvSpPr>
      <dsp:spPr>
        <a:xfrm>
          <a:off x="8761642" y="2690813"/>
          <a:ext cx="0" cy="1592961"/>
        </a:xfrm>
        <a:prstGeom prst="line">
          <a:avLst/>
        </a:prstGeom>
        <a:noFill/>
        <a:ln w="3175" cap="flat" cmpd="sng" algn="ctr">
          <a:solidFill>
            <a:prstClr val="white">
              <a:lumMod val="85000"/>
            </a:prst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8CF1E0-B1C4-4B10-A5EC-FD7EF0557E2D}">
      <dsp:nvSpPr>
        <dsp:cNvPr id="0" name=""/>
        <dsp:cNvSpPr/>
      </dsp:nvSpPr>
      <dsp:spPr>
        <a:xfrm>
          <a:off x="8729837" y="2640440"/>
          <a:ext cx="95079" cy="10074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B57A8-8453-4BB9-B8EE-036AF1BBF5E1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B3D90-53BB-4745-87F0-BA48058089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793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2861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목차로는 프로젝트 목적</a:t>
            </a:r>
            <a:r>
              <a:rPr lang="en-US" altLang="ko-KR" dirty="0"/>
              <a:t>, </a:t>
            </a:r>
            <a:r>
              <a:rPr lang="ko-KR" altLang="en-US" dirty="0"/>
              <a:t>파이프 라인</a:t>
            </a:r>
            <a:r>
              <a:rPr lang="en-US" altLang="ko-KR" dirty="0"/>
              <a:t>, </a:t>
            </a:r>
            <a:r>
              <a:rPr lang="ko-KR" altLang="en-US" dirty="0"/>
              <a:t>테스트 결과 </a:t>
            </a:r>
            <a:r>
              <a:rPr lang="en-US" altLang="ko-KR" dirty="0"/>
              <a:t>, RAG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TTS,</a:t>
            </a:r>
            <a:r>
              <a:rPr lang="ko-KR" altLang="en-US" dirty="0"/>
              <a:t> </a:t>
            </a:r>
            <a:r>
              <a:rPr lang="en-US" altLang="ko-KR" dirty="0"/>
              <a:t>SQLite</a:t>
            </a:r>
            <a:r>
              <a:rPr lang="ko-KR" altLang="en-US" dirty="0"/>
              <a:t> </a:t>
            </a:r>
            <a:r>
              <a:rPr lang="en-US" altLang="ko-KR" dirty="0"/>
              <a:t>,</a:t>
            </a:r>
            <a:r>
              <a:rPr lang="ko-KR" altLang="en-US" dirty="0"/>
              <a:t> 결과 및 기대효과까지 총 </a:t>
            </a:r>
            <a:r>
              <a:rPr lang="en-US" altLang="ko-KR" dirty="0"/>
              <a:t>7</a:t>
            </a:r>
            <a:r>
              <a:rPr lang="ko-KR" altLang="en-US" dirty="0"/>
              <a:t>챕터로 </a:t>
            </a:r>
            <a:r>
              <a:rPr lang="ko-KR" altLang="en-US" dirty="0" err="1"/>
              <a:t>나눠져있습니다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674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프로젝트 개발 배경 및 목적입니다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저희는 복잡한 기업</a:t>
            </a:r>
            <a:r>
              <a:rPr lang="en-US" altLang="ko-KR" dirty="0"/>
              <a:t>/</a:t>
            </a:r>
            <a:r>
              <a:rPr lang="ko-KR" altLang="en-US" dirty="0"/>
              <a:t>정부 제안요청서 </a:t>
            </a:r>
            <a:r>
              <a:rPr lang="en-US" altLang="ko-KR" dirty="0"/>
              <a:t>RFP </a:t>
            </a:r>
            <a:r>
              <a:rPr lang="ko-KR" altLang="en-US" dirty="0"/>
              <a:t>분석의 어려움으로 인해</a:t>
            </a:r>
            <a:endParaRPr lang="en-US" altLang="ko-KR" dirty="0"/>
          </a:p>
          <a:p>
            <a:r>
              <a:rPr lang="ko-KR" altLang="en-US" dirty="0"/>
              <a:t>접근성을 극대화한 </a:t>
            </a:r>
            <a:r>
              <a:rPr lang="ko-KR" altLang="en-US" dirty="0" err="1"/>
              <a:t>입찰메이트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를 구현하였습니다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핵심 </a:t>
            </a:r>
            <a:r>
              <a:rPr lang="ko-KR" altLang="en-US" dirty="0" err="1"/>
              <a:t>솔류션으로는</a:t>
            </a:r>
            <a:r>
              <a:rPr lang="ko-KR" altLang="en-US" dirty="0"/>
              <a:t> 직관적인 접근성으로 자연어 대화만으로 쉽게 </a:t>
            </a:r>
            <a:r>
              <a:rPr lang="en-US" altLang="ko-KR" dirty="0"/>
              <a:t>RFP </a:t>
            </a:r>
            <a:r>
              <a:rPr lang="ko-KR" altLang="en-US" dirty="0"/>
              <a:t>정보를 탐색할 수 있으며</a:t>
            </a:r>
            <a:endParaRPr lang="en-US" altLang="ko-KR" dirty="0"/>
          </a:p>
          <a:p>
            <a:r>
              <a:rPr lang="ko-KR" altLang="en-US" dirty="0"/>
              <a:t>핵심 정보를 파악하여 문맥과 수치적 정보를 확보할 수 있습니다</a:t>
            </a:r>
            <a:endParaRPr lang="en-US" altLang="ko-KR" dirty="0"/>
          </a:p>
          <a:p>
            <a:r>
              <a:rPr lang="ko-KR" altLang="en-US" dirty="0"/>
              <a:t>또한 사용성 개선으로 실시간 음성 합성 기술을 통해 시각적 피로도 해소 및 멀티 </a:t>
            </a:r>
            <a:r>
              <a:rPr lang="ko-KR" altLang="en-US" dirty="0" err="1"/>
              <a:t>태스킹을</a:t>
            </a:r>
            <a:r>
              <a:rPr lang="ko-KR" altLang="en-US" dirty="0"/>
              <a:t> 지원합니다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프로젝트 목표로는 </a:t>
            </a:r>
            <a:r>
              <a:rPr lang="en-US" altLang="ko-KR" dirty="0"/>
              <a:t>RFP </a:t>
            </a:r>
            <a:r>
              <a:rPr lang="ko-KR" altLang="en-US" dirty="0"/>
              <a:t>분석 시간 단축 및 업무 효율성을 증가하는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33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텍스트 파싱 과정부터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저희가 처음 제공받은 데이터는 한글 파일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96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PDF 4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건으로 총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건이었습니다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전체 문서를 단일 포맷으로 통일하기 위해 모두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변환하였습니다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파일로 텍스트를 추출하여 벡터화를 진행했는데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부분이 손실되거나 표가 일반 텍스트로 나열되면서 정보가 왜곡되는 문제가 발생했습니다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표와 그림도 의미를 유지한 채 추출하기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txt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아닌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md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파일로 변환하고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VLM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활용하여 해당 페이지 위치에 맞게 표를 삽입해주었습니다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아래 사진처럼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(&lt;!-- page: 1 --&gt;)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형식으로 페이지를 먼저 구분하고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해당 페이지 아래에 표를 추가 삽입하였습니다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표에 해당하는 왜곡된 부분을 제거할 수도 있었지만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제거 과정에서 정보 손실이 발생할 가능성이 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중복이 있더라도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판단하는 데 큰 지장은 없을 것으로 판단하여 제거 없이 추가 삽입하는 방식을 채택했습니다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(&lt;!-- tables: start page 1 --&gt;)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형식으로 표의 시작과 끝을 명시하여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청킹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과정에서 표가 잘리지 않도록 설계했습니다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369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첫 번째 테스트인 파싱 비교 테스트를 보여드리겠습니다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758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표에 있는 내용에 대해 질문해보았습니다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텍스트만 추출한 경우에는 전화번호는 찾아내지만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소속 정보가 왜곡되는 문제가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VLM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기반으로 표와 그림까지 추출한 경우 정확한 정보를 답변하는 것을 확인할 수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파싱 단계에서의 구조 보존이 이후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품질에도 중요한 요소임을 확인할 수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79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테스트 과정에서는 </a:t>
            </a:r>
            <a:r>
              <a:rPr lang="ko-KR" altLang="en-US" dirty="0" err="1"/>
              <a:t>청킹과</a:t>
            </a:r>
            <a:r>
              <a:rPr lang="ko-KR" altLang="en-US" dirty="0"/>
              <a:t> </a:t>
            </a:r>
            <a:r>
              <a:rPr lang="ko-KR" altLang="en-US" dirty="0" err="1"/>
              <a:t>임베딩</a:t>
            </a:r>
            <a:r>
              <a:rPr lang="ko-KR" altLang="en-US" dirty="0"/>
              <a:t> 부분입니다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팀원별로 </a:t>
            </a:r>
            <a:r>
              <a:rPr lang="ko-KR" altLang="en-US" dirty="0" err="1"/>
              <a:t>청킹방법을</a:t>
            </a:r>
            <a:r>
              <a:rPr lang="ko-KR" altLang="en-US" dirty="0"/>
              <a:t> 모아서 </a:t>
            </a:r>
            <a:r>
              <a:rPr lang="en-US" altLang="ko-KR" dirty="0"/>
              <a:t>VLM </a:t>
            </a:r>
            <a:r>
              <a:rPr lang="ko-KR" altLang="en-US" dirty="0"/>
              <a:t>모델과 </a:t>
            </a:r>
            <a:r>
              <a:rPr lang="ko-KR" altLang="en-US" dirty="0" err="1"/>
              <a:t>임베딩</a:t>
            </a:r>
            <a:r>
              <a:rPr lang="ko-KR" altLang="en-US" dirty="0"/>
              <a:t> 모델을 각자 비교하여 정량 평가를 진행하였습니다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828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팀원별</a:t>
            </a:r>
            <a:r>
              <a:rPr lang="ko-KR" altLang="en-US" dirty="0"/>
              <a:t> 각자 </a:t>
            </a:r>
            <a:r>
              <a:rPr lang="ko-KR" altLang="en-US" dirty="0" err="1"/>
              <a:t>청킹</a:t>
            </a:r>
            <a:r>
              <a:rPr lang="ko-KR" altLang="en-US" dirty="0"/>
              <a:t> 방법입니다</a:t>
            </a:r>
            <a:r>
              <a:rPr lang="en-US" altLang="ko-KR" dirty="0"/>
              <a:t>. </a:t>
            </a:r>
            <a:r>
              <a:rPr lang="ko-KR" altLang="en-US" dirty="0"/>
              <a:t>박상진 팀원은 외부 의존성 없는 적응형 </a:t>
            </a:r>
            <a:r>
              <a:rPr lang="ko-KR" altLang="en-US" dirty="0" err="1"/>
              <a:t>청킹을</a:t>
            </a:r>
            <a:r>
              <a:rPr lang="ko-KR" altLang="en-US" dirty="0"/>
              <a:t> 사용하였고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 err="1"/>
              <a:t>김나원</a:t>
            </a:r>
            <a:r>
              <a:rPr lang="ko-KR" altLang="en-US" dirty="0"/>
              <a:t> 팀원은 메타 데이터 주입으로 문맥을 보존하였습니다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서유종</a:t>
            </a:r>
            <a:r>
              <a:rPr lang="ko-KR" altLang="en-US" dirty="0"/>
              <a:t> 팀원은 </a:t>
            </a:r>
            <a:r>
              <a:rPr lang="ko-KR" altLang="en-US" dirty="0" err="1"/>
              <a:t>임베딩</a:t>
            </a:r>
            <a:r>
              <a:rPr lang="ko-KR" altLang="en-US" dirty="0"/>
              <a:t> 기반으로 의미를 분석하여 문장이 끊김 없이 </a:t>
            </a:r>
            <a:r>
              <a:rPr lang="ko-KR" altLang="en-US" dirty="0" err="1"/>
              <a:t>분할되는게</a:t>
            </a:r>
            <a:r>
              <a:rPr lang="ko-KR" altLang="en-US" dirty="0"/>
              <a:t> 특징입니다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안호성</a:t>
            </a:r>
            <a:r>
              <a:rPr lang="ko-KR" altLang="en-US" dirty="0"/>
              <a:t> 팀원은 </a:t>
            </a:r>
            <a:r>
              <a:rPr lang="ko-KR" altLang="en-US" dirty="0" err="1"/>
              <a:t>랭체인</a:t>
            </a:r>
            <a:r>
              <a:rPr lang="ko-KR" altLang="en-US" dirty="0"/>
              <a:t> 라이브러리를 사용하여 재귀적 분할을 하였고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장우정 팀원은 로마 숫자</a:t>
            </a:r>
            <a:r>
              <a:rPr lang="en-US" altLang="ko-KR" dirty="0"/>
              <a:t>, </a:t>
            </a:r>
            <a:r>
              <a:rPr lang="ko-KR" altLang="en-US" dirty="0"/>
              <a:t>가나다 한글 분할로 테이블을 감지하여 </a:t>
            </a:r>
            <a:r>
              <a:rPr lang="ko-KR" altLang="en-US" dirty="0" err="1"/>
              <a:t>청킹을</a:t>
            </a:r>
            <a:r>
              <a:rPr lang="ko-KR" altLang="en-US" dirty="0"/>
              <a:t> 사용하였습니다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4863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94272-81AB-7010-9313-F223E453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69E7BF-5805-8DBA-7DA7-A8BFCCE24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E47AA9-AC43-4D21-E458-862003A50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"</a:t>
            </a:r>
            <a:r>
              <a:rPr lang="ko-KR" altLang="en-US" dirty="0"/>
              <a:t>저희는 </a:t>
            </a:r>
            <a:r>
              <a:rPr lang="ko-KR" altLang="en-US" dirty="0" err="1"/>
              <a:t>챗봇의</a:t>
            </a:r>
            <a:r>
              <a:rPr lang="ko-KR" altLang="en-US" dirty="0"/>
              <a:t> 성능을 객관적으로 검증하기 위해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80</a:t>
            </a:r>
            <a:r>
              <a:rPr lang="ko-KR" altLang="en-US" dirty="0"/>
              <a:t>개의 질문으로 구성된 두 가지 테스트 데이터셋을 </a:t>
            </a:r>
            <a:r>
              <a:rPr lang="ko-KR" altLang="en-US" dirty="0" err="1"/>
              <a:t>설계했습니</a:t>
            </a:r>
            <a:r>
              <a:rPr lang="ko-KR" altLang="en-US" dirty="0"/>
              <a:t> </a:t>
            </a:r>
            <a:r>
              <a:rPr lang="ko-KR" altLang="en-US" b="1" dirty="0"/>
              <a:t>평가 목적에 따라 데이터셋의 성격을 </a:t>
            </a:r>
            <a:r>
              <a:rPr lang="ko-KR" altLang="en-US" b="1" dirty="0" err="1"/>
              <a:t>이원화</a:t>
            </a:r>
            <a:r>
              <a:rPr lang="ko-KR" altLang="en-US" dirty="0" err="1"/>
              <a:t>했습니다</a:t>
            </a:r>
            <a:r>
              <a:rPr lang="en-US" altLang="ko-KR" dirty="0"/>
              <a:t>.“</a:t>
            </a:r>
          </a:p>
          <a:p>
            <a:r>
              <a:rPr lang="en-US" altLang="ko-KR" dirty="0"/>
              <a:t>"</a:t>
            </a:r>
            <a:r>
              <a:rPr lang="en-US" altLang="ko-KR" b="1" dirty="0"/>
              <a:t>Dataset 1</a:t>
            </a:r>
            <a:r>
              <a:rPr lang="ko-KR" altLang="en-US" dirty="0"/>
              <a:t>은 예산</a:t>
            </a:r>
            <a:r>
              <a:rPr lang="en-US" altLang="ko-KR" dirty="0"/>
              <a:t>, </a:t>
            </a:r>
            <a:r>
              <a:rPr lang="ko-KR" altLang="en-US" dirty="0"/>
              <a:t>날짜</a:t>
            </a:r>
            <a:r>
              <a:rPr lang="en-US" altLang="ko-KR" dirty="0"/>
              <a:t>, </a:t>
            </a:r>
            <a:r>
              <a:rPr lang="ko-KR" altLang="en-US" dirty="0"/>
              <a:t>공고 번호와 같은 </a:t>
            </a:r>
            <a:r>
              <a:rPr lang="en-US" altLang="ko-KR" dirty="0"/>
              <a:t>'</a:t>
            </a:r>
            <a:r>
              <a:rPr lang="ko-KR" altLang="en-US" dirty="0"/>
              <a:t>기술 요건 및 정량적 정보</a:t>
            </a:r>
            <a:r>
              <a:rPr lang="en-US" altLang="ko-KR" dirty="0"/>
              <a:t>'</a:t>
            </a:r>
            <a:r>
              <a:rPr lang="ko-KR" altLang="en-US" dirty="0"/>
              <a:t>를 묻는 질문들입니다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</a:t>
            </a:r>
            <a:r>
              <a:rPr lang="en-US" altLang="ko-KR" dirty="0"/>
              <a:t>RAG </a:t>
            </a:r>
            <a:r>
              <a:rPr lang="ko-KR" altLang="en-US" dirty="0"/>
              <a:t>시스템이 문서 내에서 특정 팩트</a:t>
            </a:r>
            <a:r>
              <a:rPr lang="en-US" altLang="ko-KR" dirty="0"/>
              <a:t>(Fact)</a:t>
            </a:r>
            <a:r>
              <a:rPr lang="ko-KR" altLang="en-US" dirty="0"/>
              <a:t>를 얼마나 정확하게 핀포인트로 찾아내는지</a:t>
            </a:r>
            <a:r>
              <a:rPr lang="en-US" altLang="ko-KR" dirty="0"/>
              <a:t>(Precision)</a:t>
            </a:r>
            <a:r>
              <a:rPr lang="ko-KR" altLang="en-US" dirty="0"/>
              <a:t>를 검증하기 </a:t>
            </a:r>
            <a:r>
              <a:rPr lang="ko-KR" altLang="en-US" dirty="0" err="1"/>
              <a:t>위함입니다</a:t>
            </a:r>
            <a:r>
              <a:rPr lang="en-US" altLang="ko-KR" dirty="0"/>
              <a:t>.“</a:t>
            </a:r>
          </a:p>
          <a:p>
            <a:endParaRPr lang="en-US" altLang="ko-KR" dirty="0"/>
          </a:p>
          <a:p>
            <a:r>
              <a:rPr lang="en-US" altLang="ko-KR" dirty="0"/>
              <a:t>"</a:t>
            </a:r>
            <a:r>
              <a:rPr lang="ko-KR" altLang="en-US" dirty="0"/>
              <a:t>반면</a:t>
            </a:r>
            <a:r>
              <a:rPr lang="en-US" altLang="ko-KR" dirty="0"/>
              <a:t>, </a:t>
            </a:r>
            <a:r>
              <a:rPr lang="en-US" altLang="ko-KR" b="1" dirty="0"/>
              <a:t>Dataset 2</a:t>
            </a:r>
            <a:r>
              <a:rPr lang="ko-KR" altLang="en-US" dirty="0"/>
              <a:t>는 </a:t>
            </a:r>
            <a:r>
              <a:rPr lang="en-US" altLang="ko-KR" dirty="0"/>
              <a:t>'</a:t>
            </a:r>
            <a:r>
              <a:rPr lang="ko-KR" altLang="en-US" dirty="0"/>
              <a:t>업무 범위</a:t>
            </a:r>
            <a:r>
              <a:rPr lang="en-US" altLang="ko-KR" dirty="0"/>
              <a:t>'</a:t>
            </a:r>
            <a:r>
              <a:rPr lang="ko-KR" altLang="en-US" dirty="0"/>
              <a:t>와 관련된 질문들로 구성했습니다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이는 단순 검색을 넘어</a:t>
            </a:r>
            <a:r>
              <a:rPr lang="en-US" altLang="ko-KR" dirty="0"/>
              <a:t>, </a:t>
            </a:r>
            <a:r>
              <a:rPr lang="ko-KR" altLang="en-US" dirty="0"/>
              <a:t>문맥을 파악하고 내용을 종합해야 답할 수 있는 질문들로</a:t>
            </a:r>
            <a:r>
              <a:rPr lang="en-US" altLang="ko-KR" dirty="0"/>
              <a:t>, </a:t>
            </a:r>
            <a:r>
              <a:rPr lang="ko-KR" altLang="en-US" dirty="0"/>
              <a:t>모델의 </a:t>
            </a:r>
            <a:r>
              <a:rPr lang="ko-KR" altLang="en-US" b="1" dirty="0"/>
              <a:t>맥락 이해 및 추론 능력</a:t>
            </a:r>
            <a:r>
              <a:rPr lang="ko-KR" altLang="en-US" dirty="0"/>
              <a:t>을 평가하는 데 중점을 두었습니다</a:t>
            </a:r>
            <a:r>
              <a:rPr lang="en-US" altLang="ko-KR" dirty="0"/>
              <a:t>."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11978A-C446-BF37-D6E1-21107CA32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932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비교 테스트 결과입니다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VLM </a:t>
            </a:r>
            <a:r>
              <a:rPr lang="ko-KR" altLang="en-US" dirty="0"/>
              <a:t>모델 </a:t>
            </a:r>
            <a:r>
              <a:rPr lang="en-US" altLang="ko-KR" dirty="0"/>
              <a:t>2</a:t>
            </a:r>
            <a:r>
              <a:rPr lang="ko-KR" altLang="en-US" dirty="0"/>
              <a:t>가지로 먼저 </a:t>
            </a:r>
            <a:r>
              <a:rPr lang="ko-KR" altLang="en-US" dirty="0" err="1"/>
              <a:t>청크수를</a:t>
            </a:r>
            <a:r>
              <a:rPr lang="ko-KR" altLang="en-US" dirty="0"/>
              <a:t> 비교하였습니다</a:t>
            </a:r>
            <a:r>
              <a:rPr lang="en-US" altLang="ko-KR" dirty="0"/>
              <a:t> (</a:t>
            </a:r>
            <a:r>
              <a:rPr lang="ko-KR" altLang="en-US" dirty="0"/>
              <a:t>왼쪽 그래프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OpenAI</a:t>
            </a:r>
            <a:r>
              <a:rPr lang="ko-KR" altLang="en-US" dirty="0"/>
              <a:t> 파싱이 </a:t>
            </a:r>
            <a:r>
              <a:rPr lang="en-US" altLang="ko-KR" dirty="0"/>
              <a:t>7~9% </a:t>
            </a:r>
            <a:r>
              <a:rPr lang="ko-KR" altLang="en-US" dirty="0"/>
              <a:t>더 많은 </a:t>
            </a:r>
            <a:r>
              <a:rPr lang="ko-KR" altLang="en-US" dirty="0" err="1"/>
              <a:t>청크를</a:t>
            </a:r>
            <a:r>
              <a:rPr lang="ko-KR" altLang="en-US" dirty="0"/>
              <a:t> 생성하여서 텍스트 추출 품질이 더 세밀하다고 판단하였습니다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 데이터셋 </a:t>
            </a:r>
            <a:r>
              <a:rPr lang="en-US" altLang="ko-KR" dirty="0"/>
              <a:t>2</a:t>
            </a:r>
            <a:r>
              <a:rPr lang="ko-KR" altLang="en-US" dirty="0"/>
              <a:t>개를 비교하여 </a:t>
            </a:r>
            <a:r>
              <a:rPr lang="ko-KR" altLang="en-US" dirty="0" err="1"/>
              <a:t>임베딩을</a:t>
            </a:r>
            <a:r>
              <a:rPr lang="ko-KR" altLang="en-US" dirty="0"/>
              <a:t> 조합하여 결과를 내었습니다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상위 </a:t>
            </a:r>
            <a:r>
              <a:rPr lang="en-US" altLang="ko-KR" dirty="0"/>
              <a:t>2</a:t>
            </a:r>
            <a:r>
              <a:rPr lang="ko-KR" altLang="en-US" dirty="0"/>
              <a:t>개를 비교하였을 때 두개의 점수가 비슷하게 좋았으며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가장 안정적인 문맥 강화 기법</a:t>
            </a:r>
            <a:r>
              <a:rPr lang="en-US" altLang="ko-KR" dirty="0"/>
              <a:t>(</a:t>
            </a:r>
            <a:r>
              <a:rPr lang="ko-KR" altLang="en-US" dirty="0"/>
              <a:t>컨텍스트 </a:t>
            </a:r>
            <a:r>
              <a:rPr lang="ko-KR" altLang="en-US" dirty="0" err="1"/>
              <a:t>엔리치트</a:t>
            </a:r>
            <a:r>
              <a:rPr lang="en-US" altLang="ko-KR" dirty="0"/>
              <a:t>) </a:t>
            </a:r>
            <a:r>
              <a:rPr lang="ko-KR" altLang="en-US" dirty="0"/>
              <a:t>와 </a:t>
            </a:r>
            <a:r>
              <a:rPr lang="en-US" altLang="ko-KR" dirty="0" err="1"/>
              <a:t>openAI</a:t>
            </a:r>
            <a:r>
              <a:rPr lang="ko-KR" altLang="en-US" dirty="0"/>
              <a:t> 를 사용하기로 결정하였습니다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9659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테스트 방안은 그리드 </a:t>
            </a:r>
            <a:r>
              <a:rPr lang="ko-KR" altLang="en-US" dirty="0" err="1"/>
              <a:t>서치를</a:t>
            </a:r>
            <a:r>
              <a:rPr lang="ko-KR" altLang="en-US" dirty="0"/>
              <a:t> 이용하여 </a:t>
            </a:r>
            <a:r>
              <a:rPr lang="ko-KR" altLang="en-US" dirty="0" err="1"/>
              <a:t>청킹</a:t>
            </a:r>
            <a:r>
              <a:rPr lang="ko-KR" altLang="en-US" dirty="0"/>
              <a:t> 사이즈와 </a:t>
            </a:r>
            <a:r>
              <a:rPr lang="en-US" altLang="ko-KR" dirty="0"/>
              <a:t>k </a:t>
            </a:r>
            <a:r>
              <a:rPr lang="ko-KR" altLang="en-US" dirty="0"/>
              <a:t>값을 비교하였습니다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27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청킹</a:t>
            </a:r>
            <a:r>
              <a:rPr lang="ko-KR" altLang="en-US" dirty="0"/>
              <a:t> 사이즈와 </a:t>
            </a:r>
            <a:r>
              <a:rPr lang="en-US" altLang="ko-KR" dirty="0"/>
              <a:t>k </a:t>
            </a:r>
            <a:r>
              <a:rPr lang="ko-KR" altLang="en-US" dirty="0"/>
              <a:t>값을 비교하여 </a:t>
            </a:r>
            <a:r>
              <a:rPr lang="en-US" altLang="ko-KR" dirty="0"/>
              <a:t>Recall </a:t>
            </a:r>
            <a:r>
              <a:rPr lang="ko-KR" altLang="en-US" dirty="0"/>
              <a:t>값을 비교하였습니다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가장 좋은 </a:t>
            </a:r>
            <a:r>
              <a:rPr lang="en-US" altLang="ko-KR" dirty="0"/>
              <a:t>Recall </a:t>
            </a:r>
            <a:r>
              <a:rPr lang="ko-KR" altLang="en-US" dirty="0"/>
              <a:t>조합은 </a:t>
            </a:r>
            <a:r>
              <a:rPr lang="ko-KR" altLang="en-US" dirty="0" err="1"/>
              <a:t>청킹</a:t>
            </a:r>
            <a:r>
              <a:rPr lang="ko-KR" altLang="en-US" dirty="0"/>
              <a:t> 사이즈 </a:t>
            </a:r>
            <a:r>
              <a:rPr lang="en-US" altLang="ko-KR" dirty="0"/>
              <a:t>700 </a:t>
            </a:r>
            <a:r>
              <a:rPr lang="ko-KR" altLang="en-US" dirty="0"/>
              <a:t>에 </a:t>
            </a:r>
            <a:r>
              <a:rPr lang="en-US" altLang="ko-KR" dirty="0"/>
              <a:t>k </a:t>
            </a:r>
            <a:r>
              <a:rPr lang="ko-KR" altLang="en-US" dirty="0"/>
              <a:t>값 </a:t>
            </a:r>
            <a:r>
              <a:rPr lang="en-US" altLang="ko-KR" dirty="0"/>
              <a:t>10</a:t>
            </a:r>
            <a:r>
              <a:rPr lang="ko-KR" altLang="en-US" dirty="0"/>
              <a:t>이였습니다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081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진행 결과를 말씀드리겠습니다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검색 전략을 비교하여 품질을 확인하였습니다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사용하여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Chroma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벡터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MMR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기법으로 의미 기반 검색을 수행하였습니다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Rerank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기법으로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Chroma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후보를 다수 검색한 뒤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FlashRank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Reranker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재정렬하는 방식을 적용하였습니다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 60%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BM25 40%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결합한 하이브리드 앙상블 기법을 테스트하였습니다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99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평가 지표로는 검색 성공률</a:t>
            </a:r>
            <a:r>
              <a:rPr lang="en-US" altLang="ko-KR" dirty="0"/>
              <a:t>, </a:t>
            </a:r>
            <a:r>
              <a:rPr lang="ko-KR" altLang="en-US" dirty="0"/>
              <a:t>정보 포함도 </a:t>
            </a:r>
            <a:r>
              <a:rPr lang="en-US" altLang="ko-KR" dirty="0"/>
              <a:t>, </a:t>
            </a:r>
            <a:r>
              <a:rPr lang="ko-KR" altLang="en-US" dirty="0"/>
              <a:t>답변 정확도를 기준으로 확인하였고</a:t>
            </a:r>
            <a:endParaRPr lang="en-US" altLang="ko-KR" dirty="0"/>
          </a:p>
          <a:p>
            <a:r>
              <a:rPr lang="en-US" altLang="ko-KR" dirty="0"/>
              <a:t>Hybrid </a:t>
            </a:r>
            <a:r>
              <a:rPr lang="ko-KR" altLang="en-US" dirty="0"/>
              <a:t>가 답변 정확도가 높아 최종 선택으로 채택하게 되었습니다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왜 </a:t>
            </a:r>
            <a:r>
              <a:rPr lang="en-US" altLang="ko-KR" dirty="0"/>
              <a:t>Hybrid </a:t>
            </a:r>
            <a:r>
              <a:rPr lang="ko-KR" altLang="en-US" dirty="0"/>
              <a:t>에 </a:t>
            </a:r>
            <a:r>
              <a:rPr lang="en-US" altLang="ko-KR" dirty="0" err="1"/>
              <a:t>Reranker</a:t>
            </a:r>
            <a:r>
              <a:rPr lang="en-US" altLang="ko-KR" dirty="0"/>
              <a:t> </a:t>
            </a:r>
            <a:r>
              <a:rPr lang="ko-KR" altLang="en-US" dirty="0"/>
              <a:t>방식을 </a:t>
            </a:r>
            <a:r>
              <a:rPr lang="ko-KR" altLang="en-US" dirty="0" err="1"/>
              <a:t>도입안했나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: Dense </a:t>
            </a:r>
            <a:r>
              <a:rPr lang="ko-KR" altLang="en-US" dirty="0"/>
              <a:t>에서 </a:t>
            </a:r>
            <a:r>
              <a:rPr lang="en-US" altLang="ko-KR" dirty="0" err="1"/>
              <a:t>Reranker</a:t>
            </a:r>
            <a:r>
              <a:rPr lang="en-US" altLang="ko-KR" dirty="0"/>
              <a:t> </a:t>
            </a:r>
            <a:r>
              <a:rPr lang="ko-KR" altLang="en-US" dirty="0"/>
              <a:t>를 올려도 크게 향상이 되지 않아 채택하지 않았으나</a:t>
            </a:r>
            <a:r>
              <a:rPr lang="en-US" altLang="ko-KR" dirty="0"/>
              <a:t>, </a:t>
            </a:r>
            <a:r>
              <a:rPr lang="ko-KR" altLang="en-US" dirty="0"/>
              <a:t>다시 테스트 해볼 만한 기법으로 보입니다</a:t>
            </a:r>
            <a:r>
              <a:rPr lang="en-US" altLang="ko-KR" dirty="0"/>
              <a:t>.)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992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RAG</a:t>
            </a:r>
            <a:r>
              <a:rPr lang="ko-KR" altLang="en-US" dirty="0"/>
              <a:t> 시스템 설계부분을 말씀드리겠습니다</a:t>
            </a:r>
            <a:r>
              <a:rPr lang="en-US" altLang="ko-KR" dirty="0"/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입찰 공고문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(RFP)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분석에는 두 가지 기술적 난관이 있었습니다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검색의 정확도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벡터 검색만으로는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공고 번호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정확한 예산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같은 키워드를 놓치기 쉽습니다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전달의 속도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긴 텍스트 답변은 사용자가 읽기에 피로도가 높습니다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이를 해결하기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Hybrid Retrieval(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하이브리드 검색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Streaming TTS(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스트리밍 음성 합성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기술을 도입했습니다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033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 기술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1 - Hybrid Retrieval System]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검색 파트에서 저희가 가장 신경 쓴 부분은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정보의 다양성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유사도만 높은 문서를 찾으면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내용이 거의 똑같은 문서들만 중복해서 가져오는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정보 편향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문제가 발생합니다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해결하기 위해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 Retriever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MMR(Maximal Marginal Relevance)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알고리즘을 적용했습니다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550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작동 원리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 문서는 질문과 가장 유사한 것을 뽑습니다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두 번째 문서부터는 질문과 유사하면서도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 뽑힌 문서와는 내용이 다른 문서를 선택합니다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적용 효과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 사양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검색했을 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똑같은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사양만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가져오는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메모리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스토리지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 사양을 골고루 가져오게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BM25(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키워드 검색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40%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비중으로 섞어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다양성과 정확성을 동시에 잡았습니다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406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다음은 답변 생성 파트입니다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여기에는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LCEL(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LangChain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Expression Language)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패턴을 적용했습니다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444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단순히 질문을 던지는 것이 아니라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history_aware_retriever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사용자의 이전 대화 기록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(Session Memory)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분석합니다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사용자가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그거 기간은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이라고만 물어도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아까 말한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사업의 기간은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질문을 재구성하여 검색 정확도를 높였습니다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145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 프롬프트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(System Prompt)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강력한 제약 조건을 걸어 환각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(Hallucination)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방지하였습니다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216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LLM </a:t>
            </a:r>
            <a:r>
              <a:rPr lang="ko-KR" altLang="en-US" dirty="0"/>
              <a:t>프롬프트에도 기존 맥락을 참고할 수 있도록 프롬프트를 넣었으며</a:t>
            </a:r>
            <a:endParaRPr lang="en-US" altLang="ko-KR" dirty="0"/>
          </a:p>
          <a:p>
            <a:r>
              <a:rPr lang="ko-KR" altLang="en-US" dirty="0"/>
              <a:t>질문을 재구성하여 사용자의 대화 맥락이 이해될 수 있도록 진행하였습니다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2326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연동을 위하여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"3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백만 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한글로 풀어서 출력하게 하여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발음 정확도를 사전에 확보했습니다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425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가장 차별화된 기능인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답변이 끝날 때까지 기다려야 하지만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버퍼링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(Buffering)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알고리즘을 자체 구현했습니다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6205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텍스트를 생성하는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(Streaming)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split_sentences_buffered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함수가 문장 단위로 텍스트를 자릅니다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완성된 문장은 즉시 백그라운드의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TTSWorker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스레드로 전송됩니다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통해 텍스트가 화면에 찍힘과 거의 동시에 음성 안내가 시작되어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사용자의 대기 시간을 획기적으로 줄였습니다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4143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968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시스템에서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안정적으로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동작시키기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위해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파이토치에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독립적인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파이토치를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임포트하지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않고도 사용할 수 있는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ONNX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모델을 사용했습니다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이번 페이지부터는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파트 아키텍처를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핵심은 텍스트 생성 파이프라인과 음성 합성 파이프라인을 분리하고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비동기 워커와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추론 엔진을 계층적으로 결합해 지연과 충돌을 줄이는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3805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파이프라인은 두 계층으로 분리됩니다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왼쪽은 서비스 계층인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워커이고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오른쪽은 추론 계층인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 계층은 비동기 큐와 스레드로 처리 순서를 관리하고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질문이 들어왔을 때 이전 재생을 중단하는 등 제어 부분을 담당합니다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추론 계층은 텍스트를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입력받아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G2P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변환과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추출을 거쳐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모델로 실제 오디오를 생성합니다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흐름은 단순합니다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워커가 음성 생성을 요청하고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ONNX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엔진이 오디오를 반환합니다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역할을 분리하여 재생 충돌 같은 제어 문제는 워커에서 해결하고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발음 품질이나 추론 속도 같은 모델 문제는 엔진에서 독립적으로 튜닝할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3085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워커에 관해 좀 더 구체적으로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설명드리겠습니다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3526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워커의 첫 번째 핵심은 직렬화입니다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문장들을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fifo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(First in First out)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큐에 넣고 순서대로 처리하기 때문에 음성이 겹치거나 순서가 바뀌는 문제를 예방할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 핵심은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비차단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실행입니다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합성은 별도 워커 스레드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파이썬 백그라운드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에서 처리하고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메인 흐름은 계속 텍스트를 생성하고 화면을 갱신합니다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사용자는 응답을 기다리는 동안 시스템이 멈춘 느낌을 덜 받을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 핵심은 즉시 중단입니다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새 질문이 들어오면 현재 재생 중인 프로세스를 종료하고 큐를 비워서 이전 문맥 음성이 남지 않도록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큐는 순서를 보장하고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스레드는 반응성을 유지하고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중단 제어는 대화 전환 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보호합니다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가지가 합쳐져서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실제 서비스 환경에서 안정적으로 동작하게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5181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추론 파이프라인을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단계로 정리해 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3636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단계는 텍스트 정규화입니다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 문장의 기호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숫자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약어를 모델이 처리 가능한 표준 발음 형태로 맞춥니다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G2P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변환입니다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텍스트를 발음 단위인 음소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(phoneme)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시퀀스로 바꿔서 음성 모델 입력 기반을 만듭니다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 추출입니다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BERT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문맥 정보를 반영하여 발음의 자연스러움을 높입니다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번째는 입력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텐서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구성입니다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앞의 단계에서 추출한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phoneme ID, language ID, BERT feature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길이 정보와 함께 모델 입력 포맷으로 맞춥니다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다섯 번째는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ONNX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추론입니다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최종 오디오 파형이 생성됩니다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ONNX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 자체의 역할은 여기서 끝납니다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긴 답변을 문장 단위로 합성한 뒤 순서대로 이어 붙여 하나의 연속 음성으로 만들고 오디오를 자동 재생하는 것은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워커에서 담당합니다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6678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G2P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왜 같이 쓰는지 정리해 보았습니다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6339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Phoneme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단계는 텍스트를 발음 단위로 바꾸는 과정입니다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모델이 문자를 그대로 읽는 것이 아니라 실제 발음 단위로 이해하도록 만드는 기초 단계입니다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Word2Ph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매핑은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특징을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입력과 정렬하는 핵심 단계입니다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토큰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 단어 조각 단위로 특징을 만들기 때문에 그대로는 음소 단위와 길이가 맞지 않습니다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word2ph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토큰 특징을 음소 길이에 맞게 확장해서 문맥 정보가 발음 단위까지 전달되도록 맞춰줍니다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 Features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단계에서는 문맥 기반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임베딩을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사용해 같은 단어라도 문장 맥락에 맞는 억양과 발음 경향을 반영할 수 있게 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정리하면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G2P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발음 단위를 만들고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BERT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문맥 정보를 만들며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(G2P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내장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word2ph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이 둘의 축을 맞춰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TTS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모델이 바로 사용할 수 있게 연결하는 정렬 레이어입니다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세 단계가 결합되어야 발음 정확도와 자연스러움을 동시에 확보할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충분한 모델 훈련도 동반되어야 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20851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시스템의 운영 데이터 레이어를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설명드립니다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사용해 대화 기록과 피드백을 함께 관리했습니다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3066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 대상은 질문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답변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피드백 값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시각입니다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피드백은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좋아요를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싫어요를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-1,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미평가를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NULL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저장합니다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이렇게 단순한 스키마를 유지한 이유는 조회와 운영이 빠르고 명확해야 하기 때문입니다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구조를 통해 어떤 질문에 어떤 답변이 나갔는지 추적할 수 있고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만족했는지까지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함께 분석할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003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활용 가치 및 기대효과 부분입니다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6471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대화 및 피드백 로그를 저장하면 품질 개선 루프를 위한 근거 데이터 계층으로 사용할 수 있습니다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이후에는 이 피드백 데이터를 기반으로 모델 강화학습이나 검색 전략 조정 같은 개선 작업을 반복할 수 있을 것입니다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2298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B7CE2-C3EA-2B19-F503-4B9529F1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0FDB11-0A26-CFBE-A88C-8E71D48D0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9392E6-DD9B-76A4-9A60-6D4F60971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 </a:t>
            </a:r>
            <a:r>
              <a:rPr lang="ko-KR" altLang="en-US" dirty="0"/>
              <a:t>그리고 시연을 시작하겠습니다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A4AFC-5A2A-15F6-A09B-E2D039B4A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B3D90-53BB-4745-87F0-BA480580890A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99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F568B-5AD2-42C3-907E-AEC2FEF2E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7E64E3-18EC-49F4-8601-8EB7DC405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F7A53E-1E25-406D-A8D2-1DCED2AE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78491F-E248-4922-802D-B3FA7B5FD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3E32C4-6749-4950-B848-FACCF628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243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EA5DA-DA28-41B0-A26F-F61A4326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2728B4-8D88-4B2F-9262-DE4B72407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307AF-81F6-4E55-A74D-B0409241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886EAB-D404-4CB6-93C9-B66335276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1E2CDB-1CA0-4990-B2F2-D444C4051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11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A9142-7B63-4435-8B8A-B9F8F9CB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51D6F8-BD43-4C99-B27D-24F6813275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A8337A-2B75-4100-A8B0-84F283B8C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B4C465-A854-4E9D-8A0E-32D9EF9DC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A3ACBC-3CA5-4610-8A29-943DB7C1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71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C8B61-BA42-48DB-BC5A-C0A4A6352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42FAF7-9035-4D40-90E5-DDCE7F783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819410-1A87-472D-B7AF-F9D75117F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AC0150-03BD-4EE3-A7CE-E1DBD7D8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EB123-BC91-4109-84E2-7760FDC4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5358ED-3D59-4211-9F98-17850C13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80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7C01E-7EC5-4216-BE56-4E68D84C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2D88C4-FB7D-4481-849C-42E9109EE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466B42-D0AF-4EFB-9E16-81F13EE40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A8ED7F-E8BB-488D-AC42-4AD228ADB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922B08-47FC-4E70-AE96-E2C16BF9E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66467C-97D8-4940-B22C-2A1D11E12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386A18-1A29-4EE7-97B0-E1509BE76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319F4A-171C-4815-A766-DC974EBE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4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1FD64-FDED-488F-9E8E-9D5C2EC5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861EEB3-84AD-4195-9107-70304F6B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FCCACC-4125-4AF7-AFF0-0967CE19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25EDE1-44BD-481D-97F1-DE429BEB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254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CC9E516-5BA3-4ED9-8D4A-9DD3BD5BE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D2523F-BC89-436D-AB47-82ACF09D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E37DCF-A886-4A72-9167-4D6019EF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14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72A60-D2D4-46DB-9856-002AD2ACA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643850-BBBB-43DD-B1F9-97C244821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0C6D0E-969D-44DE-B9CB-B469AEB84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338AD5-8BD9-4623-9509-90FC56044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8B3E77-4F52-4398-8E84-B7D50207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19E719-6A4E-4BE3-B96D-CE9B15316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12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C97F5-988A-436C-899E-666AF0D1C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2E7111-2AC9-402C-8EC2-41B37FBD6F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B106B7-72D8-48E6-A24D-9ABE69A7F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04D0C8-5143-42FC-8C69-F931235A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2178F5-E060-42D4-A2A4-B7C91BA3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4FED2C-3985-4AF7-ADE6-3A7D078A3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02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B3009-994A-4491-B79E-C902BA880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B8B0B5-7B24-4CEF-ADEF-14D62623D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EAB589-AFFA-44A2-99B6-F3C96F4A1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5EDDAF-93E2-4308-BD4C-4EBCC6C6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DA348D-CAA6-4B8A-B10F-BEB9AD47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0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0EBBDD-8E8C-430E-86B1-82A9B8F2D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59A0DE-26D1-4A07-BB80-000555B52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87905D-D0A9-4AEE-B008-1D9326DF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A13C3A-C426-4685-8746-3B06AA40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D1BDB5-D74A-4BF7-A99A-DD6FAA57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10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6DDC88-7817-43E2-85AD-3CB313C3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E618AD-1FA7-421F-98F4-1DFDCEF23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8964D7-C527-43D4-9145-2B15DCD06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E9B59-BF44-4299-8213-514BF3869DFD}" type="datetimeFigureOut">
              <a:rPr lang="ko-KR" altLang="en-US" smtClean="0"/>
              <a:t>2026-02-13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969E24-2DAC-43A1-AA84-E1A8F31D9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66FC28-B3FF-4EC3-9A86-04AD6383B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3631C-5111-459A-941B-07E0780065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file/d/1vhxJP17-LSninbhetHlHKak-TGMfo2kD/view?usp=sharing" TargetMode="Externa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B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8D2FD7-3AA1-4893-6883-082F01229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40" y="0"/>
            <a:ext cx="6095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4E1CAE-EAA8-4E67-BB93-28637C261243}"/>
              </a:ext>
            </a:extLst>
          </p:cNvPr>
          <p:cNvSpPr txBox="1"/>
          <p:nvPr/>
        </p:nvSpPr>
        <p:spPr>
          <a:xfrm>
            <a:off x="5313432" y="1669372"/>
            <a:ext cx="697338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AI 6</a:t>
            </a:r>
            <a:r>
              <a:rPr lang="ko-KR" altLang="en-US" sz="5400" dirty="0">
                <a:solidFill>
                  <a:schemeClr val="bg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기 </a:t>
            </a:r>
            <a:r>
              <a:rPr lang="en-US" altLang="ko-KR" sz="5400" dirty="0">
                <a:solidFill>
                  <a:schemeClr val="bg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3</a:t>
            </a:r>
            <a:r>
              <a:rPr lang="ko-KR" altLang="en-US" sz="5400" dirty="0">
                <a:solidFill>
                  <a:schemeClr val="bg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팀</a:t>
            </a:r>
            <a:endParaRPr lang="en-US" altLang="ko-KR" sz="5400" dirty="0">
              <a:solidFill>
                <a:schemeClr val="bg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  <a:p>
            <a:r>
              <a:rPr lang="ko-KR" altLang="en-US" sz="5400" dirty="0">
                <a:solidFill>
                  <a:schemeClr val="bg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중급 프로젝트</a:t>
            </a:r>
            <a:endParaRPr lang="en-US" altLang="ko-KR" sz="5400" dirty="0">
              <a:solidFill>
                <a:schemeClr val="bg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  <a:p>
            <a:r>
              <a:rPr lang="ko-KR" altLang="en-US" sz="5400" dirty="0" err="1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입찰메이트</a:t>
            </a:r>
            <a:r>
              <a:rPr lang="ko-KR" altLang="en-US" sz="54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AI Chatbot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116D6-EAEF-EF60-72D7-A8F0F0946580}"/>
              </a:ext>
            </a:extLst>
          </p:cNvPr>
          <p:cNvSpPr txBox="1"/>
          <p:nvPr/>
        </p:nvSpPr>
        <p:spPr>
          <a:xfrm>
            <a:off x="5313432" y="4446202"/>
            <a:ext cx="6211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박상진</a:t>
            </a:r>
            <a:r>
              <a:rPr lang="en-US" altLang="ko-KR" sz="2800" dirty="0">
                <a:solidFill>
                  <a:schemeClr val="bg1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김나연</a:t>
            </a:r>
            <a:r>
              <a:rPr lang="en-US" altLang="ko-KR" sz="2800" dirty="0">
                <a:solidFill>
                  <a:schemeClr val="bg1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, </a:t>
            </a:r>
            <a:r>
              <a:rPr lang="ko-KR" altLang="en-US" sz="2800" dirty="0" err="1">
                <a:solidFill>
                  <a:schemeClr val="bg1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서유종</a:t>
            </a:r>
            <a:r>
              <a:rPr lang="en-US" altLang="ko-KR" sz="2800" dirty="0">
                <a:solidFill>
                  <a:schemeClr val="bg1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, </a:t>
            </a:r>
            <a:r>
              <a:rPr lang="ko-KR" altLang="en-US" sz="2800" dirty="0" err="1">
                <a:solidFill>
                  <a:schemeClr val="bg1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안호성</a:t>
            </a:r>
            <a:r>
              <a:rPr lang="en-US" altLang="ko-KR" sz="2800" dirty="0">
                <a:solidFill>
                  <a:schemeClr val="bg1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, </a:t>
            </a:r>
            <a:r>
              <a:rPr lang="ko-KR" altLang="en-US" sz="2800" dirty="0">
                <a:solidFill>
                  <a:schemeClr val="bg1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장우정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4948D7-6FC0-4BAB-A179-9F11AD24FB8C}"/>
              </a:ext>
            </a:extLst>
          </p:cNvPr>
          <p:cNvSpPr/>
          <p:nvPr/>
        </p:nvSpPr>
        <p:spPr>
          <a:xfrm>
            <a:off x="-21140" y="4254695"/>
            <a:ext cx="12213140" cy="958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09A840-3BA0-8F92-2546-F35DF46D2922}"/>
              </a:ext>
            </a:extLst>
          </p:cNvPr>
          <p:cNvSpPr/>
          <p:nvPr/>
        </p:nvSpPr>
        <p:spPr>
          <a:xfrm>
            <a:off x="10049830" y="2427752"/>
            <a:ext cx="185420" cy="3639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94C2ECA-A90C-417D-17A0-C95D946369CB}"/>
              </a:ext>
            </a:extLst>
          </p:cNvPr>
          <p:cNvSpPr/>
          <p:nvPr/>
        </p:nvSpPr>
        <p:spPr>
          <a:xfrm>
            <a:off x="11547068" y="2427752"/>
            <a:ext cx="185420" cy="3639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32F24F40-BD6C-248E-1524-0DFCDC03DBEE}"/>
              </a:ext>
            </a:extLst>
          </p:cNvPr>
          <p:cNvSpPr/>
          <p:nvPr/>
        </p:nvSpPr>
        <p:spPr>
          <a:xfrm>
            <a:off x="10141329" y="2090065"/>
            <a:ext cx="1498449" cy="1028700"/>
          </a:xfrm>
          <a:prstGeom prst="wedgeRoundRectCallout">
            <a:avLst>
              <a:gd name="adj1" fmla="val -44110"/>
              <a:gd name="adj2" fmla="val 75329"/>
              <a:gd name="adj3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D6407C5-B40B-D500-DAB4-A8F3218413B9}"/>
              </a:ext>
            </a:extLst>
          </p:cNvPr>
          <p:cNvSpPr/>
          <p:nvPr/>
        </p:nvSpPr>
        <p:spPr>
          <a:xfrm>
            <a:off x="10466136" y="2444658"/>
            <a:ext cx="185420" cy="18272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BC85688-EC15-4265-E623-7B3B33CD8881}"/>
              </a:ext>
            </a:extLst>
          </p:cNvPr>
          <p:cNvSpPr/>
          <p:nvPr/>
        </p:nvSpPr>
        <p:spPr>
          <a:xfrm>
            <a:off x="11123213" y="2444658"/>
            <a:ext cx="185420" cy="18272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8284D7C-46F9-19BB-6C7D-981BDCE5ADC8}"/>
              </a:ext>
            </a:extLst>
          </p:cNvPr>
          <p:cNvSpPr/>
          <p:nvPr/>
        </p:nvSpPr>
        <p:spPr>
          <a:xfrm rot="5400000">
            <a:off x="10496145" y="2116615"/>
            <a:ext cx="788816" cy="50002"/>
          </a:xfrm>
          <a:prstGeom prst="flowChartTermina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6FA9483-94FD-0BF9-BD06-C6B17B288579}"/>
              </a:ext>
            </a:extLst>
          </p:cNvPr>
          <p:cNvSpPr/>
          <p:nvPr/>
        </p:nvSpPr>
        <p:spPr>
          <a:xfrm>
            <a:off x="10810818" y="1698245"/>
            <a:ext cx="175260" cy="1752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왼쪽 대괄호 19">
            <a:extLst>
              <a:ext uri="{FF2B5EF4-FFF2-40B4-BE49-F238E27FC236}">
                <a16:creationId xmlns:a16="http://schemas.microsoft.com/office/drawing/2014/main" id="{DDE36F08-C561-5CC9-AAE6-36797448597E}"/>
              </a:ext>
            </a:extLst>
          </p:cNvPr>
          <p:cNvSpPr/>
          <p:nvPr/>
        </p:nvSpPr>
        <p:spPr>
          <a:xfrm rot="16200000">
            <a:off x="10814895" y="2575488"/>
            <a:ext cx="151368" cy="530960"/>
          </a:xfrm>
          <a:prstGeom prst="leftBracket">
            <a:avLst/>
          </a:prstGeom>
          <a:ln w="38100" cmpd="sng">
            <a:solidFill>
              <a:srgbClr val="455D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38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62A6C-083B-3F10-9735-943BBBA6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4735996-B962-2BF8-0C30-0AFBE0A57517}"/>
              </a:ext>
            </a:extLst>
          </p:cNvPr>
          <p:cNvSpPr txBox="1"/>
          <p:nvPr/>
        </p:nvSpPr>
        <p:spPr>
          <a:xfrm>
            <a:off x="2263989" y="1953618"/>
            <a:ext cx="1787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300" dirty="0">
                <a:solidFill>
                  <a:schemeClr val="bg1"/>
                </a:solidFill>
              </a:rPr>
              <a:t>파이프라인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6D4105-D710-FD68-7E4C-246FA57387D7}"/>
              </a:ext>
            </a:extLst>
          </p:cNvPr>
          <p:cNvSpPr txBox="1"/>
          <p:nvPr/>
        </p:nvSpPr>
        <p:spPr>
          <a:xfrm>
            <a:off x="2584590" y="2768975"/>
            <a:ext cx="114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300" dirty="0">
                <a:solidFill>
                  <a:schemeClr val="bg1"/>
                </a:solidFill>
              </a:rPr>
              <a:t>테스트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6641C-9E88-1908-587D-BC887B02856A}"/>
              </a:ext>
            </a:extLst>
          </p:cNvPr>
          <p:cNvSpPr txBox="1"/>
          <p:nvPr/>
        </p:nvSpPr>
        <p:spPr>
          <a:xfrm>
            <a:off x="1964741" y="3584332"/>
            <a:ext cx="2386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300" dirty="0">
                <a:solidFill>
                  <a:schemeClr val="bg1"/>
                </a:solidFill>
              </a:rPr>
              <a:t>RAG</a:t>
            </a:r>
            <a:r>
              <a:rPr lang="ko-KR" altLang="en-US" sz="2800" spc="-300" dirty="0">
                <a:solidFill>
                  <a:schemeClr val="bg1"/>
                </a:solidFill>
              </a:rPr>
              <a:t> 시스템 설계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B5967-3842-32D7-96A7-01F484FCF19A}"/>
              </a:ext>
            </a:extLst>
          </p:cNvPr>
          <p:cNvSpPr txBox="1"/>
          <p:nvPr/>
        </p:nvSpPr>
        <p:spPr>
          <a:xfrm>
            <a:off x="1472050" y="468353"/>
            <a:ext cx="21291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FF4F00"/>
                </a:solidFill>
              </a:rPr>
              <a:t>a table of contents</a:t>
            </a:r>
            <a:endParaRPr lang="ko-KR" altLang="en-US" sz="2000" dirty="0">
              <a:solidFill>
                <a:srgbClr val="FF4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9FA7D-1B72-D43F-1E13-534FF86493E3}"/>
              </a:ext>
            </a:extLst>
          </p:cNvPr>
          <p:cNvSpPr txBox="1"/>
          <p:nvPr/>
        </p:nvSpPr>
        <p:spPr>
          <a:xfrm>
            <a:off x="524107" y="23996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rgbClr val="FF4F00"/>
                </a:solidFill>
              </a:rPr>
              <a:t>목차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131D3-DEDD-F936-8896-D644A06C90B5}"/>
              </a:ext>
            </a:extLst>
          </p:cNvPr>
          <p:cNvSpPr txBox="1"/>
          <p:nvPr/>
        </p:nvSpPr>
        <p:spPr>
          <a:xfrm>
            <a:off x="1045993" y="183320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4F00"/>
                </a:solidFill>
              </a:rPr>
              <a:t>2</a:t>
            </a:r>
            <a:endParaRPr lang="ko-KR" altLang="en-US" sz="4400" b="1" dirty="0">
              <a:solidFill>
                <a:srgbClr val="FF4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294B2-5C20-7B3A-3647-4D0A5CD96975}"/>
              </a:ext>
            </a:extLst>
          </p:cNvPr>
          <p:cNvSpPr txBox="1"/>
          <p:nvPr/>
        </p:nvSpPr>
        <p:spPr>
          <a:xfrm>
            <a:off x="1037978" y="2648020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4F00"/>
                </a:solidFill>
              </a:rPr>
              <a:t>3</a:t>
            </a:r>
            <a:endParaRPr lang="ko-KR" altLang="en-US" sz="4400" b="1" dirty="0">
              <a:solidFill>
                <a:srgbClr val="FF4F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77EA8F-86FC-3878-C6C9-734A42C5B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86299"/>
            <a:ext cx="6096000" cy="5316163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3FE0CC2-7404-370E-BB68-BF6D975BB9D2}"/>
              </a:ext>
            </a:extLst>
          </p:cNvPr>
          <p:cNvCxnSpPr>
            <a:cxnSpLocks/>
          </p:cNvCxnSpPr>
          <p:nvPr/>
        </p:nvCxnSpPr>
        <p:spPr>
          <a:xfrm>
            <a:off x="524107" y="846572"/>
            <a:ext cx="11667893" cy="0"/>
          </a:xfrm>
          <a:prstGeom prst="line">
            <a:avLst/>
          </a:prstGeom>
          <a:ln w="76200">
            <a:solidFill>
              <a:srgbClr val="FF4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1A50834-2B53-F4A0-28AF-6396FEE5B3EC}"/>
              </a:ext>
            </a:extLst>
          </p:cNvPr>
          <p:cNvSpPr txBox="1"/>
          <p:nvPr/>
        </p:nvSpPr>
        <p:spPr>
          <a:xfrm>
            <a:off x="1037978" y="3462838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4F00"/>
                </a:solidFill>
              </a:rPr>
              <a:t>4</a:t>
            </a:r>
            <a:endParaRPr lang="ko-KR" altLang="en-US" sz="4400" b="1" dirty="0">
              <a:solidFill>
                <a:srgbClr val="FF4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C1E4A-F0F5-7F68-84C0-051AC742D475}"/>
              </a:ext>
            </a:extLst>
          </p:cNvPr>
          <p:cNvSpPr txBox="1"/>
          <p:nvPr/>
        </p:nvSpPr>
        <p:spPr>
          <a:xfrm>
            <a:off x="2019532" y="4399689"/>
            <a:ext cx="2276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300" dirty="0">
                <a:solidFill>
                  <a:schemeClr val="bg1"/>
                </a:solidFill>
              </a:rPr>
              <a:t>TTS</a:t>
            </a:r>
            <a:r>
              <a:rPr lang="ko-KR" altLang="en-US" sz="2800" spc="-300" dirty="0">
                <a:solidFill>
                  <a:schemeClr val="bg1"/>
                </a:solidFill>
              </a:rPr>
              <a:t> 시스템 설계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0A2B3A-088F-3B6B-566A-BB6B2CA7699C}"/>
              </a:ext>
            </a:extLst>
          </p:cNvPr>
          <p:cNvSpPr txBox="1"/>
          <p:nvPr/>
        </p:nvSpPr>
        <p:spPr>
          <a:xfrm>
            <a:off x="1037978" y="4277656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4F00"/>
                </a:solidFill>
              </a:rPr>
              <a:t>5</a:t>
            </a:r>
            <a:endParaRPr lang="ko-KR" altLang="en-US" sz="4400" b="1" dirty="0">
              <a:solidFill>
                <a:srgbClr val="FF4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0DC135-A01F-8209-7673-7A7AC887BEE0}"/>
              </a:ext>
            </a:extLst>
          </p:cNvPr>
          <p:cNvSpPr txBox="1"/>
          <p:nvPr/>
        </p:nvSpPr>
        <p:spPr>
          <a:xfrm>
            <a:off x="1900108" y="6030404"/>
            <a:ext cx="2515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300" dirty="0">
                <a:solidFill>
                  <a:schemeClr val="bg1"/>
                </a:solidFill>
              </a:rPr>
              <a:t>결과 및 기대효과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E6F8B-E454-9012-C09B-3B2E4AFBE60B}"/>
              </a:ext>
            </a:extLst>
          </p:cNvPr>
          <p:cNvSpPr txBox="1"/>
          <p:nvPr/>
        </p:nvSpPr>
        <p:spPr>
          <a:xfrm>
            <a:off x="1037978" y="590729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4F00"/>
                </a:solidFill>
              </a:rPr>
              <a:t>7</a:t>
            </a:r>
            <a:endParaRPr lang="ko-KR" altLang="en-US" sz="4400" b="1" dirty="0">
              <a:solidFill>
                <a:srgbClr val="FF4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4D0B27-FB36-4610-8DA7-B6C230592AA4}"/>
              </a:ext>
            </a:extLst>
          </p:cNvPr>
          <p:cNvSpPr txBox="1"/>
          <p:nvPr/>
        </p:nvSpPr>
        <p:spPr>
          <a:xfrm>
            <a:off x="1869170" y="5215046"/>
            <a:ext cx="2577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300" dirty="0">
                <a:solidFill>
                  <a:schemeClr val="bg1"/>
                </a:solidFill>
              </a:rPr>
              <a:t>SQLite </a:t>
            </a:r>
            <a:r>
              <a:rPr lang="ko-KR" altLang="en-US" sz="2800" spc="-300" dirty="0">
                <a:solidFill>
                  <a:schemeClr val="bg1"/>
                </a:solidFill>
              </a:rPr>
              <a:t>시스템 설계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634139-6A01-E13C-46AA-12B64711A88B}"/>
              </a:ext>
            </a:extLst>
          </p:cNvPr>
          <p:cNvSpPr txBox="1"/>
          <p:nvPr/>
        </p:nvSpPr>
        <p:spPr>
          <a:xfrm>
            <a:off x="1037978" y="509247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4F00"/>
                </a:solidFill>
              </a:rPr>
              <a:t>6</a:t>
            </a:r>
            <a:endParaRPr lang="ko-KR" altLang="en-US" sz="4400" b="1" dirty="0">
              <a:solidFill>
                <a:srgbClr val="FF4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E25782-AF4B-5E53-FA23-7E7CEAF96C30}"/>
              </a:ext>
            </a:extLst>
          </p:cNvPr>
          <p:cNvSpPr txBox="1"/>
          <p:nvPr/>
        </p:nvSpPr>
        <p:spPr>
          <a:xfrm>
            <a:off x="1049055" y="101838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FF4F00"/>
                </a:solidFill>
              </a:rPr>
              <a:t>1</a:t>
            </a:r>
            <a:endParaRPr lang="ko-KR" altLang="en-US" sz="4400" b="1" dirty="0">
              <a:solidFill>
                <a:srgbClr val="FF4F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B9C760-6D40-F210-3BA7-3B54E8B5DEF2}"/>
              </a:ext>
            </a:extLst>
          </p:cNvPr>
          <p:cNvSpPr txBox="1"/>
          <p:nvPr/>
        </p:nvSpPr>
        <p:spPr>
          <a:xfrm>
            <a:off x="2082050" y="1138261"/>
            <a:ext cx="21515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spc="-300" dirty="0">
                <a:solidFill>
                  <a:schemeClr val="bg1"/>
                </a:solidFill>
              </a:rPr>
              <a:t>프로젝트 목적</a:t>
            </a:r>
          </a:p>
        </p:txBody>
      </p:sp>
    </p:spTree>
    <p:extLst>
      <p:ext uri="{BB962C8B-B14F-4D97-AF65-F5344CB8AC3E}">
        <p14:creationId xmlns:p14="http://schemas.microsoft.com/office/powerpoint/2010/main" val="216662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8F6C1-FB22-2E10-2304-A29C64ADF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그림 256">
            <a:extLst>
              <a:ext uri="{FF2B5EF4-FFF2-40B4-BE49-F238E27FC236}">
                <a16:creationId xmlns:a16="http://schemas.microsoft.com/office/drawing/2014/main" id="{4D0B40A7-BC25-0DA6-A189-446B5A0ADBB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36" y="2826171"/>
            <a:ext cx="698003" cy="698003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ED898AE3-DF8B-AE78-9EDB-6A67D333BE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99" y="1526535"/>
            <a:ext cx="586812" cy="586812"/>
          </a:xfrm>
          <a:prstGeom prst="rect">
            <a:avLst/>
          </a:prstGeom>
        </p:spPr>
      </p:pic>
      <p:sp>
        <p:nvSpPr>
          <p:cNvPr id="21" name="TextBox 18">
            <a:extLst>
              <a:ext uri="{FF2B5EF4-FFF2-40B4-BE49-F238E27FC236}">
                <a16:creationId xmlns:a16="http://schemas.microsoft.com/office/drawing/2014/main" id="{F7D871AE-2243-78E7-2500-E1C820365E02}"/>
              </a:ext>
            </a:extLst>
          </p:cNvPr>
          <p:cNvSpPr txBox="1"/>
          <p:nvPr/>
        </p:nvSpPr>
        <p:spPr>
          <a:xfrm rot="21600000">
            <a:off x="1397097" y="1548152"/>
            <a:ext cx="22225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2400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개발 배경</a:t>
            </a:r>
            <a:endParaRPr lang="en-US" altLang="ko-KR" sz="24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7205E59-CB01-7A61-E971-ACBD334277CA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5FC0D-28A0-066D-524C-42DDDB7793DC}"/>
              </a:ext>
            </a:extLst>
          </p:cNvPr>
          <p:cNvSpPr txBox="1"/>
          <p:nvPr/>
        </p:nvSpPr>
        <p:spPr>
          <a:xfrm>
            <a:off x="1037063" y="128900"/>
            <a:ext cx="5102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프로젝트 개발 배경 및 목적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B3D9BF-D76C-12FE-1180-375289F96783}"/>
              </a:ext>
            </a:extLst>
          </p:cNvPr>
          <p:cNvSpPr txBox="1"/>
          <p:nvPr/>
        </p:nvSpPr>
        <p:spPr>
          <a:xfrm>
            <a:off x="426891" y="47427"/>
            <a:ext cx="4732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1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88CA621-8DCD-0479-0134-C17290651BBB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8E1972-536C-7870-911F-660B88AD2AEB}"/>
              </a:ext>
            </a:extLst>
          </p:cNvPr>
          <p:cNvSpPr txBox="1"/>
          <p:nvPr/>
        </p:nvSpPr>
        <p:spPr>
          <a:xfrm>
            <a:off x="708741" y="950975"/>
            <a:ext cx="6060455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RFP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분석의 접근성을 극대화한 </a:t>
            </a:r>
            <a:r>
              <a:rPr lang="ko-KR" altLang="en-US" b="1" dirty="0" err="1">
                <a:solidFill>
                  <a:prstClr val="white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입찰메이트</a:t>
            </a:r>
            <a:r>
              <a:rPr lang="en-US" altLang="ko-KR" b="1" dirty="0">
                <a:solidFill>
                  <a:prstClr val="white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AI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구현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05FAFF94-E000-79B4-4A81-2DD157E3D064}"/>
              </a:ext>
            </a:extLst>
          </p:cNvPr>
          <p:cNvSpPr txBox="1"/>
          <p:nvPr/>
        </p:nvSpPr>
        <p:spPr>
          <a:xfrm rot="21600000">
            <a:off x="1333596" y="2056151"/>
            <a:ext cx="10337704" cy="36872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복잡한 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RFP </a:t>
            </a: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분석의 어려움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방대한 기업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/</a:t>
            </a: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정부 제안요청서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(RFP)</a:t>
            </a: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에서 핵심 정보를 신속하게 파악하기 어려움</a:t>
            </a:r>
            <a:endParaRPr lang="en-US" altLang="ko-KR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TextBox 21">
            <a:extLst>
              <a:ext uri="{FF2B5EF4-FFF2-40B4-BE49-F238E27FC236}">
                <a16:creationId xmlns:a16="http://schemas.microsoft.com/office/drawing/2014/main" id="{DD0C5FE3-9F2B-18B5-3A7E-F0CC070CF0D9}"/>
              </a:ext>
            </a:extLst>
          </p:cNvPr>
          <p:cNvSpPr txBox="1"/>
          <p:nvPr/>
        </p:nvSpPr>
        <p:spPr>
          <a:xfrm rot="21600000">
            <a:off x="1371697" y="2973463"/>
            <a:ext cx="3546378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2400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 솔루션</a:t>
            </a:r>
            <a:endParaRPr lang="en-US" altLang="ko-KR" sz="2400" spc="-300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4" name="TextBox 22">
            <a:extLst>
              <a:ext uri="{FF2B5EF4-FFF2-40B4-BE49-F238E27FC236}">
                <a16:creationId xmlns:a16="http://schemas.microsoft.com/office/drawing/2014/main" id="{627E6D18-5A5D-FEC4-92E5-F2BA98AC4C15}"/>
              </a:ext>
            </a:extLst>
          </p:cNvPr>
          <p:cNvSpPr txBox="1"/>
          <p:nvPr/>
        </p:nvSpPr>
        <p:spPr>
          <a:xfrm rot="21600000">
            <a:off x="1302148" y="3452796"/>
            <a:ext cx="10966052" cy="103604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85750" indent="-285750">
              <a:lnSpc>
                <a:spcPct val="116199"/>
              </a:lnSpc>
              <a:buFontTx/>
              <a:buChar char="-"/>
            </a:pP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직관적 접근성 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(Conversational UI): </a:t>
            </a: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복잡한 검색 조건 설정 없이 자연어 대화만으로 쉽게 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RFP </a:t>
            </a: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정보 탐색 가능</a:t>
            </a:r>
            <a:endParaRPr lang="en-US" altLang="ko-KR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lnSpc>
                <a:spcPct val="116199"/>
              </a:lnSpc>
              <a:buFontTx/>
              <a:buChar char="-"/>
            </a:pPr>
            <a:endParaRPr lang="en-US" altLang="ko-KR" sz="500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lnSpc>
                <a:spcPct val="116199"/>
              </a:lnSpc>
              <a:buFontTx/>
              <a:buChar char="-"/>
            </a:pP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핵심 정보 파악 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(Hybrid Retrieval): </a:t>
            </a: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키워드 검색과 벡터 검색을 결합하여 문맥과 수치적 정보 확보</a:t>
            </a:r>
            <a:endParaRPr lang="en-US" altLang="ko-KR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lnSpc>
                <a:spcPct val="116199"/>
              </a:lnSpc>
              <a:buFontTx/>
              <a:buChar char="-"/>
            </a:pPr>
            <a:endParaRPr lang="en-US" altLang="ko-KR" sz="500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lnSpc>
                <a:spcPct val="116199"/>
              </a:lnSpc>
              <a:buFontTx/>
              <a:buChar char="-"/>
            </a:pP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사용성 개선 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(Streaming TTS): </a:t>
            </a: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실시간 음성 합성 기술을 통해 시각적 피로도 해소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멀티태스킹 지원</a:t>
            </a:r>
            <a:endParaRPr lang="en-US" altLang="ko-KR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marL="285750" indent="-285750">
              <a:lnSpc>
                <a:spcPct val="116199"/>
              </a:lnSpc>
              <a:buFontTx/>
              <a:buChar char="-"/>
            </a:pPr>
            <a:endParaRPr lang="en-US" altLang="ko-KR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19973828-4DFD-254D-7420-2B57BD7F97D7}"/>
              </a:ext>
            </a:extLst>
          </p:cNvPr>
          <p:cNvSpPr txBox="1"/>
          <p:nvPr/>
        </p:nvSpPr>
        <p:spPr>
          <a:xfrm rot="21600000">
            <a:off x="1397096" y="4900951"/>
            <a:ext cx="2603403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2400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 목표</a:t>
            </a:r>
            <a:endParaRPr lang="en-US" altLang="ko-KR" sz="2400" spc="-300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6A7A48A5-B794-F327-A3B1-659E4B8BF910}"/>
              </a:ext>
            </a:extLst>
          </p:cNvPr>
          <p:cNvSpPr txBox="1"/>
          <p:nvPr/>
        </p:nvSpPr>
        <p:spPr>
          <a:xfrm rot="21600000">
            <a:off x="1333595" y="5516761"/>
            <a:ext cx="5372100" cy="35554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복잡한 입찰 공고의 분석 시간 단축 및 업무 효율성 증대</a:t>
            </a:r>
            <a:endParaRPr lang="en-US" altLang="ko-KR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CCD7E6-FF50-AB17-71C4-028A62BCC9F5}"/>
              </a:ext>
            </a:extLst>
          </p:cNvPr>
          <p:cNvSpPr txBox="1"/>
          <p:nvPr/>
        </p:nvSpPr>
        <p:spPr>
          <a:xfrm>
            <a:off x="2838450" y="1577780"/>
            <a:ext cx="2495550" cy="355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Problem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211629-F9D0-CD1D-D8C9-4C7ADA14C9C7}"/>
              </a:ext>
            </a:extLst>
          </p:cNvPr>
          <p:cNvSpPr txBox="1"/>
          <p:nvPr/>
        </p:nvSpPr>
        <p:spPr>
          <a:xfrm>
            <a:off x="2816225" y="3024289"/>
            <a:ext cx="2495550" cy="355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Solution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F62B37-F9A3-E543-B291-CD3A539C5DD4}"/>
              </a:ext>
            </a:extLst>
          </p:cNvPr>
          <p:cNvSpPr txBox="1"/>
          <p:nvPr/>
        </p:nvSpPr>
        <p:spPr>
          <a:xfrm>
            <a:off x="3113950" y="4945996"/>
            <a:ext cx="2890693" cy="355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Goal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6231F4B0-381C-4FB3-15A5-9F06D5AC4099}"/>
              </a:ext>
            </a:extLst>
          </p:cNvPr>
          <p:cNvSpPr/>
          <p:nvPr/>
        </p:nvSpPr>
        <p:spPr>
          <a:xfrm rot="18912347">
            <a:off x="7489447" y="5560422"/>
            <a:ext cx="5760000" cy="126000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51D5195-51CC-5F9C-446E-D2F151C72A0C}"/>
              </a:ext>
            </a:extLst>
          </p:cNvPr>
          <p:cNvSpPr/>
          <p:nvPr/>
        </p:nvSpPr>
        <p:spPr>
          <a:xfrm rot="18912347">
            <a:off x="8036141" y="6303138"/>
            <a:ext cx="5760000" cy="126000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59FBA92-9FDE-21F1-CE73-047F9AA17862}"/>
              </a:ext>
            </a:extLst>
          </p:cNvPr>
          <p:cNvSpPr/>
          <p:nvPr/>
        </p:nvSpPr>
        <p:spPr>
          <a:xfrm rot="18912347">
            <a:off x="10076333" y="6551463"/>
            <a:ext cx="3600000" cy="126000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0" name="그림 259">
            <a:extLst>
              <a:ext uri="{FF2B5EF4-FFF2-40B4-BE49-F238E27FC236}">
                <a16:creationId xmlns:a16="http://schemas.microsoft.com/office/drawing/2014/main" id="{BC9FC0B9-5B4A-2B4D-54FF-CD1BD8993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72" y="4903871"/>
            <a:ext cx="631729" cy="631729"/>
          </a:xfrm>
          <a:prstGeom prst="rect">
            <a:avLst/>
          </a:prstGeom>
        </p:spPr>
      </p:pic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4A836203-B037-E373-43A7-766DEB752290}"/>
              </a:ext>
            </a:extLst>
          </p:cNvPr>
          <p:cNvSpPr/>
          <p:nvPr/>
        </p:nvSpPr>
        <p:spPr>
          <a:xfrm>
            <a:off x="0" y="680223"/>
            <a:ext cx="909623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64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C1ADCB-DA13-4CF6-8F7A-D076DD1B160C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276E43-34A6-4BEC-B206-051A076653E4}"/>
              </a:ext>
            </a:extLst>
          </p:cNvPr>
          <p:cNvSpPr txBox="1"/>
          <p:nvPr/>
        </p:nvSpPr>
        <p:spPr>
          <a:xfrm>
            <a:off x="1037063" y="128900"/>
            <a:ext cx="2300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파이프라인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4AA7C7-58D3-43CE-BE28-2935F001AF57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2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259" name="Diagram 2" descr="Placeholder Timeline&#10;">
            <a:extLst>
              <a:ext uri="{FF2B5EF4-FFF2-40B4-BE49-F238E27FC236}">
                <a16:creationId xmlns:a16="http://schemas.microsoft.com/office/drawing/2014/main" id="{E553BE2B-C2D4-4B4D-B762-65C8832F4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7919049"/>
              </p:ext>
            </p:extLst>
          </p:nvPr>
        </p:nvGraphicFramePr>
        <p:xfrm>
          <a:off x="516275" y="1167152"/>
          <a:ext cx="10939605" cy="5381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D96E95E3-8F8E-FECF-7D58-AB69BED929C7}"/>
              </a:ext>
            </a:extLst>
          </p:cNvPr>
          <p:cNvGrpSpPr/>
          <p:nvPr/>
        </p:nvGrpSpPr>
        <p:grpSpPr>
          <a:xfrm>
            <a:off x="3017515" y="1790528"/>
            <a:ext cx="392341" cy="392341"/>
            <a:chOff x="5674404" y="1132566"/>
            <a:chExt cx="392341" cy="392341"/>
          </a:xfrm>
        </p:grpSpPr>
        <p:sp>
          <p:nvSpPr>
            <p:cNvPr id="10" name="눈물 방울 9">
              <a:extLst>
                <a:ext uri="{FF2B5EF4-FFF2-40B4-BE49-F238E27FC236}">
                  <a16:creationId xmlns:a16="http://schemas.microsoft.com/office/drawing/2014/main" id="{274C9971-9679-344B-DA7B-0250F0F1C6F4}"/>
                </a:ext>
              </a:extLst>
            </p:cNvPr>
            <p:cNvSpPr/>
            <p:nvPr/>
          </p:nvSpPr>
          <p:spPr>
            <a:xfrm rot="8100000">
              <a:off x="5674404" y="1132566"/>
              <a:ext cx="392341" cy="392341"/>
            </a:xfrm>
            <a:prstGeom prst="teardrop">
              <a:avLst>
                <a:gd name="adj" fmla="val 115000"/>
              </a:avLst>
            </a:prstGeom>
            <a:ln>
              <a:noFill/>
            </a:ln>
          </p:spPr>
          <p:style>
            <a:lnRef idx="2">
              <a:scrgbClr r="0" g="0" b="0"/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" name="원형: 비어 있음 11">
              <a:extLst>
                <a:ext uri="{FF2B5EF4-FFF2-40B4-BE49-F238E27FC236}">
                  <a16:creationId xmlns:a16="http://schemas.microsoft.com/office/drawing/2014/main" id="{43BA9530-93EC-150A-0E63-C8C4CBACA1E8}"/>
                </a:ext>
              </a:extLst>
            </p:cNvPr>
            <p:cNvSpPr/>
            <p:nvPr/>
          </p:nvSpPr>
          <p:spPr>
            <a:xfrm>
              <a:off x="5721165" y="1180915"/>
              <a:ext cx="305170" cy="305170"/>
            </a:xfrm>
            <a:prstGeom prst="donut">
              <a:avLst/>
            </a:prstGeom>
            <a:solidFill>
              <a:schemeClr val="lt1">
                <a:hueOff val="0"/>
                <a:satOff val="0"/>
                <a:lumOff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3D0437E-D5D3-90A1-48D7-FEB4B2D9BA59}"/>
              </a:ext>
            </a:extLst>
          </p:cNvPr>
          <p:cNvGrpSpPr/>
          <p:nvPr/>
        </p:nvGrpSpPr>
        <p:grpSpPr>
          <a:xfrm>
            <a:off x="5450375" y="1780965"/>
            <a:ext cx="392341" cy="392341"/>
            <a:chOff x="5674404" y="1132566"/>
            <a:chExt cx="392341" cy="392341"/>
          </a:xfrm>
        </p:grpSpPr>
        <p:sp>
          <p:nvSpPr>
            <p:cNvPr id="18" name="눈물 방울 17">
              <a:extLst>
                <a:ext uri="{FF2B5EF4-FFF2-40B4-BE49-F238E27FC236}">
                  <a16:creationId xmlns:a16="http://schemas.microsoft.com/office/drawing/2014/main" id="{F28B9ED0-2D7A-CE43-7E0C-FF51869A6290}"/>
                </a:ext>
              </a:extLst>
            </p:cNvPr>
            <p:cNvSpPr/>
            <p:nvPr/>
          </p:nvSpPr>
          <p:spPr>
            <a:xfrm rot="8100000">
              <a:off x="5674404" y="1132566"/>
              <a:ext cx="392341" cy="392341"/>
            </a:xfrm>
            <a:prstGeom prst="teardrop">
              <a:avLst>
                <a:gd name="adj" fmla="val 115000"/>
              </a:avLst>
            </a:prstGeom>
            <a:ln>
              <a:noFill/>
            </a:ln>
          </p:spPr>
          <p:style>
            <a:lnRef idx="2">
              <a:scrgbClr r="0" g="0" b="0"/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원형: 비어 있음 18">
              <a:extLst>
                <a:ext uri="{FF2B5EF4-FFF2-40B4-BE49-F238E27FC236}">
                  <a16:creationId xmlns:a16="http://schemas.microsoft.com/office/drawing/2014/main" id="{164DCD40-8FF8-75FA-25D6-7D30D07AA6E6}"/>
                </a:ext>
              </a:extLst>
            </p:cNvPr>
            <p:cNvSpPr/>
            <p:nvPr/>
          </p:nvSpPr>
          <p:spPr>
            <a:xfrm>
              <a:off x="5721165" y="1180915"/>
              <a:ext cx="305170" cy="305170"/>
            </a:xfrm>
            <a:prstGeom prst="donut">
              <a:avLst/>
            </a:prstGeom>
            <a:solidFill>
              <a:schemeClr val="lt1">
                <a:hueOff val="0"/>
                <a:satOff val="0"/>
                <a:lumOff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20453CF-5BF7-20E1-4007-E92901DFBF82}"/>
              </a:ext>
            </a:extLst>
          </p:cNvPr>
          <p:cNvGrpSpPr/>
          <p:nvPr/>
        </p:nvGrpSpPr>
        <p:grpSpPr>
          <a:xfrm>
            <a:off x="577657" y="1790529"/>
            <a:ext cx="392341" cy="392341"/>
            <a:chOff x="5674404" y="1132566"/>
            <a:chExt cx="392341" cy="392341"/>
          </a:xfrm>
        </p:grpSpPr>
        <p:sp>
          <p:nvSpPr>
            <p:cNvPr id="7" name="눈물 방울 6">
              <a:extLst>
                <a:ext uri="{FF2B5EF4-FFF2-40B4-BE49-F238E27FC236}">
                  <a16:creationId xmlns:a16="http://schemas.microsoft.com/office/drawing/2014/main" id="{08410254-9AE4-E03E-6943-C38484EC5C3C}"/>
                </a:ext>
              </a:extLst>
            </p:cNvPr>
            <p:cNvSpPr/>
            <p:nvPr/>
          </p:nvSpPr>
          <p:spPr>
            <a:xfrm rot="8100000">
              <a:off x="5674404" y="1132566"/>
              <a:ext cx="392341" cy="392341"/>
            </a:xfrm>
            <a:prstGeom prst="teardrop">
              <a:avLst>
                <a:gd name="adj" fmla="val 115000"/>
              </a:avLst>
            </a:prstGeom>
            <a:ln>
              <a:noFill/>
            </a:ln>
          </p:spPr>
          <p:style>
            <a:lnRef idx="2">
              <a:scrgbClr r="0" g="0" b="0"/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8" name="원형: 비어 있음 7">
              <a:extLst>
                <a:ext uri="{FF2B5EF4-FFF2-40B4-BE49-F238E27FC236}">
                  <a16:creationId xmlns:a16="http://schemas.microsoft.com/office/drawing/2014/main" id="{3642E645-CD43-3011-D333-18465EDCB47D}"/>
                </a:ext>
              </a:extLst>
            </p:cNvPr>
            <p:cNvSpPr/>
            <p:nvPr/>
          </p:nvSpPr>
          <p:spPr>
            <a:xfrm>
              <a:off x="5721165" y="1180915"/>
              <a:ext cx="305170" cy="305170"/>
            </a:xfrm>
            <a:prstGeom prst="donut">
              <a:avLst/>
            </a:prstGeom>
            <a:solidFill>
              <a:schemeClr val="lt1">
                <a:hueOff val="0"/>
                <a:satOff val="0"/>
                <a:lumOff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타원 8">
            <a:extLst>
              <a:ext uri="{FF2B5EF4-FFF2-40B4-BE49-F238E27FC236}">
                <a16:creationId xmlns:a16="http://schemas.microsoft.com/office/drawing/2014/main" id="{6054A9D6-F4A2-775D-8D03-01344B53F001}"/>
              </a:ext>
            </a:extLst>
          </p:cNvPr>
          <p:cNvSpPr/>
          <p:nvPr/>
        </p:nvSpPr>
        <p:spPr>
          <a:xfrm>
            <a:off x="1964755" y="3807593"/>
            <a:ext cx="95079" cy="100744"/>
          </a:xfrm>
          <a:prstGeom prst="ellipse">
            <a:avLst/>
          </a:prstGeom>
          <a:solidFill>
            <a:srgbClr val="D69137"/>
          </a:solidFill>
          <a:ln w="63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D69FB0E-D65C-4D7A-58C8-87802F925CC4}"/>
              </a:ext>
            </a:extLst>
          </p:cNvPr>
          <p:cNvSpPr/>
          <p:nvPr/>
        </p:nvSpPr>
        <p:spPr>
          <a:xfrm>
            <a:off x="741597" y="3807593"/>
            <a:ext cx="95079" cy="100744"/>
          </a:xfrm>
          <a:prstGeom prst="ellipse">
            <a:avLst/>
          </a:prstGeom>
          <a:solidFill>
            <a:schemeClr val="accent1">
              <a:hueOff val="0"/>
              <a:satOff val="0"/>
              <a:lumOff val="0"/>
              <a:alphaOff val="0"/>
            </a:schemeClr>
          </a:solidFill>
          <a:ln w="6350" cap="flat" cmpd="sng" algn="ctr"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5" name="원형: 비어 있음 24">
            <a:extLst>
              <a:ext uri="{FF2B5EF4-FFF2-40B4-BE49-F238E27FC236}">
                <a16:creationId xmlns:a16="http://schemas.microsoft.com/office/drawing/2014/main" id="{D2047F64-5E63-9E2A-C571-F2B9ACCB7E09}"/>
              </a:ext>
            </a:extLst>
          </p:cNvPr>
          <p:cNvSpPr/>
          <p:nvPr/>
        </p:nvSpPr>
        <p:spPr>
          <a:xfrm>
            <a:off x="1851794" y="5576068"/>
            <a:ext cx="290520" cy="290520"/>
          </a:xfrm>
          <a:prstGeom prst="donut">
            <a:avLst/>
          </a:prstGeom>
          <a:solidFill>
            <a:schemeClr val="lt1">
              <a:hueOff val="0"/>
              <a:satOff val="0"/>
              <a:lumOff val="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320FDA5-89FE-99D1-6423-DF67E17BB953}"/>
              </a:ext>
            </a:extLst>
          </p:cNvPr>
          <p:cNvGrpSpPr/>
          <p:nvPr/>
        </p:nvGrpSpPr>
        <p:grpSpPr>
          <a:xfrm>
            <a:off x="7867796" y="1785011"/>
            <a:ext cx="392341" cy="392341"/>
            <a:chOff x="5674404" y="1132566"/>
            <a:chExt cx="392341" cy="392341"/>
          </a:xfrm>
        </p:grpSpPr>
        <p:sp>
          <p:nvSpPr>
            <p:cNvPr id="27" name="눈물 방울 26">
              <a:extLst>
                <a:ext uri="{FF2B5EF4-FFF2-40B4-BE49-F238E27FC236}">
                  <a16:creationId xmlns:a16="http://schemas.microsoft.com/office/drawing/2014/main" id="{25D8A325-EF28-6E2E-D36D-7B7FF63FB880}"/>
                </a:ext>
              </a:extLst>
            </p:cNvPr>
            <p:cNvSpPr/>
            <p:nvPr/>
          </p:nvSpPr>
          <p:spPr>
            <a:xfrm rot="8100000">
              <a:off x="5674404" y="1132566"/>
              <a:ext cx="392341" cy="392341"/>
            </a:xfrm>
            <a:prstGeom prst="teardrop">
              <a:avLst>
                <a:gd name="adj" fmla="val 115000"/>
              </a:avLst>
            </a:prstGeom>
            <a:ln>
              <a:noFill/>
            </a:ln>
          </p:spPr>
          <p:style>
            <a:lnRef idx="2">
              <a:scrgbClr r="0" g="0" b="0"/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8" name="원형: 비어 있음 27">
              <a:extLst>
                <a:ext uri="{FF2B5EF4-FFF2-40B4-BE49-F238E27FC236}">
                  <a16:creationId xmlns:a16="http://schemas.microsoft.com/office/drawing/2014/main" id="{93C99B62-A7A1-5328-C529-F7449D5E0C4F}"/>
                </a:ext>
              </a:extLst>
            </p:cNvPr>
            <p:cNvSpPr/>
            <p:nvPr/>
          </p:nvSpPr>
          <p:spPr>
            <a:xfrm>
              <a:off x="5721165" y="1180915"/>
              <a:ext cx="305170" cy="305170"/>
            </a:xfrm>
            <a:prstGeom prst="donut">
              <a:avLst/>
            </a:prstGeom>
            <a:solidFill>
              <a:schemeClr val="lt1">
                <a:hueOff val="0"/>
                <a:satOff val="0"/>
                <a:lumOff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</p:grp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CE92A23-339A-5998-17B1-8B1700E01EA7}"/>
              </a:ext>
            </a:extLst>
          </p:cNvPr>
          <p:cNvCxnSpPr/>
          <p:nvPr/>
        </p:nvCxnSpPr>
        <p:spPr>
          <a:xfrm>
            <a:off x="779305" y="2256149"/>
            <a:ext cx="0" cy="1642761"/>
          </a:xfrm>
          <a:prstGeom prst="line">
            <a:avLst/>
          </a:prstGeom>
          <a:ln w="9525">
            <a:solidFill>
              <a:srgbClr val="455D7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C54EAF8-EB00-3933-7A51-5810BA7018CE}"/>
              </a:ext>
            </a:extLst>
          </p:cNvPr>
          <p:cNvCxnSpPr/>
          <p:nvPr/>
        </p:nvCxnSpPr>
        <p:spPr>
          <a:xfrm>
            <a:off x="9286864" y="3807593"/>
            <a:ext cx="0" cy="1642761"/>
          </a:xfrm>
          <a:prstGeom prst="line">
            <a:avLst/>
          </a:prstGeom>
          <a:ln w="9525">
            <a:solidFill>
              <a:srgbClr val="455D7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776799DA-124E-CC96-A989-C3D710F62387}"/>
              </a:ext>
            </a:extLst>
          </p:cNvPr>
          <p:cNvCxnSpPr/>
          <p:nvPr/>
        </p:nvCxnSpPr>
        <p:spPr>
          <a:xfrm>
            <a:off x="4424204" y="3889483"/>
            <a:ext cx="0" cy="1642761"/>
          </a:xfrm>
          <a:prstGeom prst="line">
            <a:avLst/>
          </a:prstGeom>
          <a:ln w="9525">
            <a:solidFill>
              <a:srgbClr val="455D7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630BDA43-4022-8467-4F86-3DF77117C149}"/>
              </a:ext>
            </a:extLst>
          </p:cNvPr>
          <p:cNvSpPr/>
          <p:nvPr/>
        </p:nvSpPr>
        <p:spPr>
          <a:xfrm>
            <a:off x="5637626" y="2305850"/>
            <a:ext cx="0" cy="1592961"/>
          </a:xfrm>
          <a:prstGeom prst="line">
            <a:avLst/>
          </a:prstGeom>
          <a:noFill/>
          <a:ln w="12700" cap="flat" cmpd="sng" algn="ctr"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prstDash val="dash"/>
            <a:miter lim="800000"/>
          </a:ln>
          <a:effectLst/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4D38415A-7A38-0AFC-689E-7FF158E2E1C9}"/>
              </a:ext>
            </a:extLst>
          </p:cNvPr>
          <p:cNvSpPr/>
          <p:nvPr/>
        </p:nvSpPr>
        <p:spPr>
          <a:xfrm>
            <a:off x="6852064" y="3889483"/>
            <a:ext cx="0" cy="1592961"/>
          </a:xfrm>
          <a:prstGeom prst="line">
            <a:avLst/>
          </a:prstGeom>
          <a:noFill/>
          <a:ln w="12700" cap="flat" cmpd="sng" algn="ctr">
            <a:solidFill>
              <a:srgbClr val="D69137"/>
            </a:solidFill>
            <a:prstDash val="dash"/>
            <a:miter lim="800000"/>
          </a:ln>
          <a:effectLst/>
        </p:spPr>
        <p:style>
          <a:lnRef idx="1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BE0897A-5D7E-1152-E561-A1FEB609FAA3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10499D-13E9-1E48-40D9-F047A3407DC2}"/>
              </a:ext>
            </a:extLst>
          </p:cNvPr>
          <p:cNvSpPr/>
          <p:nvPr/>
        </p:nvSpPr>
        <p:spPr>
          <a:xfrm>
            <a:off x="0" y="680223"/>
            <a:ext cx="909623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094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32AB486-02AB-35D6-42C9-47F30A8BDD87}"/>
              </a:ext>
            </a:extLst>
          </p:cNvPr>
          <p:cNvSpPr/>
          <p:nvPr/>
        </p:nvSpPr>
        <p:spPr>
          <a:xfrm>
            <a:off x="6341800" y="3858708"/>
            <a:ext cx="5507218" cy="274656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A15AD9-9A19-A769-191D-1922DEFFBCCB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31C98-889D-EE14-6203-F927BCB4B283}"/>
              </a:ext>
            </a:extLst>
          </p:cNvPr>
          <p:cNvSpPr txBox="1"/>
          <p:nvPr/>
        </p:nvSpPr>
        <p:spPr>
          <a:xfrm>
            <a:off x="1037063" y="128900"/>
            <a:ext cx="2855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문서 파싱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4F96E-FFDE-E473-3456-51EB7F7E4DE5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2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41EFC44-6D0C-BA4D-AD4F-484FB2C38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470658"/>
              </p:ext>
            </p:extLst>
          </p:nvPr>
        </p:nvGraphicFramePr>
        <p:xfrm>
          <a:off x="342982" y="1140643"/>
          <a:ext cx="2300630" cy="253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2990704419"/>
                    </a:ext>
                  </a:extLst>
                </a:gridCol>
              </a:tblGrid>
              <a:tr h="44468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원본 데이터</a:t>
                      </a:r>
                    </a:p>
                  </a:txBody>
                  <a:tcPr>
                    <a:solidFill>
                      <a:srgbClr val="FF4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865797"/>
                  </a:ext>
                </a:extLst>
              </a:tr>
              <a:tr h="2086617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- HWP 96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건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- PDF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099136"/>
                  </a:ext>
                </a:extLst>
              </a:tr>
            </a:tbl>
          </a:graphicData>
        </a:graphic>
      </p:graphicFrame>
      <p:pic>
        <p:nvPicPr>
          <p:cNvPr id="9" name="Picture 20">
            <a:extLst>
              <a:ext uri="{FF2B5EF4-FFF2-40B4-BE49-F238E27FC236}">
                <a16:creationId xmlns:a16="http://schemas.microsoft.com/office/drawing/2014/main" id="{18D8ED8D-DC54-690C-2E70-06AC2387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82" y="3934162"/>
            <a:ext cx="5420782" cy="2794939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02BD0EC-6B91-A191-548E-750553095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849500"/>
              </p:ext>
            </p:extLst>
          </p:nvPr>
        </p:nvGraphicFramePr>
        <p:xfrm>
          <a:off x="3463134" y="1140644"/>
          <a:ext cx="2300630" cy="253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2990704419"/>
                    </a:ext>
                  </a:extLst>
                </a:gridCol>
              </a:tblGrid>
              <a:tr h="4769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HWP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→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PDF</a:t>
                      </a:r>
                      <a:r>
                        <a:rPr lang="ko-KR" altLang="en-US" dirty="0"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</a:rPr>
                        <a:t>변환</a:t>
                      </a:r>
                    </a:p>
                  </a:txBody>
                  <a:tcPr>
                    <a:solidFill>
                      <a:srgbClr val="FF4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865797"/>
                  </a:ext>
                </a:extLst>
              </a:tr>
              <a:tr h="2054394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전체 문서를</a:t>
                      </a:r>
                      <a:endParaRPr lang="en-US" altLang="ko-KR" dirty="0"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PDF </a:t>
                      </a:r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단일 </a:t>
                      </a:r>
                      <a:r>
                        <a:rPr lang="ko-KR" altLang="en-US" dirty="0" err="1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포멧으로</a:t>
                      </a:r>
                      <a:r>
                        <a:rPr lang="ko-KR" altLang="en-US" dirty="0"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</a:rPr>
                        <a:t> 통일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099136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48AC15E6-DB6A-AB5D-02EA-A620DA9386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103038"/>
              </p:ext>
            </p:extLst>
          </p:nvPr>
        </p:nvGraphicFramePr>
        <p:xfrm>
          <a:off x="6583286" y="1140644"/>
          <a:ext cx="2300630" cy="253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2990704419"/>
                    </a:ext>
                  </a:extLst>
                </a:gridCol>
              </a:tblGrid>
              <a:tr h="47690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PDF →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MD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변환</a:t>
                      </a:r>
                    </a:p>
                  </a:txBody>
                  <a:tcPr>
                    <a:solidFill>
                      <a:srgbClr val="FF4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865797"/>
                  </a:ext>
                </a:extLst>
              </a:tr>
              <a:tr h="2054394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그림도 추출하기 위해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.txt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가 아닌 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.md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파일로 텍스트 추출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09913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2196A7E-2CC6-E168-8EC3-7CADDA8BF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507907"/>
              </p:ext>
            </p:extLst>
          </p:nvPr>
        </p:nvGraphicFramePr>
        <p:xfrm>
          <a:off x="9703439" y="1140643"/>
          <a:ext cx="2300630" cy="2452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630">
                  <a:extLst>
                    <a:ext uri="{9D8B030D-6E8A-4147-A177-3AD203B41FA5}">
                      <a16:colId xmlns:a16="http://schemas.microsoft.com/office/drawing/2014/main" val="2990704419"/>
                    </a:ext>
                  </a:extLst>
                </a:gridCol>
              </a:tblGrid>
              <a:tr h="46211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표</a:t>
                      </a:r>
                      <a:r>
                        <a:rPr lang="en-US" altLang="ko-KR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b="1" kern="1200" dirty="0">
                          <a:solidFill>
                            <a:schemeClr val="lt1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그림 추출</a:t>
                      </a:r>
                    </a:p>
                  </a:txBody>
                  <a:tcPr>
                    <a:solidFill>
                      <a:srgbClr val="FF4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865797"/>
                  </a:ext>
                </a:extLst>
              </a:tr>
              <a:tr h="1990678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VLM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을 활용하여 표</a:t>
                      </a: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그림을 추출</a:t>
                      </a:r>
                      <a:endParaRPr lang="en-US" altLang="ko-KR" sz="1800" kern="1200" dirty="0">
                        <a:solidFill>
                          <a:schemeClr val="dk1"/>
                        </a:solidFill>
                        <a:latin typeface="Noto Sans KR DemiLight" panose="020B0200000000000000" pitchFamily="50" charset="-127"/>
                        <a:ea typeface="Noto Sans KR DemiLight" panose="020B0200000000000000" pitchFamily="50" charset="-127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buFontTx/>
                        <a:buNone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Noto Sans KR DemiLight" panose="020B0200000000000000" pitchFamily="50" charset="-127"/>
                          <a:ea typeface="Noto Sans KR DemiLight" panose="020B0200000000000000" pitchFamily="50" charset="-127"/>
                          <a:cs typeface="+mn-cs"/>
                        </a:rPr>
                        <a:t>페이지에 형식에 맞게 삽입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099136"/>
                  </a:ext>
                </a:extLst>
              </a:tr>
            </a:tbl>
          </a:graphicData>
        </a:graphic>
      </p:graphicFrame>
      <p:sp>
        <p:nvSpPr>
          <p:cNvPr id="17" name="TextBox 8">
            <a:extLst>
              <a:ext uri="{FF2B5EF4-FFF2-40B4-BE49-F238E27FC236}">
                <a16:creationId xmlns:a16="http://schemas.microsoft.com/office/drawing/2014/main" id="{6A8FDC2A-5E2B-9CBC-60FC-0ADE3867E105}"/>
              </a:ext>
            </a:extLst>
          </p:cNvPr>
          <p:cNvSpPr txBox="1"/>
          <p:nvPr/>
        </p:nvSpPr>
        <p:spPr>
          <a:xfrm rot="21600000">
            <a:off x="2885098" y="2471697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B1D9D41A-F38E-26F2-AC75-5D02AEE93D6C}"/>
              </a:ext>
            </a:extLst>
          </p:cNvPr>
          <p:cNvSpPr txBox="1"/>
          <p:nvPr/>
        </p:nvSpPr>
        <p:spPr>
          <a:xfrm rot="21600000">
            <a:off x="6005250" y="2547897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4893A801-BFD2-AB12-DAE0-EE6F52D2F8F8}"/>
              </a:ext>
            </a:extLst>
          </p:cNvPr>
          <p:cNvSpPr txBox="1"/>
          <p:nvPr/>
        </p:nvSpPr>
        <p:spPr>
          <a:xfrm rot="21600000">
            <a:off x="9125403" y="2578377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52A5FFD5-4CC1-22BE-4D8C-7686DE996335}"/>
              </a:ext>
            </a:extLst>
          </p:cNvPr>
          <p:cNvSpPr txBox="1"/>
          <p:nvPr/>
        </p:nvSpPr>
        <p:spPr>
          <a:xfrm>
            <a:off x="7253934" y="5346388"/>
            <a:ext cx="1051865" cy="42862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1000" spc="-75" dirty="0">
                <a:solidFill>
                  <a:srgbClr val="27242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Noto Sans CJK KR Light"/>
              </a:rPr>
              <a:t>페이지 구분</a:t>
            </a:r>
            <a:endParaRPr lang="en-US" altLang="ko-KR" sz="1000" spc="-75" dirty="0">
              <a:solidFill>
                <a:srgbClr val="272424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  <a:cs typeface="Noto Sans CJK KR Light"/>
            </a:endParaRPr>
          </a:p>
          <a:p>
            <a:pPr lvl="0" algn="ctr">
              <a:lnSpc>
                <a:spcPct val="132800"/>
              </a:lnSpc>
            </a:pPr>
            <a:r>
              <a:rPr lang="en-US" sz="1000" spc="-75" dirty="0">
                <a:solidFill>
                  <a:srgbClr val="27242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Noto Sans CJK KR Light"/>
              </a:rPr>
              <a:t>(&lt; ! - - </a:t>
            </a:r>
            <a:r>
              <a:rPr lang="en-US" altLang="ko-KR" sz="1000" spc="-75" dirty="0">
                <a:solidFill>
                  <a:srgbClr val="27242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Noto Sans CJK KR Light"/>
              </a:rPr>
              <a:t>page: 1 - - &gt;</a:t>
            </a:r>
            <a:endParaRPr lang="en-US" sz="1000" spc="-75" dirty="0">
              <a:solidFill>
                <a:srgbClr val="272424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  <a:cs typeface="Noto Sans CJK KR Light"/>
            </a:endParaRP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45299715-E639-3C77-7CE5-3E21685B4C8E}"/>
              </a:ext>
            </a:extLst>
          </p:cNvPr>
          <p:cNvSpPr txBox="1"/>
          <p:nvPr/>
        </p:nvSpPr>
        <p:spPr>
          <a:xfrm>
            <a:off x="8351623" y="4640027"/>
            <a:ext cx="1547559" cy="42862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32800"/>
              </a:lnSpc>
            </a:pPr>
            <a:r>
              <a:rPr lang="ko-KR" altLang="en-US" sz="1000" spc="-75" dirty="0">
                <a:solidFill>
                  <a:srgbClr val="27242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표의 시작</a:t>
            </a:r>
            <a:endParaRPr lang="en-US" altLang="ko-KR" sz="1000" spc="-75" dirty="0">
              <a:solidFill>
                <a:srgbClr val="272424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algn="ctr">
              <a:lnSpc>
                <a:spcPct val="132800"/>
              </a:lnSpc>
            </a:pPr>
            <a:r>
              <a:rPr lang="en-US" sz="1000" spc="-75" dirty="0">
                <a:solidFill>
                  <a:srgbClr val="27242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 &lt; ! - - tables: start page 1 - -&gt;</a:t>
            </a: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96ED8425-9F5A-E52E-2D7A-45323EDEC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763393"/>
              </p:ext>
            </p:extLst>
          </p:nvPr>
        </p:nvGraphicFramePr>
        <p:xfrm>
          <a:off x="8515323" y="5194940"/>
          <a:ext cx="1220157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719">
                  <a:extLst>
                    <a:ext uri="{9D8B030D-6E8A-4147-A177-3AD203B41FA5}">
                      <a16:colId xmlns:a16="http://schemas.microsoft.com/office/drawing/2014/main" val="1199292991"/>
                    </a:ext>
                  </a:extLst>
                </a:gridCol>
                <a:gridCol w="406719">
                  <a:extLst>
                    <a:ext uri="{9D8B030D-6E8A-4147-A177-3AD203B41FA5}">
                      <a16:colId xmlns:a16="http://schemas.microsoft.com/office/drawing/2014/main" val="450354842"/>
                    </a:ext>
                  </a:extLst>
                </a:gridCol>
                <a:gridCol w="406719">
                  <a:extLst>
                    <a:ext uri="{9D8B030D-6E8A-4147-A177-3AD203B41FA5}">
                      <a16:colId xmlns:a16="http://schemas.microsoft.com/office/drawing/2014/main" val="3310683056"/>
                    </a:ext>
                  </a:extLst>
                </a:gridCol>
              </a:tblGrid>
              <a:tr h="3094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40851"/>
                  </a:ext>
                </a:extLst>
              </a:tr>
              <a:tr h="3094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757308"/>
                  </a:ext>
                </a:extLst>
              </a:tr>
            </a:tbl>
          </a:graphicData>
        </a:graphic>
      </p:graphicFrame>
      <p:pic>
        <p:nvPicPr>
          <p:cNvPr id="40" name="Picture 16">
            <a:extLst>
              <a:ext uri="{FF2B5EF4-FFF2-40B4-BE49-F238E27FC236}">
                <a16:creationId xmlns:a16="http://schemas.microsoft.com/office/drawing/2014/main" id="{53FEEF2D-580D-A876-7ECD-840E0AF2C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286" y="4036717"/>
            <a:ext cx="4969469" cy="424142"/>
          </a:xfrm>
          <a:prstGeom prst="rect">
            <a:avLst/>
          </a:prstGeom>
        </p:spPr>
      </p:pic>
      <p:sp>
        <p:nvSpPr>
          <p:cNvPr id="36" name="TextBox 16">
            <a:extLst>
              <a:ext uri="{FF2B5EF4-FFF2-40B4-BE49-F238E27FC236}">
                <a16:creationId xmlns:a16="http://schemas.microsoft.com/office/drawing/2014/main" id="{BEB41B89-2803-085C-C872-274D1FC5574A}"/>
              </a:ext>
            </a:extLst>
          </p:cNvPr>
          <p:cNvSpPr txBox="1"/>
          <p:nvPr/>
        </p:nvSpPr>
        <p:spPr>
          <a:xfrm>
            <a:off x="8321629" y="6052748"/>
            <a:ext cx="1547559" cy="42862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32800"/>
              </a:lnSpc>
            </a:pPr>
            <a:r>
              <a:rPr lang="ko-KR" altLang="en-US" sz="1000" spc="-75" dirty="0">
                <a:solidFill>
                  <a:srgbClr val="27242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표의 끝</a:t>
            </a:r>
            <a:endParaRPr lang="en-US" altLang="ko-KR" sz="1000" spc="-75" dirty="0">
              <a:solidFill>
                <a:srgbClr val="272424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algn="ctr">
              <a:lnSpc>
                <a:spcPct val="132800"/>
              </a:lnSpc>
            </a:pPr>
            <a:r>
              <a:rPr lang="en-US" sz="1000" spc="-75" dirty="0">
                <a:solidFill>
                  <a:srgbClr val="272424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( &lt; ! - - tables: end page 1 - -&gt;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A8BE4A-D4CB-FC0D-DAFE-6E41C90D0DA8}"/>
              </a:ext>
            </a:extLst>
          </p:cNvPr>
          <p:cNvSpPr txBox="1"/>
          <p:nvPr/>
        </p:nvSpPr>
        <p:spPr>
          <a:xfrm>
            <a:off x="8414636" y="4066021"/>
            <a:ext cx="1306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페이지 형식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CEEEEE4-BD49-FBC1-BCEC-786A3AD763A4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CD62B0-4FB8-4993-C1D5-A489F1968091}"/>
              </a:ext>
            </a:extLst>
          </p:cNvPr>
          <p:cNvSpPr/>
          <p:nvPr/>
        </p:nvSpPr>
        <p:spPr>
          <a:xfrm>
            <a:off x="0" y="680223"/>
            <a:ext cx="909623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475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AD0BC-461E-BD84-419F-2B32A01A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000DFD-46CE-10F8-CDE1-E8F0D55D7698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878AA-EA3F-4AE1-E83F-5E949217B094}"/>
              </a:ext>
            </a:extLst>
          </p:cNvPr>
          <p:cNvSpPr txBox="1"/>
          <p:nvPr/>
        </p:nvSpPr>
        <p:spPr>
          <a:xfrm>
            <a:off x="1037063" y="128900"/>
            <a:ext cx="2366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테스트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86FB7-05F3-090E-569E-0A7D01BAE0D4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9F070835-C811-5297-C1EA-D4F69521B4A6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836F2587-ECF7-02EC-B7BE-00D432ACB6D1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84BE8ED2-A9DD-3BD3-29A8-A1CBE51E5B3B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D08EDF0-3D01-73CE-7775-B45BA753EC71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B0BB913-2977-B693-2955-77437BA188C0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rgbClr val="FF4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332C5D01-562E-0B49-6826-63FF58086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CA272B4-575F-30F4-D443-D75B2E683B5B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10DB1F6-51DA-6395-5B15-6EF143787CFD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9A330-E20A-BA68-FFBC-C2AA899E4A98}"/>
              </a:ext>
            </a:extLst>
          </p:cNvPr>
          <p:cNvGrpSpPr/>
          <p:nvPr/>
        </p:nvGrpSpPr>
        <p:grpSpPr>
          <a:xfrm>
            <a:off x="3403416" y="1431662"/>
            <a:ext cx="2300630" cy="4016638"/>
            <a:chOff x="342981" y="1431662"/>
            <a:chExt cx="2300630" cy="4579766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BCA4FEC2-0FEF-F84C-4352-4CA5521783CC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" name="Picture 16">
              <a:extLst>
                <a:ext uri="{FF2B5EF4-FFF2-40B4-BE49-F238E27FC236}">
                  <a16:creationId xmlns:a16="http://schemas.microsoft.com/office/drawing/2014/main" id="{D18A7EFC-D070-4614-6970-705A94023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3B430F-7623-CEB8-7AC5-3399F8F393C3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2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9F45B6E-5099-26F5-FA3E-9BDBF4DA379A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D2D1EB1D-02F1-91D2-0D86-B04DF4C22B8E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CBF3A582-A333-1AF4-D8F0-045DFCFFA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13C16E7-56B2-A3D7-3DA2-485DAC636FB8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D1C0BB5-A740-DC0D-2674-F21C431D5A67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5C9E0E3E-8610-3D7D-18D6-C096A5336353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20E92D08-72C8-F99D-EFF1-651E20834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039BF2-43AF-34E7-049B-078D79408C20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D3B35C6-B52B-4258-827F-B92DF69B59FD}"/>
              </a:ext>
            </a:extLst>
          </p:cNvPr>
          <p:cNvSpPr txBox="1"/>
          <p:nvPr/>
        </p:nvSpPr>
        <p:spPr>
          <a:xfrm>
            <a:off x="437836" y="2260924"/>
            <a:ext cx="2110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sz="1800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Parsing 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VLM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 기반 이미지</a:t>
            </a:r>
            <a:r>
              <a:rPr lang="en-US" altLang="ko-KR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-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텍스트 </a:t>
            </a:r>
            <a:r>
              <a:rPr lang="ko-KR" altLang="en-US" sz="1800" kern="12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멀티모달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 추출 비교 테스트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65D583-6DE4-D790-7468-70AF03BF2DB5}"/>
              </a:ext>
            </a:extLst>
          </p:cNvPr>
          <p:cNvSpPr txBox="1"/>
          <p:nvPr/>
        </p:nvSpPr>
        <p:spPr>
          <a:xfrm>
            <a:off x="3498271" y="2260924"/>
            <a:ext cx="21109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Chunkig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Embedding 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VLM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모델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가지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,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팀원별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청킹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임베딩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모델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가지 정량 평가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102900-8E60-AB83-413D-2693EB553A7D}"/>
              </a:ext>
            </a:extLst>
          </p:cNvPr>
          <p:cNvSpPr txBox="1"/>
          <p:nvPr/>
        </p:nvSpPr>
        <p:spPr>
          <a:xfrm>
            <a:off x="6609337" y="2260924"/>
            <a:ext cx="2110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Parmeter: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Grid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Search 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이용하여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Chunk Size,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K 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값 비교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433E34-CE05-63AA-DFD1-A69F1AAB0ED9}"/>
              </a:ext>
            </a:extLst>
          </p:cNvPr>
          <p:cNvSpPr txBox="1"/>
          <p:nvPr/>
        </p:nvSpPr>
        <p:spPr>
          <a:xfrm>
            <a:off x="9720403" y="2260924"/>
            <a:ext cx="2110921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RAG: 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 품질 테스트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342900" indent="-342900" algn="l" defTabSz="914400" rtl="0" eaLnBrk="1" latinLnBrk="1" hangingPunct="1">
              <a:buFontTx/>
              <a:buAutoNum type="alphaUcPeriod"/>
            </a:pP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</a:p>
          <a:p>
            <a:pPr algn="l" defTabSz="914400" rtl="0" eaLnBrk="1" latinLnBrk="1" hangingPunct="1"/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Chrmoa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MMR(k=5)</a:t>
            </a:r>
          </a:p>
          <a:p>
            <a:pPr algn="l" defTabSz="914400" rtl="0" eaLnBrk="1" latinLnBrk="1" hangingPunct="1"/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algn="l" defTabSz="914400" rtl="0" eaLnBrk="1" latinLnBrk="1" hangingPunct="1"/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B. Dense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+ </a:t>
            </a:r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Rerank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Chrmoa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-&gt; </a:t>
            </a:r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Reranker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재정렬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C. Hybrid</a:t>
            </a: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0.6+ BM25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0.4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59D6B1-A988-E0C4-2F90-F0369B6DF735}"/>
              </a:ext>
            </a:extLst>
          </p:cNvPr>
          <p:cNvSpPr/>
          <p:nvPr/>
        </p:nvSpPr>
        <p:spPr>
          <a:xfrm>
            <a:off x="0" y="680223"/>
            <a:ext cx="909623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271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3FF7C-A204-B524-A212-5BA43E5F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A79FCDC-0250-B4FF-C6F6-8D7EF2203E6B}"/>
              </a:ext>
            </a:extLst>
          </p:cNvPr>
          <p:cNvSpPr/>
          <p:nvPr/>
        </p:nvSpPr>
        <p:spPr>
          <a:xfrm>
            <a:off x="426890" y="1574376"/>
            <a:ext cx="11536509" cy="490695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C9884-FE59-263C-12B8-7564654F0DB8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EE21E-DEA5-E40E-EFEB-E2B4D5C86DD3}"/>
              </a:ext>
            </a:extLst>
          </p:cNvPr>
          <p:cNvSpPr txBox="1"/>
          <p:nvPr/>
        </p:nvSpPr>
        <p:spPr>
          <a:xfrm>
            <a:off x="1037063" y="128900"/>
            <a:ext cx="2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 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8EE406-C0E2-6C24-80D2-EAF9D776FAC0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0EA735-5A03-0FA8-70AC-D45AA9E2FF48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3987C-6A64-806E-A0C7-93B613EFB42D}"/>
              </a:ext>
            </a:extLst>
          </p:cNvPr>
          <p:cNvSpPr txBox="1"/>
          <p:nvPr/>
        </p:nvSpPr>
        <p:spPr>
          <a:xfrm>
            <a:off x="1037063" y="128900"/>
            <a:ext cx="3785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비교 테스트 </a:t>
            </a:r>
            <a:r>
              <a:rPr lang="en-US" altLang="ko-KR" sz="3600" b="1" spc="-300" dirty="0">
                <a:solidFill>
                  <a:schemeClr val="bg1"/>
                </a:solidFill>
              </a:rPr>
              <a:t>: </a:t>
            </a:r>
            <a:r>
              <a:rPr lang="en-US" altLang="ko-KR" sz="3600" b="1" spc="-300" dirty="0" err="1">
                <a:solidFill>
                  <a:schemeClr val="bg1"/>
                </a:solidFill>
              </a:rPr>
              <a:t>Parising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5645F3CE-07C4-0161-4A9E-B0EB157D5581}"/>
              </a:ext>
            </a:extLst>
          </p:cNvPr>
          <p:cNvSpPr txBox="1"/>
          <p:nvPr/>
        </p:nvSpPr>
        <p:spPr>
          <a:xfrm>
            <a:off x="1687851" y="5839978"/>
            <a:ext cx="22606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955" b="0" i="0" u="none" strike="noStrike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Pretendard Regular"/>
              </a:rPr>
              <a:t>▲</a:t>
            </a:r>
            <a:r>
              <a:rPr lang="en-US" sz="1955" b="0" i="0" u="none" strike="noStrike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Pretendard Regular"/>
              </a:rPr>
              <a:t>원본</a:t>
            </a:r>
            <a:r>
              <a:rPr lang="en-US" sz="1955" b="0" i="0" u="none" strike="noStrike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Pretendard Regular"/>
              </a:rPr>
              <a:t> pdf </a:t>
            </a:r>
            <a:r>
              <a:rPr lang="en-US" sz="1955" b="0" i="0" u="none" strike="noStrike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Pretendard Regular"/>
              </a:rPr>
              <a:t>파일</a:t>
            </a:r>
            <a:endParaRPr lang="en-US" sz="1955" b="0" i="0" u="none" strike="noStrike" dirty="0">
              <a:solidFill>
                <a:srgbClr val="000000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  <a:cs typeface="Pretendard Regular"/>
            </a:endParaRPr>
          </a:p>
        </p:txBody>
      </p:sp>
      <p:pic>
        <p:nvPicPr>
          <p:cNvPr id="18" name="Picture 13">
            <a:extLst>
              <a:ext uri="{FF2B5EF4-FFF2-40B4-BE49-F238E27FC236}">
                <a16:creationId xmlns:a16="http://schemas.microsoft.com/office/drawing/2014/main" id="{482B58C6-AF84-9B5B-91DE-CB36EFE87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44" b="8543"/>
          <a:stretch>
            <a:fillRect/>
          </a:stretch>
        </p:blipFill>
        <p:spPr>
          <a:xfrm>
            <a:off x="5050328" y="4342006"/>
            <a:ext cx="6560647" cy="1419238"/>
          </a:xfrm>
          <a:prstGeom prst="rect">
            <a:avLst/>
          </a:prstGeom>
        </p:spPr>
      </p:pic>
      <p:pic>
        <p:nvPicPr>
          <p:cNvPr id="22" name="Picture 15">
            <a:extLst>
              <a:ext uri="{FF2B5EF4-FFF2-40B4-BE49-F238E27FC236}">
                <a16:creationId xmlns:a16="http://schemas.microsoft.com/office/drawing/2014/main" id="{0563038C-A0F2-D77E-8978-7ED801981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143" y="2418299"/>
            <a:ext cx="3788017" cy="333108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D263ED9-C107-994B-10F0-32F8F761CEDA}"/>
              </a:ext>
            </a:extLst>
          </p:cNvPr>
          <p:cNvSpPr txBox="1"/>
          <p:nvPr/>
        </p:nvSpPr>
        <p:spPr>
          <a:xfrm>
            <a:off x="708742" y="950975"/>
            <a:ext cx="8064500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VLM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기반의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이미지-텍스트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멀티모달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추출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구현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테스트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9" name="Picture 16">
            <a:extLst>
              <a:ext uri="{FF2B5EF4-FFF2-40B4-BE49-F238E27FC236}">
                <a16:creationId xmlns:a16="http://schemas.microsoft.com/office/drawing/2014/main" id="{C2900F84-093C-8DBC-B4AD-0A8922C60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544" y="1801752"/>
            <a:ext cx="10109200" cy="424142"/>
          </a:xfrm>
          <a:prstGeom prst="rect">
            <a:avLst/>
          </a:prstGeom>
        </p:spPr>
      </p:pic>
      <p:sp>
        <p:nvSpPr>
          <p:cNvPr id="27" name="TextBox 16">
            <a:extLst>
              <a:ext uri="{FF2B5EF4-FFF2-40B4-BE49-F238E27FC236}">
                <a16:creationId xmlns:a16="http://schemas.microsoft.com/office/drawing/2014/main" id="{0D8B8165-70B5-C9E5-3510-C66CE9D7255D}"/>
              </a:ext>
            </a:extLst>
          </p:cNvPr>
          <p:cNvSpPr txBox="1"/>
          <p:nvPr/>
        </p:nvSpPr>
        <p:spPr>
          <a:xfrm>
            <a:off x="2373525" y="1844309"/>
            <a:ext cx="7643239" cy="33902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Q. “</a:t>
            </a:r>
            <a:r>
              <a:rPr lang="en-US" sz="2000" b="0" i="0" u="none" strike="noStrike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자료전송시스템</a:t>
            </a:r>
            <a:r>
              <a:rPr lang="en-US" sz="2000" b="0" i="0" u="none" strike="noStrike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  </a:t>
            </a:r>
            <a:r>
              <a:rPr lang="en-US" sz="2000" b="0" i="0" u="none" strike="noStrike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고도화의</a:t>
            </a:r>
            <a:r>
              <a:rPr lang="en-US" sz="2000" b="0" i="0" u="none" strike="noStrike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 </a:t>
            </a:r>
            <a:r>
              <a:rPr lang="en-US" sz="2000" b="0" i="0" u="none" strike="noStrike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주관기관과</a:t>
            </a:r>
            <a:r>
              <a:rPr lang="en-US" sz="2000" b="0" i="0" u="none" strike="noStrike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 </a:t>
            </a:r>
            <a:r>
              <a:rPr lang="en-US" sz="2000" b="0" i="0" u="none" strike="noStrike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담당</a:t>
            </a:r>
            <a:r>
              <a:rPr lang="en-US" sz="2000" b="0" i="0" u="none" strike="noStrike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 </a:t>
            </a:r>
            <a:r>
              <a:rPr lang="en-US" sz="2000" b="0" i="0" u="none" strike="noStrike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소속</a:t>
            </a:r>
            <a:r>
              <a:rPr lang="en-US" sz="2000" b="0" i="0" u="none" strike="noStrike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 </a:t>
            </a:r>
            <a:r>
              <a:rPr lang="en-US" sz="2000" b="0" i="0" u="none" strike="noStrike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전화번호를</a:t>
            </a:r>
            <a:r>
              <a:rPr lang="en-US" sz="2000" b="0" i="0" u="none" strike="noStrike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 </a:t>
            </a:r>
            <a:r>
              <a:rPr lang="en-US" sz="2000" b="0" i="0" u="none" strike="noStrike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알려줘</a:t>
            </a:r>
            <a:r>
              <a:rPr lang="en-US" sz="2000" b="0" i="0" u="none" strike="noStrike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Regular"/>
              </a:rPr>
              <a:t>”</a:t>
            </a:r>
          </a:p>
        </p:txBody>
      </p:sp>
      <p:pic>
        <p:nvPicPr>
          <p:cNvPr id="34" name="Picture 11">
            <a:extLst>
              <a:ext uri="{FF2B5EF4-FFF2-40B4-BE49-F238E27FC236}">
                <a16:creationId xmlns:a16="http://schemas.microsoft.com/office/drawing/2014/main" id="{EC1AAC8A-291B-8514-47E8-34C9987608D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1151"/>
          <a:stretch>
            <a:fillRect/>
          </a:stretch>
        </p:blipFill>
        <p:spPr>
          <a:xfrm>
            <a:off x="5050328" y="2418299"/>
            <a:ext cx="6560647" cy="1452011"/>
          </a:xfrm>
          <a:prstGeom prst="rect">
            <a:avLst/>
          </a:prstGeom>
        </p:spPr>
      </p:pic>
      <p:sp>
        <p:nvSpPr>
          <p:cNvPr id="37" name="순서도: 수행의 시작/종료 36">
            <a:extLst>
              <a:ext uri="{FF2B5EF4-FFF2-40B4-BE49-F238E27FC236}">
                <a16:creationId xmlns:a16="http://schemas.microsoft.com/office/drawing/2014/main" id="{26571D62-81D0-7F94-C65E-4F1B0FA45BFD}"/>
              </a:ext>
            </a:extLst>
          </p:cNvPr>
          <p:cNvSpPr/>
          <p:nvPr/>
        </p:nvSpPr>
        <p:spPr>
          <a:xfrm>
            <a:off x="2373525" y="3044417"/>
            <a:ext cx="1551994" cy="287832"/>
          </a:xfrm>
          <a:prstGeom prst="flowChartTerminator">
            <a:avLst/>
          </a:prstGeom>
          <a:noFill/>
          <a:ln w="38100">
            <a:solidFill>
              <a:srgbClr val="FF4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56D4B76F-09D9-1438-F4C0-10A1359CB25E}"/>
              </a:ext>
            </a:extLst>
          </p:cNvPr>
          <p:cNvSpPr txBox="1"/>
          <p:nvPr/>
        </p:nvSpPr>
        <p:spPr>
          <a:xfrm>
            <a:off x="5227142" y="3936660"/>
            <a:ext cx="6040715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▲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텍스트</a:t>
            </a:r>
            <a:r>
              <a:rPr lang="ko-KR" altLang="en-US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만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추출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-&gt;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전화번호는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찾아내지만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정보가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왜곡</a:t>
            </a:r>
            <a:endParaRPr lang="en-US" sz="1955" dirty="0">
              <a:solidFill>
                <a:srgbClr val="000000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8A233208-46DB-378C-6486-0B4B04AF50C3}"/>
              </a:ext>
            </a:extLst>
          </p:cNvPr>
          <p:cNvSpPr txBox="1"/>
          <p:nvPr/>
        </p:nvSpPr>
        <p:spPr>
          <a:xfrm>
            <a:off x="6018678" y="5808125"/>
            <a:ext cx="4449746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▲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표와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그림까지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추출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-&gt;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정확한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955" dirty="0" err="1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정보</a:t>
            </a:r>
            <a:r>
              <a:rPr lang="en-US" altLang="ko-KR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1955" dirty="0">
                <a:solidFill>
                  <a:srgbClr val="000000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제공</a:t>
            </a:r>
            <a:endParaRPr lang="en-US" sz="1955" dirty="0">
              <a:solidFill>
                <a:srgbClr val="000000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41" name="순서도: 수행의 시작/종료 40">
            <a:extLst>
              <a:ext uri="{FF2B5EF4-FFF2-40B4-BE49-F238E27FC236}">
                <a16:creationId xmlns:a16="http://schemas.microsoft.com/office/drawing/2014/main" id="{A8228798-D10D-3064-1E9C-267E170940D6}"/>
              </a:ext>
            </a:extLst>
          </p:cNvPr>
          <p:cNvSpPr/>
          <p:nvPr/>
        </p:nvSpPr>
        <p:spPr>
          <a:xfrm>
            <a:off x="5489226" y="3126707"/>
            <a:ext cx="1635474" cy="213394"/>
          </a:xfrm>
          <a:prstGeom prst="flowChartTerminator">
            <a:avLst/>
          </a:prstGeom>
          <a:noFill/>
          <a:ln w="38100">
            <a:solidFill>
              <a:srgbClr val="FF4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순서도: 수행의 시작/종료 42">
            <a:extLst>
              <a:ext uri="{FF2B5EF4-FFF2-40B4-BE49-F238E27FC236}">
                <a16:creationId xmlns:a16="http://schemas.microsoft.com/office/drawing/2014/main" id="{E101C70D-C975-47CF-05F3-F1FCBC0B7009}"/>
              </a:ext>
            </a:extLst>
          </p:cNvPr>
          <p:cNvSpPr/>
          <p:nvPr/>
        </p:nvSpPr>
        <p:spPr>
          <a:xfrm>
            <a:off x="5469229" y="5009192"/>
            <a:ext cx="1836446" cy="274431"/>
          </a:xfrm>
          <a:prstGeom prst="flowChartTerminator">
            <a:avLst/>
          </a:prstGeom>
          <a:noFill/>
          <a:ln w="38100">
            <a:solidFill>
              <a:srgbClr val="FF4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6923A0-6940-06AC-D47E-1FA3861BF933}"/>
              </a:ext>
            </a:extLst>
          </p:cNvPr>
          <p:cNvSpPr/>
          <p:nvPr/>
        </p:nvSpPr>
        <p:spPr>
          <a:xfrm>
            <a:off x="0" y="680223"/>
            <a:ext cx="909623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9158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F4C16E-FF3F-F5D7-BC37-55A67BAF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600384-5528-F8DE-010B-3BD597389FFC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B4610-9B68-B965-2C2F-0D80A03CCFC7}"/>
              </a:ext>
            </a:extLst>
          </p:cNvPr>
          <p:cNvSpPr txBox="1"/>
          <p:nvPr/>
        </p:nvSpPr>
        <p:spPr>
          <a:xfrm>
            <a:off x="1037063" y="128900"/>
            <a:ext cx="2366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테스트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4348E-F0EE-74AB-D666-F2BD7FFE1552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38BF0141-C781-F43F-341E-82A302DB4953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6E96E37F-598B-4B54-04AE-69ADBB56293A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DA77232D-72EA-1A0D-E7C8-89CBFA87653A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71F7E63-5F4D-3E65-F417-99CB23AAD704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DB17B1A5-5882-152E-6B59-585B84544BCA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E257B653-CA98-D2C4-B5BA-B6BFCC8FF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CEAA242-8096-4FC7-3698-E9CFDC6885BA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FFCF3BE-71CD-6B41-30BF-AA48173005B2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03DB75F-570A-04ED-91F4-09D884416247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rgbClr val="FF4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0B2E400-F873-7F82-F9B1-F41E1AA3EBB8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28D83F0-C47E-15DF-B93E-709C7B94B966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5779EA16-27A0-987F-9CD4-8C0332484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19CFF8-01ED-8077-3B93-7B48EF792932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DD4AD4E-9E22-8E8A-5299-880E461C09AE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531D53D-C06F-31B5-73B4-9F696E37F729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7E4D73C2-C1B4-046A-4295-6BB921B21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C1A65F-9ED6-95B6-6662-EF69CC7D490C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182BDBC6-D748-DD59-C2A0-AEE945955216}"/>
              </a:ext>
            </a:extLst>
          </p:cNvPr>
          <p:cNvSpPr txBox="1"/>
          <p:nvPr/>
        </p:nvSpPr>
        <p:spPr>
          <a:xfrm>
            <a:off x="437836" y="2260924"/>
            <a:ext cx="2110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sz="1800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Parsing 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VLM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 기반 이미지</a:t>
            </a:r>
            <a:r>
              <a:rPr lang="en-US" altLang="ko-KR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-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텍스트 </a:t>
            </a:r>
            <a:r>
              <a:rPr lang="ko-KR" altLang="en-US" sz="1800" kern="12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멀티모달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 추출 비교 테스트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6C5EC1-E1F3-92B1-05AE-FC53BA292FB6}"/>
              </a:ext>
            </a:extLst>
          </p:cNvPr>
          <p:cNvSpPr txBox="1"/>
          <p:nvPr/>
        </p:nvSpPr>
        <p:spPr>
          <a:xfrm>
            <a:off x="3498271" y="2260924"/>
            <a:ext cx="21109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Chunkig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Embedding 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VLM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모델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가지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,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팀원별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청킹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임베딩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모델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가지 정량 평가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7628E3-957D-F5D1-D724-7AFB1EE50D0C}"/>
              </a:ext>
            </a:extLst>
          </p:cNvPr>
          <p:cNvSpPr txBox="1"/>
          <p:nvPr/>
        </p:nvSpPr>
        <p:spPr>
          <a:xfrm>
            <a:off x="6609337" y="2260924"/>
            <a:ext cx="2110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Parmeter: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Grid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Search 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이용하여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Chunk Size,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K 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값 비교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D7AF7D3F-A54F-B762-A843-163CADDE6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C28E02-82C1-D74A-B341-60BAAA180B69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4B01E-ED47-363F-311F-D950B1512EF5}"/>
              </a:ext>
            </a:extLst>
          </p:cNvPr>
          <p:cNvSpPr txBox="1"/>
          <p:nvPr/>
        </p:nvSpPr>
        <p:spPr>
          <a:xfrm>
            <a:off x="9720403" y="2260924"/>
            <a:ext cx="2110921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RAG: 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 품질 테스트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342900" indent="-342900" algn="l" defTabSz="914400" rtl="0" eaLnBrk="1" latinLnBrk="1" hangingPunct="1">
              <a:buFontTx/>
              <a:buAutoNum type="alphaUcPeriod"/>
            </a:pP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</a:p>
          <a:p>
            <a:pPr algn="l" defTabSz="914400" rtl="0" eaLnBrk="1" latinLnBrk="1" hangingPunct="1"/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Chrmoa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MMR(k=5)</a:t>
            </a:r>
          </a:p>
          <a:p>
            <a:pPr algn="l" defTabSz="914400" rtl="0" eaLnBrk="1" latinLnBrk="1" hangingPunct="1"/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algn="l" defTabSz="914400" rtl="0" eaLnBrk="1" latinLnBrk="1" hangingPunct="1"/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B. Dense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+ </a:t>
            </a:r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Rerank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Chrmoa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-&gt; </a:t>
            </a:r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Reranker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재정렬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C. Hybrid</a:t>
            </a: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0.6+ BM25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0.4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D23ABA6-3440-DFBC-F223-84DF573B7E04}"/>
              </a:ext>
            </a:extLst>
          </p:cNvPr>
          <p:cNvSpPr/>
          <p:nvPr/>
        </p:nvSpPr>
        <p:spPr>
          <a:xfrm>
            <a:off x="0" y="680223"/>
            <a:ext cx="909623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211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27580-8C8F-CD35-24FD-E46D8EB9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062E314-778D-E434-19F4-774B4DEC5571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59548" y="4454231"/>
            <a:ext cx="3744000" cy="172628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496F5A-B649-55C6-303E-87683ECC691D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57F45-81F7-06EF-EBB2-51078C7AAFF3}"/>
              </a:ext>
            </a:extLst>
          </p:cNvPr>
          <p:cNvSpPr txBox="1"/>
          <p:nvPr/>
        </p:nvSpPr>
        <p:spPr>
          <a:xfrm>
            <a:off x="1037063" y="128900"/>
            <a:ext cx="2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 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88A9B-C4C7-6975-1363-208D3D950665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147245-6453-D7BC-6E32-66D69385181D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F1CB7-B563-6118-E31B-D34D6835E30E}"/>
              </a:ext>
            </a:extLst>
          </p:cNvPr>
          <p:cNvSpPr txBox="1"/>
          <p:nvPr/>
        </p:nvSpPr>
        <p:spPr>
          <a:xfrm>
            <a:off x="1037063" y="128900"/>
            <a:ext cx="3704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비교 테스트 </a:t>
            </a:r>
            <a:r>
              <a:rPr lang="en-US" altLang="ko-KR" sz="3600" b="1" spc="-300" dirty="0">
                <a:solidFill>
                  <a:schemeClr val="bg1"/>
                </a:solidFill>
              </a:rPr>
              <a:t>: Parsing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C36ED-4A40-C903-2239-6B2CFD987904}"/>
              </a:ext>
            </a:extLst>
          </p:cNvPr>
          <p:cNvSpPr txBox="1"/>
          <p:nvPr/>
        </p:nvSpPr>
        <p:spPr>
          <a:xfrm>
            <a:off x="708742" y="950975"/>
            <a:ext cx="8064500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팀원 별 </a:t>
            </a:r>
            <a:r>
              <a:rPr lang="ko-KR" altLang="en-US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청킹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구조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X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VLM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모델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(2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 X </a:t>
            </a:r>
            <a:r>
              <a:rPr lang="ko-KR" altLang="en-US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임베딩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모델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(3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비교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F5D584-E004-F8AC-5EF9-2EA1735A601F}"/>
              </a:ext>
            </a:extLst>
          </p:cNvPr>
          <p:cNvSpPr txBox="1"/>
          <p:nvPr/>
        </p:nvSpPr>
        <p:spPr>
          <a:xfrm>
            <a:off x="2352348" y="3472870"/>
            <a:ext cx="3614400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특징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외부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의존성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없는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적응형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청킹</a:t>
            </a:r>
            <a:endParaRPr lang="en-US" altLang="ko-KR" b="1" dirty="0">
              <a:solidFill>
                <a:schemeClr val="bg1"/>
              </a:solidFill>
              <a:highlight>
                <a:srgbClr val="FF4F00"/>
              </a:highlight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D0053E-EA10-6CD3-109C-C0194978CCF9}"/>
              </a:ext>
            </a:extLst>
          </p:cNvPr>
          <p:cNvSpPr txBox="1"/>
          <p:nvPr/>
        </p:nvSpPr>
        <p:spPr>
          <a:xfrm>
            <a:off x="6184972" y="3472870"/>
            <a:ext cx="3743999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특징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ko-KR" altLang="en-US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메타데이터 주입으로 문맥 보존</a:t>
            </a:r>
            <a:endParaRPr lang="en-US" altLang="ko-KR" b="1" dirty="0">
              <a:solidFill>
                <a:schemeClr val="bg1"/>
              </a:solidFill>
              <a:highlight>
                <a:srgbClr val="FF4F00"/>
              </a:highlight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0072BF-32B4-BABC-81A7-3162BB63EC98}"/>
              </a:ext>
            </a:extLst>
          </p:cNvPr>
          <p:cNvSpPr txBox="1"/>
          <p:nvPr/>
        </p:nvSpPr>
        <p:spPr>
          <a:xfrm>
            <a:off x="391721" y="6194067"/>
            <a:ext cx="3743999" cy="70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특징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ko-KR" altLang="en-US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임베딩</a:t>
            </a:r>
            <a:r>
              <a:rPr lang="ko-KR" altLang="en-US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기반 의미 분석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</a:t>
            </a:r>
          </a:p>
          <a:p>
            <a:pPr lvl="0">
              <a:lnSpc>
                <a:spcPct val="116199"/>
              </a:lnSpc>
            </a:pPr>
            <a:r>
              <a:rPr lang="ko-KR" altLang="en-US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문장 중간 끊김 없이 분할</a:t>
            </a:r>
            <a:endParaRPr lang="en-US" altLang="ko-KR" b="1" dirty="0">
              <a:solidFill>
                <a:schemeClr val="bg1"/>
              </a:solidFill>
              <a:highlight>
                <a:srgbClr val="FF4F00"/>
              </a:highlight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8B1394-DB1B-C872-0CFD-80DE7261EC43}"/>
              </a:ext>
            </a:extLst>
          </p:cNvPr>
          <p:cNvSpPr txBox="1"/>
          <p:nvPr/>
        </p:nvSpPr>
        <p:spPr>
          <a:xfrm>
            <a:off x="4111202" y="6194067"/>
            <a:ext cx="3743999" cy="70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특징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LangChain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라이브러리 사용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</a:t>
            </a:r>
          </a:p>
          <a:p>
            <a:pPr lvl="0">
              <a:lnSpc>
                <a:spcPct val="116199"/>
              </a:lnSpc>
            </a:pPr>
            <a:r>
              <a:rPr lang="ko-KR" altLang="en-US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재귀적 분할</a:t>
            </a:r>
            <a:endParaRPr lang="en-US" altLang="ko-KR" b="1" dirty="0">
              <a:solidFill>
                <a:schemeClr val="bg1"/>
              </a:solidFill>
              <a:highlight>
                <a:srgbClr val="FF4F00"/>
              </a:highlight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679A5F-84AD-CF5F-2D5F-84AA89361481}"/>
              </a:ext>
            </a:extLst>
          </p:cNvPr>
          <p:cNvSpPr txBox="1"/>
          <p:nvPr/>
        </p:nvSpPr>
        <p:spPr>
          <a:xfrm>
            <a:off x="8080799" y="6194067"/>
            <a:ext cx="3743999" cy="70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b="1" dirty="0" err="1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특징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ko-KR" altLang="en-US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로마숫자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가나다 한글 분할</a:t>
            </a:r>
            <a:r>
              <a:rPr lang="en-US" altLang="ko-KR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</a:t>
            </a:r>
          </a:p>
          <a:p>
            <a:pPr lvl="0">
              <a:lnSpc>
                <a:spcPct val="116199"/>
              </a:lnSpc>
            </a:pPr>
            <a:r>
              <a:rPr lang="ko-KR" altLang="en-US" b="1" dirty="0">
                <a:solidFill>
                  <a:schemeClr val="bg1"/>
                </a:solidFill>
                <a:highlight>
                  <a:srgbClr val="FF4F00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테이블 감지</a:t>
            </a:r>
            <a:endParaRPr lang="en-US" altLang="ko-KR" b="1" dirty="0">
              <a:solidFill>
                <a:schemeClr val="bg1"/>
              </a:solidFill>
              <a:highlight>
                <a:srgbClr val="FF4F00"/>
              </a:highlight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EF40809-DCCB-C5CF-D6F7-E30F55DDB6A8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263720" y="1762601"/>
            <a:ext cx="3744000" cy="172800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AE8A2B42-E466-7EF5-DAED-A87ACB2F3A8F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225944" y="1762601"/>
            <a:ext cx="3422899" cy="172382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0B703476-75D4-DE53-F260-A89FED3565C6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080799" y="4454231"/>
            <a:ext cx="3744000" cy="1728000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D82EB3A-328E-78DB-BA7F-1001071BAE0E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238295" y="4454231"/>
            <a:ext cx="3744000" cy="172800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39BB9CC4-5BA8-7AEB-D1D7-96DFDBD9711F}"/>
              </a:ext>
            </a:extLst>
          </p:cNvPr>
          <p:cNvGrpSpPr/>
          <p:nvPr/>
        </p:nvGrpSpPr>
        <p:grpSpPr>
          <a:xfrm>
            <a:off x="1220726" y="4053040"/>
            <a:ext cx="1779139" cy="401191"/>
            <a:chOff x="3923161" y="1455981"/>
            <a:chExt cx="1779139" cy="401191"/>
          </a:xfrm>
        </p:grpSpPr>
        <p:pic>
          <p:nvPicPr>
            <p:cNvPr id="16" name="Picture 16">
              <a:extLst>
                <a:ext uri="{FF2B5EF4-FFF2-40B4-BE49-F238E27FC236}">
                  <a16:creationId xmlns:a16="http://schemas.microsoft.com/office/drawing/2014/main" id="{9E1555A0-DAFC-C803-539A-EB6B14CEA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23161" y="1455981"/>
              <a:ext cx="1779139" cy="38763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9A19C4-3A74-6EEA-C3B6-9F74047D5719}"/>
                </a:ext>
              </a:extLst>
            </p:cNvPr>
            <p:cNvSpPr txBox="1"/>
            <p:nvPr/>
          </p:nvSpPr>
          <p:spPr>
            <a:xfrm>
              <a:off x="4403003" y="1487840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서유종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D050E8-294F-9804-8722-E96806FC4F47}"/>
              </a:ext>
            </a:extLst>
          </p:cNvPr>
          <p:cNvGrpSpPr/>
          <p:nvPr/>
        </p:nvGrpSpPr>
        <p:grpSpPr>
          <a:xfrm>
            <a:off x="7102604" y="1363227"/>
            <a:ext cx="1779139" cy="401191"/>
            <a:chOff x="3923161" y="1455981"/>
            <a:chExt cx="1779139" cy="401191"/>
          </a:xfrm>
        </p:grpSpPr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F4FCB0DC-252B-73C2-D772-251A2D35A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23161" y="1455981"/>
              <a:ext cx="1779139" cy="38763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137F1A-A463-1FEE-85E8-08116049A890}"/>
                </a:ext>
              </a:extLst>
            </p:cNvPr>
            <p:cNvSpPr txBox="1"/>
            <p:nvPr/>
          </p:nvSpPr>
          <p:spPr>
            <a:xfrm>
              <a:off x="4403003" y="1487840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김나연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AE934EA-B67D-8074-BE22-9D609CF873FA}"/>
              </a:ext>
            </a:extLst>
          </p:cNvPr>
          <p:cNvGrpSpPr/>
          <p:nvPr/>
        </p:nvGrpSpPr>
        <p:grpSpPr>
          <a:xfrm>
            <a:off x="3181352" y="1363227"/>
            <a:ext cx="1779139" cy="401191"/>
            <a:chOff x="3923161" y="1455981"/>
            <a:chExt cx="1779139" cy="401191"/>
          </a:xfrm>
        </p:grpSpPr>
        <p:pic>
          <p:nvPicPr>
            <p:cNvPr id="27" name="Picture 16">
              <a:extLst>
                <a:ext uri="{FF2B5EF4-FFF2-40B4-BE49-F238E27FC236}">
                  <a16:creationId xmlns:a16="http://schemas.microsoft.com/office/drawing/2014/main" id="{5D98B058-97A8-E335-FEC6-E59844D3D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23161" y="1455981"/>
              <a:ext cx="1779139" cy="387639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AA8280-C8EE-C198-A74C-A4CEA67C9EEF}"/>
                </a:ext>
              </a:extLst>
            </p:cNvPr>
            <p:cNvSpPr txBox="1"/>
            <p:nvPr/>
          </p:nvSpPr>
          <p:spPr>
            <a:xfrm>
              <a:off x="4403003" y="1487840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박상진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902045D-D21D-FBD4-B90C-77B793736823}"/>
              </a:ext>
            </a:extLst>
          </p:cNvPr>
          <p:cNvGrpSpPr/>
          <p:nvPr/>
        </p:nvGrpSpPr>
        <p:grpSpPr>
          <a:xfrm>
            <a:off x="5141979" y="4053040"/>
            <a:ext cx="1779139" cy="401191"/>
            <a:chOff x="3923161" y="1455981"/>
            <a:chExt cx="1779139" cy="401191"/>
          </a:xfrm>
        </p:grpSpPr>
        <p:pic>
          <p:nvPicPr>
            <p:cNvPr id="36" name="Picture 16">
              <a:extLst>
                <a:ext uri="{FF2B5EF4-FFF2-40B4-BE49-F238E27FC236}">
                  <a16:creationId xmlns:a16="http://schemas.microsoft.com/office/drawing/2014/main" id="{9C0872B2-EA88-AB19-79F1-CBD0A7A56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23161" y="1455981"/>
              <a:ext cx="1779139" cy="387639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0DD6405-8115-678A-9156-D76F055D5292}"/>
                </a:ext>
              </a:extLst>
            </p:cNvPr>
            <p:cNvSpPr txBox="1"/>
            <p:nvPr/>
          </p:nvSpPr>
          <p:spPr>
            <a:xfrm>
              <a:off x="4403003" y="1487840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안호성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8939F5C-FC59-9D53-AF6D-47CB5FC398B9}"/>
              </a:ext>
            </a:extLst>
          </p:cNvPr>
          <p:cNvGrpSpPr/>
          <p:nvPr/>
        </p:nvGrpSpPr>
        <p:grpSpPr>
          <a:xfrm>
            <a:off x="9063230" y="4053040"/>
            <a:ext cx="1779139" cy="401191"/>
            <a:chOff x="3923161" y="1455981"/>
            <a:chExt cx="1779139" cy="401191"/>
          </a:xfrm>
        </p:grpSpPr>
        <p:pic>
          <p:nvPicPr>
            <p:cNvPr id="30" name="Picture 16">
              <a:extLst>
                <a:ext uri="{FF2B5EF4-FFF2-40B4-BE49-F238E27FC236}">
                  <a16:creationId xmlns:a16="http://schemas.microsoft.com/office/drawing/2014/main" id="{886D7A97-48ED-61A9-7063-368B6EF4C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23161" y="1455981"/>
              <a:ext cx="1779139" cy="387639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A5C0C1-5C8D-E21F-D336-CFF4F2083499}"/>
                </a:ext>
              </a:extLst>
            </p:cNvPr>
            <p:cNvSpPr txBox="1"/>
            <p:nvPr/>
          </p:nvSpPr>
          <p:spPr>
            <a:xfrm>
              <a:off x="4403003" y="1487840"/>
              <a:ext cx="819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장우정</a:t>
              </a: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2606AF5-AA39-EDE5-7314-BF300F194473}"/>
              </a:ext>
            </a:extLst>
          </p:cNvPr>
          <p:cNvSpPr/>
          <p:nvPr/>
        </p:nvSpPr>
        <p:spPr>
          <a:xfrm>
            <a:off x="0" y="680223"/>
            <a:ext cx="909623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4647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9E4D9-C3C3-7CD2-974E-64C4D5B8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B482E57-9A1B-5FB3-66B0-C40937BA4F80}"/>
              </a:ext>
            </a:extLst>
          </p:cNvPr>
          <p:cNvSpPr/>
          <p:nvPr/>
        </p:nvSpPr>
        <p:spPr>
          <a:xfrm>
            <a:off x="354321" y="1546229"/>
            <a:ext cx="2765831" cy="5272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2EAB01-247E-AAB8-686E-BBC82CCEECA1}"/>
              </a:ext>
            </a:extLst>
          </p:cNvPr>
          <p:cNvSpPr txBox="1"/>
          <p:nvPr/>
        </p:nvSpPr>
        <p:spPr>
          <a:xfrm>
            <a:off x="504423" y="2295569"/>
            <a:ext cx="2514330" cy="152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2800"/>
              </a:lnSpc>
            </a:pP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총</a:t>
            </a:r>
            <a:r>
              <a:rPr lang="en-US" altLang="ko-KR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질문 </a:t>
            </a:r>
            <a:r>
              <a:rPr lang="en-US" altLang="ko-KR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40</a:t>
            </a: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</a:t>
            </a:r>
            <a:endParaRPr lang="en-US" altLang="ko-KR" sz="500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>
              <a:lnSpc>
                <a:spcPct val="132800"/>
              </a:lnSpc>
            </a:pP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특징 </a:t>
            </a:r>
            <a:r>
              <a:rPr lang="en-US" altLang="ko-KR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기술 요건 중심</a:t>
            </a:r>
            <a:endParaRPr lang="en-US" altLang="ko-KR" sz="1800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>
              <a:lnSpc>
                <a:spcPct val="132800"/>
              </a:lnSpc>
            </a:pP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예산</a:t>
            </a: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일정</a:t>
            </a: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규격 등 정량데이터</a:t>
            </a: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  <a:endParaRPr lang="en-US" altLang="ko-KR" sz="1800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B656B35-31A4-932D-C1E0-C52D73F60785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FF76D-162C-422F-BDC0-8C10C4E1B3F6}"/>
              </a:ext>
            </a:extLst>
          </p:cNvPr>
          <p:cNvSpPr txBox="1"/>
          <p:nvPr/>
        </p:nvSpPr>
        <p:spPr>
          <a:xfrm>
            <a:off x="1037063" y="128900"/>
            <a:ext cx="2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 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E234E-EAA2-FF23-42A1-3F2D4928B948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32582E-2491-6DD5-E77E-6DDCC428332B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37935-999F-9738-6B03-76354AF44648}"/>
              </a:ext>
            </a:extLst>
          </p:cNvPr>
          <p:cNvSpPr txBox="1"/>
          <p:nvPr/>
        </p:nvSpPr>
        <p:spPr>
          <a:xfrm>
            <a:off x="1037063" y="128900"/>
            <a:ext cx="3789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비교 테스트 </a:t>
            </a:r>
            <a:r>
              <a:rPr lang="en-US" altLang="ko-KR" sz="3600" b="1" spc="-300" dirty="0">
                <a:solidFill>
                  <a:schemeClr val="bg1"/>
                </a:solidFill>
              </a:rPr>
              <a:t>: Dataset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AED26-D5F2-3994-C8D5-35A333779E71}"/>
              </a:ext>
            </a:extLst>
          </p:cNvPr>
          <p:cNvSpPr txBox="1"/>
          <p:nvPr/>
        </p:nvSpPr>
        <p:spPr>
          <a:xfrm>
            <a:off x="708742" y="950975"/>
            <a:ext cx="8064500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데이터셋 분포 및 실제 질문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806A925-EBB7-12FA-41B1-33F76721348F}"/>
              </a:ext>
            </a:extLst>
          </p:cNvPr>
          <p:cNvSpPr/>
          <p:nvPr/>
        </p:nvSpPr>
        <p:spPr>
          <a:xfrm>
            <a:off x="4787740" y="2226608"/>
            <a:ext cx="7210800" cy="628651"/>
          </a:xfrm>
          <a:prstGeom prst="rect">
            <a:avLst/>
          </a:prstGeom>
          <a:solidFill>
            <a:srgbClr val="EFD3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고려대학교 차세대 사업은 다년 사업인가요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단년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사업인가요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87D9DC4-83C8-F3F6-1484-4A2869081FBA}"/>
              </a:ext>
            </a:extLst>
          </p:cNvPr>
          <p:cNvSpPr/>
          <p:nvPr/>
        </p:nvSpPr>
        <p:spPr>
          <a:xfrm>
            <a:off x="4787740" y="1485830"/>
            <a:ext cx="7210800" cy="61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부산국제영화제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(BIFF) &amp; ACFM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온라인서비스 재개발 사업의 총 예산은 얼마인가요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790E092-294F-5179-07D1-F3079099847A}"/>
              </a:ext>
            </a:extLst>
          </p:cNvPr>
          <p:cNvSpPr/>
          <p:nvPr/>
        </p:nvSpPr>
        <p:spPr>
          <a:xfrm>
            <a:off x="4787740" y="1485831"/>
            <a:ext cx="45719" cy="6286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96974C2-8132-353D-7A4B-1D68E3A0709D}"/>
              </a:ext>
            </a:extLst>
          </p:cNvPr>
          <p:cNvSpPr/>
          <p:nvPr/>
        </p:nvSpPr>
        <p:spPr>
          <a:xfrm>
            <a:off x="4787740" y="2226608"/>
            <a:ext cx="45719" cy="628651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627D0EB-6A22-8A1F-EFAE-F5BB38361BBB}"/>
              </a:ext>
            </a:extLst>
          </p:cNvPr>
          <p:cNvSpPr/>
          <p:nvPr/>
        </p:nvSpPr>
        <p:spPr>
          <a:xfrm>
            <a:off x="4787740" y="3999249"/>
            <a:ext cx="7210800" cy="628651"/>
          </a:xfrm>
          <a:prstGeom prst="rect">
            <a:avLst/>
          </a:prstGeom>
          <a:solidFill>
            <a:srgbClr val="EFD3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인천공항운영서비스에서 기존에 사용하던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ERP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패키지의 명칭은 무엇인가요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7454870C-B56D-35F0-1A7A-912AC1A923A7}"/>
              </a:ext>
            </a:extLst>
          </p:cNvPr>
          <p:cNvSpPr/>
          <p:nvPr/>
        </p:nvSpPr>
        <p:spPr>
          <a:xfrm>
            <a:off x="4787740" y="3258471"/>
            <a:ext cx="7210800" cy="61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KUSF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사업의 추진 배경이 된 스포츠혁신위원회의 권고문 발표 날짜는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언제인가요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419D384-2732-31F7-BED3-CB785B89E84B}"/>
              </a:ext>
            </a:extLst>
          </p:cNvPr>
          <p:cNvSpPr/>
          <p:nvPr/>
        </p:nvSpPr>
        <p:spPr>
          <a:xfrm>
            <a:off x="4787740" y="3999249"/>
            <a:ext cx="45719" cy="628651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ECD74BDD-D8D1-75C8-FF7D-045E42381F86}"/>
              </a:ext>
            </a:extLst>
          </p:cNvPr>
          <p:cNvSpPr/>
          <p:nvPr/>
        </p:nvSpPr>
        <p:spPr>
          <a:xfrm>
            <a:off x="4787740" y="5771890"/>
            <a:ext cx="7210800" cy="628651"/>
          </a:xfrm>
          <a:prstGeom prst="rect">
            <a:avLst/>
          </a:prstGeom>
          <a:solidFill>
            <a:srgbClr val="EFD3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한국한의학연구원 시스템에서 연구계획 관리를 위해 등록해야 하는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기술완성수준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지표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3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가지는 무엇인가요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07FD308-3E4E-3542-50FB-31247B7D7F7B}"/>
              </a:ext>
            </a:extLst>
          </p:cNvPr>
          <p:cNvSpPr/>
          <p:nvPr/>
        </p:nvSpPr>
        <p:spPr>
          <a:xfrm>
            <a:off x="4787740" y="5031112"/>
            <a:ext cx="7210800" cy="61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예술경영지원센터 컨설팅 사업 추진의 근거가 되는 법률은 무엇인가요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  <a:endParaRPr lang="ko-KR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147162F-5F6B-4454-8DFB-B6CC85DF7E9B}"/>
              </a:ext>
            </a:extLst>
          </p:cNvPr>
          <p:cNvSpPr/>
          <p:nvPr/>
        </p:nvSpPr>
        <p:spPr>
          <a:xfrm>
            <a:off x="4787740" y="5031112"/>
            <a:ext cx="45719" cy="6286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14E9D14-51E0-4B1D-0BDE-194BB7DCEBC5}"/>
              </a:ext>
            </a:extLst>
          </p:cNvPr>
          <p:cNvSpPr/>
          <p:nvPr/>
        </p:nvSpPr>
        <p:spPr>
          <a:xfrm>
            <a:off x="4787740" y="5771890"/>
            <a:ext cx="45719" cy="628651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19D66CD-CB0D-B30B-3696-85DAF7679EF4}"/>
              </a:ext>
            </a:extLst>
          </p:cNvPr>
          <p:cNvSpPr/>
          <p:nvPr/>
        </p:nvSpPr>
        <p:spPr>
          <a:xfrm>
            <a:off x="584623" y="3757384"/>
            <a:ext cx="2305226" cy="43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Dataset2.json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CD55984-C6FB-2900-36DB-C0A514A2DE89}"/>
              </a:ext>
            </a:extLst>
          </p:cNvPr>
          <p:cNvSpPr/>
          <p:nvPr/>
        </p:nvSpPr>
        <p:spPr>
          <a:xfrm>
            <a:off x="605824" y="1723289"/>
            <a:ext cx="2305226" cy="432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Dataset1.json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12B61F-FA6E-6B5C-FC85-0899E3F581B7}"/>
              </a:ext>
            </a:extLst>
          </p:cNvPr>
          <p:cNvSpPr txBox="1"/>
          <p:nvPr/>
        </p:nvSpPr>
        <p:spPr>
          <a:xfrm>
            <a:off x="480071" y="4242723"/>
            <a:ext cx="2514330" cy="226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2800"/>
              </a:lnSpc>
            </a:pP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총</a:t>
            </a:r>
            <a:r>
              <a:rPr lang="en-US" altLang="ko-KR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질문 </a:t>
            </a:r>
            <a:r>
              <a:rPr lang="en-US" altLang="ko-KR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40</a:t>
            </a: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</a:t>
            </a:r>
            <a:endParaRPr lang="en-US" altLang="ko-KR" sz="500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>
              <a:lnSpc>
                <a:spcPct val="132800"/>
              </a:lnSpc>
            </a:pP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카테고리 </a:t>
            </a: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업무 범위 중심</a:t>
            </a:r>
            <a:endParaRPr lang="en-US" altLang="ko-KR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32800"/>
              </a:lnSpc>
            </a:pP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</a:t>
            </a: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과업 내용</a:t>
            </a: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제안 요청 사항 등 문맥 파악</a:t>
            </a: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)</a:t>
            </a:r>
          </a:p>
          <a:p>
            <a:pPr>
              <a:lnSpc>
                <a:spcPct val="132800"/>
              </a:lnSpc>
            </a:pPr>
            <a:endParaRPr lang="en-US" altLang="ko-KR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32800"/>
              </a:lnSpc>
            </a:pPr>
            <a:r>
              <a:rPr lang="ko-KR" altLang="en-US" sz="14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비슷한 난이도</a:t>
            </a:r>
            <a:endParaRPr lang="en-US" altLang="ko-KR" sz="1400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892A1517-0D74-548F-2E0C-45164391B910}"/>
              </a:ext>
            </a:extLst>
          </p:cNvPr>
          <p:cNvSpPr/>
          <p:nvPr/>
        </p:nvSpPr>
        <p:spPr>
          <a:xfrm>
            <a:off x="3663821" y="1939289"/>
            <a:ext cx="1077171" cy="403608"/>
          </a:xfrm>
          <a:prstGeom prst="roundRect">
            <a:avLst/>
          </a:prstGeom>
          <a:solidFill>
            <a:srgbClr val="FF4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EASY</a:t>
            </a:r>
            <a:endParaRPr lang="ko-KR" altLang="en-US" sz="2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4691B4A4-E80D-DA31-34FF-012187E9F515}"/>
              </a:ext>
            </a:extLst>
          </p:cNvPr>
          <p:cNvSpPr/>
          <p:nvPr/>
        </p:nvSpPr>
        <p:spPr>
          <a:xfrm>
            <a:off x="3663821" y="3719516"/>
            <a:ext cx="1077171" cy="403608"/>
          </a:xfrm>
          <a:prstGeom prst="roundRect">
            <a:avLst/>
          </a:prstGeom>
          <a:solidFill>
            <a:srgbClr val="FF4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Medium</a:t>
            </a:r>
            <a:endParaRPr lang="ko-KR" altLang="en-US" sz="16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761F1D8F-CA57-9B0C-B1D5-9D1D6145DD9E}"/>
              </a:ext>
            </a:extLst>
          </p:cNvPr>
          <p:cNvSpPr/>
          <p:nvPr/>
        </p:nvSpPr>
        <p:spPr>
          <a:xfrm>
            <a:off x="3663821" y="5503417"/>
            <a:ext cx="1077171" cy="403608"/>
          </a:xfrm>
          <a:prstGeom prst="roundRect">
            <a:avLst/>
          </a:prstGeom>
          <a:solidFill>
            <a:srgbClr val="FF4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HARD</a:t>
            </a:r>
            <a:endParaRPr lang="ko-KR" altLang="en-US" sz="20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16CABFE4-EFAD-B94C-F23D-89A429B032C5}"/>
              </a:ext>
            </a:extLst>
          </p:cNvPr>
          <p:cNvSpPr/>
          <p:nvPr/>
        </p:nvSpPr>
        <p:spPr>
          <a:xfrm>
            <a:off x="4787740" y="3258471"/>
            <a:ext cx="45719" cy="6286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9680816A-5A17-7D5A-DAEF-3EB745F55495}"/>
              </a:ext>
            </a:extLst>
          </p:cNvPr>
          <p:cNvSpPr/>
          <p:nvPr/>
        </p:nvSpPr>
        <p:spPr>
          <a:xfrm>
            <a:off x="0" y="680223"/>
            <a:ext cx="909623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graphicFrame>
        <p:nvGraphicFramePr>
          <p:cNvPr id="54" name="차트 53">
            <a:extLst>
              <a:ext uri="{FF2B5EF4-FFF2-40B4-BE49-F238E27FC236}">
                <a16:creationId xmlns:a16="http://schemas.microsoft.com/office/drawing/2014/main" id="{125044BD-52B0-D602-4150-446D3DDF03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5098384"/>
              </p:ext>
            </p:extLst>
          </p:nvPr>
        </p:nvGraphicFramePr>
        <p:xfrm>
          <a:off x="772239" y="4932987"/>
          <a:ext cx="2765831" cy="1874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11316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C702CD-2909-C982-4C69-4BA4BD142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AB824A-DAAD-B204-8186-06A828BC1E3B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78E0D-AF66-7C15-2A21-339033EC7143}"/>
              </a:ext>
            </a:extLst>
          </p:cNvPr>
          <p:cNvSpPr txBox="1"/>
          <p:nvPr/>
        </p:nvSpPr>
        <p:spPr>
          <a:xfrm>
            <a:off x="1037063" y="128900"/>
            <a:ext cx="2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 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11B6A-DBE0-B963-42FA-C5982EFD29F4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7D1B9E-BAF4-8C26-FE9C-9AE48269E735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C6A35-5F68-880C-9C82-5E6BF48C3969}"/>
              </a:ext>
            </a:extLst>
          </p:cNvPr>
          <p:cNvSpPr txBox="1"/>
          <p:nvPr/>
        </p:nvSpPr>
        <p:spPr>
          <a:xfrm>
            <a:off x="1037063" y="128900"/>
            <a:ext cx="5825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비교 테스트 </a:t>
            </a:r>
            <a:r>
              <a:rPr lang="en-US" altLang="ko-KR" sz="3600" b="1" spc="-300" dirty="0">
                <a:solidFill>
                  <a:schemeClr val="bg1"/>
                </a:solidFill>
              </a:rPr>
              <a:t>: Chunking, </a:t>
            </a:r>
            <a:r>
              <a:rPr lang="en-US" altLang="ko-KR" sz="3600" b="1" spc="-300" dirty="0" err="1">
                <a:solidFill>
                  <a:schemeClr val="bg1"/>
                </a:solidFill>
              </a:rPr>
              <a:t>Embeding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graphicFrame>
        <p:nvGraphicFramePr>
          <p:cNvPr id="29" name="차트 28">
            <a:extLst>
              <a:ext uri="{FF2B5EF4-FFF2-40B4-BE49-F238E27FC236}">
                <a16:creationId xmlns:a16="http://schemas.microsoft.com/office/drawing/2014/main" id="{1270D4B4-30BA-775A-B97D-B816D2BA9B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1348304"/>
              </p:ext>
            </p:extLst>
          </p:nvPr>
        </p:nvGraphicFramePr>
        <p:xfrm>
          <a:off x="5918200" y="1982025"/>
          <a:ext cx="6096000" cy="4131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순서도: 수행의 시작/종료 29">
            <a:extLst>
              <a:ext uri="{FF2B5EF4-FFF2-40B4-BE49-F238E27FC236}">
                <a16:creationId xmlns:a16="http://schemas.microsoft.com/office/drawing/2014/main" id="{6BE04D80-71A1-4883-2B22-1486A7448F08}"/>
              </a:ext>
            </a:extLst>
          </p:cNvPr>
          <p:cNvSpPr/>
          <p:nvPr/>
        </p:nvSpPr>
        <p:spPr>
          <a:xfrm>
            <a:off x="5918199" y="4207112"/>
            <a:ext cx="2688771" cy="277802"/>
          </a:xfrm>
          <a:prstGeom prst="flowChartTerminator">
            <a:avLst/>
          </a:prstGeom>
          <a:noFill/>
          <a:ln w="38100">
            <a:solidFill>
              <a:srgbClr val="FF4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Table 8">
            <a:extLst>
              <a:ext uri="{FF2B5EF4-FFF2-40B4-BE49-F238E27FC236}">
                <a16:creationId xmlns:a16="http://schemas.microsoft.com/office/drawing/2014/main" id="{CF11F383-BDE4-341E-BC43-03FDF0486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468282"/>
              </p:ext>
            </p:extLst>
          </p:nvPr>
        </p:nvGraphicFramePr>
        <p:xfrm>
          <a:off x="539865" y="2043758"/>
          <a:ext cx="4540135" cy="4070202"/>
        </p:xfrm>
        <a:graphic>
          <a:graphicData uri="http://schemas.openxmlformats.org/drawingml/2006/table">
            <a:tbl>
              <a:tblPr/>
              <a:tblGrid>
                <a:gridCol w="1657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36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 </a:t>
                      </a:r>
                      <a:r>
                        <a:rPr lang="en-US" sz="1600" b="1" kern="1200" dirty="0" err="1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팀원별</a:t>
                      </a:r>
                      <a:r>
                        <a:rPr 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청킹</a:t>
                      </a:r>
                      <a:r>
                        <a:rPr 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방법</a:t>
                      </a:r>
                      <a:endParaRPr lang="en-US" sz="1600" b="1" kern="1200" dirty="0">
                        <a:solidFill>
                          <a:prstClr val="white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4972" marB="54972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QWEN3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600" b="1" kern="1200" dirty="0" err="1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청크</a:t>
                      </a:r>
                      <a:r>
                        <a:rPr 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수</a:t>
                      </a:r>
                    </a:p>
                  </a:txBody>
                  <a:tcPr marL="25400" marR="25400" marT="54972" marB="549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OpenAI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600" b="1" kern="1200" dirty="0" err="1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청크</a:t>
                      </a:r>
                      <a:r>
                        <a:rPr 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수</a:t>
                      </a:r>
                    </a:p>
                  </a:txBody>
                  <a:tcPr marL="25400" marR="25400" marT="54972" marB="549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600" b="1" kern="1200" dirty="0" err="1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변화율</a:t>
                      </a:r>
                      <a:endParaRPr lang="en-US" sz="1600" b="1" kern="1200" dirty="0">
                        <a:solidFill>
                          <a:prstClr val="white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4972" marB="549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36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박상진</a:t>
                      </a: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- 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Paragraph</a:t>
                      </a:r>
                    </a:p>
                  </a:txBody>
                  <a:tcPr marL="25400" marR="25400" marT="52998" marB="529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11,764</a:t>
                      </a:r>
                    </a:p>
                  </a:txBody>
                  <a:tcPr marL="25400" marR="25400" marT="52998" marB="529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11,332</a:t>
                      </a:r>
                    </a:p>
                  </a:txBody>
                  <a:tcPr marL="25400" marR="25400" marT="52998" marB="529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-3.7%</a:t>
                      </a:r>
                    </a:p>
                  </a:txBody>
                  <a:tcPr marL="25400" marR="25400" marT="52998" marB="529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36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김나연</a:t>
                      </a: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- 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ContextEnriched</a:t>
                      </a:r>
                      <a:endParaRPr lang="en-US" sz="1400" b="1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8,622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9,248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+7.3%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36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서유종</a:t>
                      </a: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- 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Semantic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8,622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8,246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-4.4%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36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안호성 -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4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Recursive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8,622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9,248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+7.3%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36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장우정 -</a:t>
                      </a:r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-US" sz="14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Hierarchical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8,622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9,437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+9.5%</a:t>
                      </a: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CD97342D-7401-F7A1-B735-1786CD396FA5}"/>
              </a:ext>
            </a:extLst>
          </p:cNvPr>
          <p:cNvSpPr txBox="1"/>
          <p:nvPr/>
        </p:nvSpPr>
        <p:spPr>
          <a:xfrm>
            <a:off x="675517" y="6113960"/>
            <a:ext cx="4327468" cy="70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OpenAI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파싱이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7~9% 더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많은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청크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생성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16199"/>
              </a:lnSpc>
            </a:pP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-&gt;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텍스트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추출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품질이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더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세밀하다고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판단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1793D-E789-0027-EC02-CBD2C08AE67A}"/>
              </a:ext>
            </a:extLst>
          </p:cNvPr>
          <p:cNvSpPr txBox="1"/>
          <p:nvPr/>
        </p:nvSpPr>
        <p:spPr>
          <a:xfrm>
            <a:off x="708742" y="950975"/>
            <a:ext cx="8064500" cy="70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VLM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파싱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모델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: QWEN3 vs OpenAI GPT-5</a:t>
            </a:r>
          </a:p>
          <a:p>
            <a:pPr lvl="0">
              <a:lnSpc>
                <a:spcPct val="116199"/>
              </a:lnSpc>
            </a:pP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임베딩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모델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: ko-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srobeta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vs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openAI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vs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MiniLM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8C6326-1C72-4C34-1146-F098F35A7F66}"/>
              </a:ext>
            </a:extLst>
          </p:cNvPr>
          <p:cNvSpPr txBox="1"/>
          <p:nvPr/>
        </p:nvSpPr>
        <p:spPr>
          <a:xfrm>
            <a:off x="5918200" y="6113960"/>
            <a:ext cx="4165600" cy="70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가장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안정적인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ContextEnriched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+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openAI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으로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결정</a:t>
            </a:r>
            <a:endParaRPr lang="ko-KR" altLang="en-US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순서도: 수행의 시작/종료 40">
            <a:extLst>
              <a:ext uri="{FF2B5EF4-FFF2-40B4-BE49-F238E27FC236}">
                <a16:creationId xmlns:a16="http://schemas.microsoft.com/office/drawing/2014/main" id="{4CA652B1-B7B2-9FBC-69B8-FF5E63A1F1DE}"/>
              </a:ext>
            </a:extLst>
          </p:cNvPr>
          <p:cNvSpPr/>
          <p:nvPr/>
        </p:nvSpPr>
        <p:spPr>
          <a:xfrm>
            <a:off x="5918198" y="2745839"/>
            <a:ext cx="2688771" cy="277802"/>
          </a:xfrm>
          <a:prstGeom prst="flowChartTerminator">
            <a:avLst/>
          </a:prstGeom>
          <a:noFill/>
          <a:ln w="38100">
            <a:solidFill>
              <a:srgbClr val="FF4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901304-8CE1-6DC7-05FF-9213DFF34F3C}"/>
              </a:ext>
            </a:extLst>
          </p:cNvPr>
          <p:cNvSpPr/>
          <p:nvPr/>
        </p:nvSpPr>
        <p:spPr>
          <a:xfrm>
            <a:off x="0" y="680223"/>
            <a:ext cx="909623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5040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D8BD1-1C54-1DB3-4F9B-DD7322A1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FBCDD0-9BEF-BA2E-59CA-DDCB019AE384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8EB18-E8A6-947F-AFC8-492E95BED8D2}"/>
              </a:ext>
            </a:extLst>
          </p:cNvPr>
          <p:cNvSpPr txBox="1"/>
          <p:nvPr/>
        </p:nvSpPr>
        <p:spPr>
          <a:xfrm>
            <a:off x="1037063" y="128900"/>
            <a:ext cx="2366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테스트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9CCF4-924B-E828-2AC3-93ED8C924152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AB5408-992B-B371-90CF-A020373B7330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1D89F819-0503-ABF7-90A3-8B891213F4E7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AEB6D003-4238-AE93-2D37-A2BFBB8B8011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D25F14BC-A285-2F65-CB85-C36E2745762F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B380748-93EB-3B68-008F-E9089C839179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0737E7D9-7328-2FE8-6109-F8E0DBF55BB0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5C85824D-71A8-7AC6-E393-62D385089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DD5C0DE-26FC-8ABC-80AF-44A4A0F8B261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261C152-300A-35CB-2ECF-0518516895A0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34E9579-6693-D9F9-6D77-A4F5DD73B093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8D91414-7D2E-2DB3-DDDC-FF3F502C5E0F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D3F96E2-62FC-759F-46F3-D55C7B50365F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rgbClr val="FF4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6F6D4229-FF38-500E-CB77-DE2FEDD3B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838A19-EDF8-C3BE-DC4F-E48E2C301F19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55B8FFB-543E-133B-CBF2-5755EAA9B7F9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8C92A08A-543A-8E74-F993-07FA7B3981AF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124BC552-5A6B-6B9C-C69C-77DDFC07B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D2BA76-C8A9-539D-474F-91C575EEF086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099E27C-1249-FF20-F739-E61E7EE7F587}"/>
              </a:ext>
            </a:extLst>
          </p:cNvPr>
          <p:cNvSpPr txBox="1"/>
          <p:nvPr/>
        </p:nvSpPr>
        <p:spPr>
          <a:xfrm>
            <a:off x="437836" y="2260924"/>
            <a:ext cx="2110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sz="1800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Parsing 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VLM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 기반 이미지</a:t>
            </a:r>
            <a:r>
              <a:rPr lang="en-US" altLang="ko-KR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-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텍스트 </a:t>
            </a:r>
            <a:r>
              <a:rPr lang="ko-KR" altLang="en-US" sz="1800" kern="12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멀티모달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 추출 비교 테스트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A5CAA5-9DBA-666C-7039-D82E568A64A9}"/>
              </a:ext>
            </a:extLst>
          </p:cNvPr>
          <p:cNvSpPr txBox="1"/>
          <p:nvPr/>
        </p:nvSpPr>
        <p:spPr>
          <a:xfrm>
            <a:off x="3498271" y="2260924"/>
            <a:ext cx="21109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Chunkig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Embedding 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VLM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모델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가지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,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팀원별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청킹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임베딩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모델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가지 정량 평가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FDE361-6DE8-4B67-CB1D-0BB40C206F65}"/>
              </a:ext>
            </a:extLst>
          </p:cNvPr>
          <p:cNvSpPr txBox="1"/>
          <p:nvPr/>
        </p:nvSpPr>
        <p:spPr>
          <a:xfrm>
            <a:off x="6609337" y="2260924"/>
            <a:ext cx="2110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Parmeter: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Grid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Search 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이용하여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Chunk Size,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K 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값 비교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FD1395F1-4AE4-455F-24BF-2559792BD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A0FBB7-A19E-EAB5-0330-477461B5ADBC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C7016D-3936-3049-E280-98A78EEF9261}"/>
              </a:ext>
            </a:extLst>
          </p:cNvPr>
          <p:cNvSpPr txBox="1"/>
          <p:nvPr/>
        </p:nvSpPr>
        <p:spPr>
          <a:xfrm>
            <a:off x="9720403" y="2260924"/>
            <a:ext cx="2110921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RAG: 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 품질 테스트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342900" indent="-342900" algn="l" defTabSz="914400" rtl="0" eaLnBrk="1" latinLnBrk="1" hangingPunct="1">
              <a:buFontTx/>
              <a:buAutoNum type="alphaUcPeriod"/>
            </a:pP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</a:p>
          <a:p>
            <a:pPr algn="l" defTabSz="914400" rtl="0" eaLnBrk="1" latinLnBrk="1" hangingPunct="1"/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Chrmoa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MMR(k=5)</a:t>
            </a:r>
          </a:p>
          <a:p>
            <a:pPr algn="l" defTabSz="914400" rtl="0" eaLnBrk="1" latinLnBrk="1" hangingPunct="1"/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algn="l" defTabSz="914400" rtl="0" eaLnBrk="1" latinLnBrk="1" hangingPunct="1"/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B. Dense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+ </a:t>
            </a:r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Rerank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Chrmoa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-&gt; </a:t>
            </a:r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Reranker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재정렬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C. Hybrid</a:t>
            </a: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0.6+ BM25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0.4</a:t>
            </a:r>
          </a:p>
        </p:txBody>
      </p:sp>
    </p:spTree>
    <p:extLst>
      <p:ext uri="{BB962C8B-B14F-4D97-AF65-F5344CB8AC3E}">
        <p14:creationId xmlns:p14="http://schemas.microsoft.com/office/powerpoint/2010/main" val="712224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0E2EB-7EC5-B484-4788-E65EBD256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DFF240-B5F1-F339-ABF9-62FD56F7F2AB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9FD95F-8959-1BE7-A853-DF1A23C4643D}"/>
              </a:ext>
            </a:extLst>
          </p:cNvPr>
          <p:cNvSpPr txBox="1"/>
          <p:nvPr/>
        </p:nvSpPr>
        <p:spPr>
          <a:xfrm>
            <a:off x="1037063" y="128900"/>
            <a:ext cx="2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 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2762D7-F944-1986-ED47-608582246B1E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0F47ABB-C983-F7E2-C9B8-B64D7BBBF524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F575CD-8D5E-7F0A-CAF1-48C8ADE013CF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805F6-C285-180E-B654-0F056334DD6C}"/>
              </a:ext>
            </a:extLst>
          </p:cNvPr>
          <p:cNvSpPr txBox="1"/>
          <p:nvPr/>
        </p:nvSpPr>
        <p:spPr>
          <a:xfrm>
            <a:off x="1037063" y="128900"/>
            <a:ext cx="4239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비교 테스트 </a:t>
            </a:r>
            <a:r>
              <a:rPr lang="en-US" altLang="ko-KR" sz="3600" b="1" spc="-300" dirty="0">
                <a:solidFill>
                  <a:schemeClr val="bg1"/>
                </a:solidFill>
              </a:rPr>
              <a:t>: Parameter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1467EA59-73D3-8562-7A23-1B07EC42D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221074"/>
              </p:ext>
            </p:extLst>
          </p:nvPr>
        </p:nvGraphicFramePr>
        <p:xfrm>
          <a:off x="458413" y="1915318"/>
          <a:ext cx="5615858" cy="3486330"/>
        </p:xfrm>
        <a:graphic>
          <a:graphicData uri="http://schemas.openxmlformats.org/drawingml/2006/table">
            <a:tbl>
              <a:tblPr/>
              <a:tblGrid>
                <a:gridCol w="1114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5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72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100" dirty="0"/>
                        <a:t>           </a:t>
                      </a:r>
                      <a:r>
                        <a:rPr lang="en-US" sz="1100" dirty="0" err="1"/>
                        <a:t>Chunk_size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1100" dirty="0"/>
                        <a:t>K</a:t>
                      </a:r>
                    </a:p>
                  </a:txBody>
                  <a:tcPr marL="25400" marR="25400" marT="52979" marB="52979" anchor="ctr">
                    <a:lnL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>
                      <a:solidFill>
                        <a:srgbClr val="C2C2C2"/>
                      </a:solidFill>
                    </a:lnTlToB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400</a:t>
                      </a:r>
                    </a:p>
                  </a:txBody>
                  <a:tcPr marL="25400" marR="25400" marT="87515" marB="87515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700</a:t>
                      </a:r>
                    </a:p>
                  </a:txBody>
                  <a:tcPr marL="25400" marR="25400" marT="87515" marB="875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8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900</a:t>
                      </a:r>
                    </a:p>
                  </a:txBody>
                  <a:tcPr marL="25400" marR="25400" marT="87515" marB="8751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8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1200</a:t>
                      </a:r>
                    </a:p>
                  </a:txBody>
                  <a:tcPr marL="25400" marR="25400" marT="109657" marB="10965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66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8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3</a:t>
                      </a:r>
                    </a:p>
                  </a:txBody>
                  <a:tcPr marL="25400" marR="25400" marT="109657" marB="10965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52.1%</a:t>
                      </a:r>
                    </a:p>
                  </a:txBody>
                  <a:tcPr marL="25400" marR="25400" marT="85538" marB="8553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58.3%</a:t>
                      </a:r>
                    </a:p>
                  </a:txBody>
                  <a:tcPr marL="25400" marR="25400" marT="85538" marB="8553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54.8%</a:t>
                      </a:r>
                    </a:p>
                  </a:txBody>
                  <a:tcPr marL="25400" marR="25400" marT="85538" marB="8553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49.6%</a:t>
                      </a:r>
                    </a:p>
                  </a:txBody>
                  <a:tcPr marL="25400" marR="25400" marT="85538" marB="8553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66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8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5</a:t>
                      </a:r>
                    </a:p>
                  </a:txBody>
                  <a:tcPr marL="25400" marR="25400" marT="109657" marB="10965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56.0%</a:t>
                      </a:r>
                    </a:p>
                  </a:txBody>
                  <a:tcPr marL="25400" marR="25400" marT="85448" marB="8544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67.0%</a:t>
                      </a:r>
                    </a:p>
                  </a:txBody>
                  <a:tcPr marL="25400" marR="25400" marT="85448" marB="8544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60.0%</a:t>
                      </a:r>
                    </a:p>
                  </a:txBody>
                  <a:tcPr marL="25400" marR="25400" marT="85448" marB="8544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60.4%</a:t>
                      </a:r>
                    </a:p>
                  </a:txBody>
                  <a:tcPr marL="25400" marR="25400" marT="85448" marB="8544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66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8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7</a:t>
                      </a:r>
                    </a:p>
                  </a:txBody>
                  <a:tcPr marL="25400" marR="25400" marT="109657" marB="10965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60.0%</a:t>
                      </a:r>
                    </a:p>
                  </a:txBody>
                  <a:tcPr marL="25400" marR="25400" marT="85448" marB="8544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71.7%</a:t>
                      </a:r>
                    </a:p>
                  </a:txBody>
                  <a:tcPr marL="25400" marR="25400" marT="85448" marB="8544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68.0%</a:t>
                      </a:r>
                    </a:p>
                  </a:txBody>
                  <a:tcPr marL="25400" marR="25400" marT="85448" marB="8544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66.5%</a:t>
                      </a:r>
                    </a:p>
                  </a:txBody>
                  <a:tcPr marL="25400" marR="25400" marT="85448" marB="8544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66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sz="28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10</a:t>
                      </a:r>
                    </a:p>
                  </a:txBody>
                  <a:tcPr marL="25400" marR="25400" marT="109657" marB="10965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67.0%</a:t>
                      </a:r>
                    </a:p>
                  </a:txBody>
                  <a:tcPr marL="25400" marR="25400" marT="85448" marB="8544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1"/>
                          </a:solidFill>
                          <a:highlight>
                            <a:srgbClr val="FF4F00"/>
                          </a:highlight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72.7%</a:t>
                      </a:r>
                    </a:p>
                  </a:txBody>
                  <a:tcPr marL="25400" marR="25400" marT="85448" marB="8544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70.5%</a:t>
                      </a:r>
                    </a:p>
                  </a:txBody>
                  <a:tcPr marL="25400" marR="25400" marT="85448" marB="8544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sz="20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71.4%</a:t>
                      </a:r>
                    </a:p>
                  </a:txBody>
                  <a:tcPr marL="25400" marR="25400" marT="85448" marB="85448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70B6F91-F22E-5F25-11EA-CF2ED00BD7AC}"/>
              </a:ext>
            </a:extLst>
          </p:cNvPr>
          <p:cNvSpPr/>
          <p:nvPr/>
        </p:nvSpPr>
        <p:spPr>
          <a:xfrm>
            <a:off x="6367200" y="1168400"/>
            <a:ext cx="5507218" cy="4978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Picture 16">
            <a:extLst>
              <a:ext uri="{FF2B5EF4-FFF2-40B4-BE49-F238E27FC236}">
                <a16:creationId xmlns:a16="http://schemas.microsoft.com/office/drawing/2014/main" id="{6929A755-A119-77CF-5A62-6C68737CA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073" y="1410219"/>
            <a:ext cx="4969469" cy="42414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07A1EE9-7B5C-77A8-16FB-39186FA97369}"/>
              </a:ext>
            </a:extLst>
          </p:cNvPr>
          <p:cNvSpPr txBox="1"/>
          <p:nvPr/>
        </p:nvSpPr>
        <p:spPr>
          <a:xfrm>
            <a:off x="8347028" y="1437624"/>
            <a:ext cx="1547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QA 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포맷 예시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CF16FE75-8692-6AFE-A00F-306889C1F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212000"/>
              </p:ext>
            </p:extLst>
          </p:nvPr>
        </p:nvGraphicFramePr>
        <p:xfrm>
          <a:off x="6636073" y="1915318"/>
          <a:ext cx="4969469" cy="4026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9626">
                  <a:extLst>
                    <a:ext uri="{9D8B030D-6E8A-4147-A177-3AD203B41FA5}">
                      <a16:colId xmlns:a16="http://schemas.microsoft.com/office/drawing/2014/main" val="1768919583"/>
                    </a:ext>
                  </a:extLst>
                </a:gridCol>
                <a:gridCol w="2829843">
                  <a:extLst>
                    <a:ext uri="{9D8B030D-6E8A-4147-A177-3AD203B41FA5}">
                      <a16:colId xmlns:a16="http://schemas.microsoft.com/office/drawing/2014/main" val="1104292365"/>
                    </a:ext>
                  </a:extLst>
                </a:gridCol>
              </a:tblGrid>
              <a:tr h="3763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필드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8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(q001)</a:t>
                      </a:r>
                      <a:endParaRPr lang="ko-KR" altLang="en-US" sz="1800" b="1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08160"/>
                  </a:ext>
                </a:extLst>
              </a:tr>
              <a:tr h="3763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QID (</a:t>
                      </a:r>
                      <a:r>
                        <a:rPr lang="ko-KR" altLang="en-US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문항 식별</a:t>
                      </a:r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)</a:t>
                      </a:r>
                      <a:endParaRPr lang="ko-KR" altLang="en-US" sz="1600" b="1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q001</a:t>
                      </a:r>
                      <a:endParaRPr lang="ko-KR" altLang="en-US" sz="1600" b="0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229167"/>
                  </a:ext>
                </a:extLst>
              </a:tr>
              <a:tr h="8025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Question (</a:t>
                      </a:r>
                      <a:r>
                        <a:rPr lang="ko-KR" altLang="en-US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검색 질의</a:t>
                      </a:r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)</a:t>
                      </a:r>
                      <a:endParaRPr lang="ko-KR" altLang="en-US" sz="1600" b="1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부산국제영화제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(BIFF) &amp; ACFM </a:t>
                      </a: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온라인서비스 재개발 사업의 총 예산은 얼마인가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?</a:t>
                      </a:r>
                      <a:endParaRPr lang="ko-KR" altLang="en-US" sz="1600" b="0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175763"/>
                  </a:ext>
                </a:extLst>
              </a:tr>
              <a:tr h="3763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Gold(</a:t>
                      </a:r>
                      <a:r>
                        <a:rPr lang="en-US" altLang="ko-KR" sz="1600" b="1" kern="1200" dirty="0" err="1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source_docs</a:t>
                      </a:r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)</a:t>
                      </a:r>
                      <a:endParaRPr lang="ko-KR" altLang="en-US" sz="1600" b="1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사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부산국제영화제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_2024</a:t>
                      </a: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년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..</a:t>
                      </a:r>
                      <a:endParaRPr lang="ko-KR" altLang="en-US" sz="1600" b="0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293253"/>
                  </a:ext>
                </a:extLst>
              </a:tr>
              <a:tr h="3763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Gold (</a:t>
                      </a:r>
                      <a:r>
                        <a:rPr lang="en-US" altLang="ko-KR" sz="1600" b="1" kern="1200" dirty="0" err="1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chunk_id</a:t>
                      </a:r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)</a:t>
                      </a:r>
                      <a:endParaRPr lang="ko-KR" altLang="en-US" sz="1600" b="1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…:chunk1</a:t>
                      </a:r>
                      <a:endParaRPr lang="ko-KR" altLang="en-US" sz="1600" b="0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907954"/>
                  </a:ext>
                </a:extLst>
              </a:tr>
              <a:tr h="7424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Gold (answer)</a:t>
                      </a:r>
                      <a:endParaRPr lang="ko-KR" altLang="en-US" sz="1600" b="1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총 사업예산은 금 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243,000,000 </a:t>
                      </a: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원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부가세포함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입니다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.</a:t>
                      </a:r>
                      <a:endParaRPr lang="ko-KR" altLang="en-US" sz="1600" b="0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7931458"/>
                  </a:ext>
                </a:extLst>
              </a:tr>
              <a:tr h="56476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kern="1200" dirty="0" err="1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Relevant_keywords</a:t>
                      </a:r>
                      <a:endParaRPr lang="ko-KR" altLang="en-US" sz="1600" b="1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[“243,000,000”, “</a:t>
                      </a: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예산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”, “</a:t>
                      </a:r>
                      <a:r>
                        <a:rPr lang="ko-KR" altLang="en-US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부과세</a:t>
                      </a:r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“]</a:t>
                      </a:r>
                      <a:endParaRPr lang="ko-KR" altLang="en-US" sz="1600" b="0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330274"/>
                  </a:ext>
                </a:extLst>
              </a:tr>
              <a:tr h="3763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difficulty</a:t>
                      </a:r>
                      <a:endParaRPr lang="ko-KR" altLang="en-US" sz="1600" b="1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kern="1200" dirty="0">
                          <a:solidFill>
                            <a:srgbClr val="FF4F00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Easy</a:t>
                      </a:r>
                      <a:endParaRPr lang="ko-KR" altLang="en-US" sz="1600" b="0" kern="1200" dirty="0">
                        <a:solidFill>
                          <a:srgbClr val="FF4F00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01658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176EA75F-198C-BFB6-8440-A844A704685A}"/>
              </a:ext>
            </a:extLst>
          </p:cNvPr>
          <p:cNvSpPr txBox="1"/>
          <p:nvPr/>
        </p:nvSpPr>
        <p:spPr>
          <a:xfrm>
            <a:off x="317582" y="5516780"/>
            <a:ext cx="5778418" cy="92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Keyword Recall </a:t>
            </a:r>
            <a:r>
              <a:rPr lang="ko-KR" altLang="en-US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조합</a:t>
            </a: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</a:t>
            </a:r>
            <a:r>
              <a:rPr lang="en-US" altLang="ko-KR" sz="1600" b="1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chunk_size</a:t>
            </a: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= 700, k=10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Keyword Recall = 72.7%</a:t>
            </a:r>
          </a:p>
          <a:p>
            <a:pPr lvl="0" algn="ctr">
              <a:lnSpc>
                <a:spcPct val="116199"/>
              </a:lnSpc>
            </a:pP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 Hit Rate = 92.5%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7762E-4813-DBA3-565A-CF3B51E8A5B2}"/>
              </a:ext>
            </a:extLst>
          </p:cNvPr>
          <p:cNvSpPr txBox="1"/>
          <p:nvPr/>
        </p:nvSpPr>
        <p:spPr>
          <a:xfrm>
            <a:off x="708742" y="950975"/>
            <a:ext cx="8064500" cy="70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ko-KR" altLang="en-US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청킹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사이즈와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K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값을 비교하여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Recall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값 비교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16199"/>
              </a:lnSpc>
            </a:pPr>
            <a:r>
              <a:rPr lang="en-US" altLang="ko-KR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데이터셋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 data/dataset1.json, dataset2.json</a:t>
            </a:r>
          </a:p>
        </p:txBody>
      </p:sp>
    </p:spTree>
    <p:extLst>
      <p:ext uri="{BB962C8B-B14F-4D97-AF65-F5344CB8AC3E}">
        <p14:creationId xmlns:p14="http://schemas.microsoft.com/office/powerpoint/2010/main" val="66163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964D93-5812-9E6E-10BB-432D6E973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36E459-A4EE-34D2-1D10-E25CE990959D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6D56F-D55C-4335-60B7-D9C270D20D8C}"/>
              </a:ext>
            </a:extLst>
          </p:cNvPr>
          <p:cNvSpPr txBox="1"/>
          <p:nvPr/>
        </p:nvSpPr>
        <p:spPr>
          <a:xfrm>
            <a:off x="1037063" y="128900"/>
            <a:ext cx="23663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테스트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30C4A8-C233-DBA1-B3E4-037D077BD260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819EFA2-1500-EA18-0511-64F12AE500F2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5C8A691F-3035-D75D-E2B9-6636CA17C04E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E5ED6268-A6A5-DDFA-B1AB-3C69046A95FD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A229B1D6-7E39-D07F-CBFC-7E7B20B1637E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7394E1E-E453-E9E4-AF12-23D54B57CF63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174187A1-135C-28F2-790E-E298627C643C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15CD9129-9740-8B9B-0E62-8647CA354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3DC8824-63C1-C6D0-DBB2-BBCFB592213F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65A28C6-670B-E5B0-ED69-94DA19FB899D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DEDAAF7-AB9C-0490-2CE8-213D74858065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4DACAD8-5BEC-14B4-2683-0C184162B9AD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1143E97-E582-6BF2-7FEE-2A6CC165D67F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FAFD705A-38AE-EA73-12F0-37B5192F5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6097551-7130-E154-EB95-2980620DEBF7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46D64B8-A55A-7E56-EC83-312E52756755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BA67AC51-1CEA-B854-6FE0-5C5E23DDA9FE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rgbClr val="FF4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2A56229E-8629-EEA4-58B1-6DA5652B6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110B5E-190C-006F-2C22-4C54E5D1FD06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F9C628F-1953-8057-EDE4-512F8ACE98D7}"/>
              </a:ext>
            </a:extLst>
          </p:cNvPr>
          <p:cNvSpPr txBox="1"/>
          <p:nvPr/>
        </p:nvSpPr>
        <p:spPr>
          <a:xfrm>
            <a:off x="437836" y="2260924"/>
            <a:ext cx="2110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sz="1800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Parsing 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VLM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 기반 이미지</a:t>
            </a:r>
            <a:r>
              <a:rPr lang="en-US" altLang="ko-KR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-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텍스트 </a:t>
            </a:r>
            <a:r>
              <a:rPr lang="ko-KR" altLang="en-US" sz="1800" kern="12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멀티모달</a:t>
            </a:r>
            <a:r>
              <a:rPr lang="ko-KR" altLang="en-US" sz="1800" kern="12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  <a:cs typeface="+mn-cs"/>
              </a:rPr>
              <a:t> 추출 비교 테스트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1C50E1-CA65-D546-AF38-628814C139EA}"/>
              </a:ext>
            </a:extLst>
          </p:cNvPr>
          <p:cNvSpPr txBox="1"/>
          <p:nvPr/>
        </p:nvSpPr>
        <p:spPr>
          <a:xfrm>
            <a:off x="3498271" y="2260924"/>
            <a:ext cx="21109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Chunkig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Embedding 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VLM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모델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2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가지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,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팀원별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청킹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, </a:t>
            </a:r>
            <a:r>
              <a:rPr lang="ko-KR" altLang="en-US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임베딩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모델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가지 정량 평가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4C0F7A-1874-AEC3-8D8C-D770E8B099B6}"/>
              </a:ext>
            </a:extLst>
          </p:cNvPr>
          <p:cNvSpPr txBox="1"/>
          <p:nvPr/>
        </p:nvSpPr>
        <p:spPr>
          <a:xfrm>
            <a:off x="6609337" y="2260924"/>
            <a:ext cx="21109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Parmeter: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Grid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Search 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을 이용하여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Chunk Size,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K 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값 비교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1335EB32-BCB7-D55E-C274-C768E129C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6A6112-A969-A57F-0AB9-0190EC20BC05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86411-6544-7B56-F105-65778D1D0F3E}"/>
              </a:ext>
            </a:extLst>
          </p:cNvPr>
          <p:cNvSpPr txBox="1"/>
          <p:nvPr/>
        </p:nvSpPr>
        <p:spPr>
          <a:xfrm>
            <a:off x="9720403" y="2260924"/>
            <a:ext cx="2110921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RAG: </a:t>
            </a:r>
          </a:p>
          <a:p>
            <a:pPr marL="0" indent="0" algn="l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3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단계 품질 테스트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marL="342900" indent="-342900" algn="l" defTabSz="914400" rtl="0" eaLnBrk="1" latinLnBrk="1" hangingPunct="1">
              <a:buFontTx/>
              <a:buAutoNum type="alphaUcPeriod"/>
            </a:pP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Chroma MMR(k=5)</a:t>
            </a:r>
          </a:p>
          <a:p>
            <a:pPr algn="l" defTabSz="914400" rtl="0" eaLnBrk="1" latinLnBrk="1" hangingPunct="1"/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pPr algn="l" defTabSz="914400" rtl="0" eaLnBrk="1" latinLnBrk="1" hangingPunct="1"/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B. Dense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+ </a:t>
            </a:r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Rerank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Chroma -&gt; </a:t>
            </a:r>
            <a:r>
              <a:rPr lang="en-US" altLang="ko-KR" sz="1600" dirty="0" err="1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Reranker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로 재정렬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endParaRPr lang="en-US" altLang="ko-KR" sz="5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C. Hybrid</a:t>
            </a:r>
          </a:p>
          <a:p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0.6+ BM25</a:t>
            </a:r>
            <a:r>
              <a:rPr lang="ko-KR" altLang="en-US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0.4</a:t>
            </a:r>
          </a:p>
        </p:txBody>
      </p:sp>
    </p:spTree>
    <p:extLst>
      <p:ext uri="{BB962C8B-B14F-4D97-AF65-F5344CB8AC3E}">
        <p14:creationId xmlns:p14="http://schemas.microsoft.com/office/powerpoint/2010/main" val="1320392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7267A-0677-8BB9-913F-CA48420C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A335F4C-F282-E2F9-45D6-241C2D3ED668}"/>
              </a:ext>
            </a:extLst>
          </p:cNvPr>
          <p:cNvSpPr/>
          <p:nvPr/>
        </p:nvSpPr>
        <p:spPr>
          <a:xfrm>
            <a:off x="6367200" y="1168400"/>
            <a:ext cx="5507218" cy="497840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695B68-1578-3E39-383C-32E7F566C392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CC4F3-8DDB-6C0D-8729-0C45F5D7B549}"/>
              </a:ext>
            </a:extLst>
          </p:cNvPr>
          <p:cNvSpPr txBox="1"/>
          <p:nvPr/>
        </p:nvSpPr>
        <p:spPr>
          <a:xfrm>
            <a:off x="1037063" y="128900"/>
            <a:ext cx="250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 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CDF60D-E431-8C2B-AE3F-B8AA12243BBD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2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B61899-DBDC-6F90-57BB-FC1411AEC2E4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987756-5B63-F435-11C5-F133675D25E5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C8DF2-9DDE-E739-1B6A-A50689690C0A}"/>
              </a:ext>
            </a:extLst>
          </p:cNvPr>
          <p:cNvSpPr txBox="1"/>
          <p:nvPr/>
        </p:nvSpPr>
        <p:spPr>
          <a:xfrm>
            <a:off x="1037063" y="128900"/>
            <a:ext cx="3300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비교 테스트 </a:t>
            </a:r>
            <a:r>
              <a:rPr lang="en-US" altLang="ko-KR" sz="3600" b="1" spc="-300" dirty="0">
                <a:solidFill>
                  <a:schemeClr val="bg1"/>
                </a:solidFill>
              </a:rPr>
              <a:t>: RAG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32D57-A4F8-FD38-6FF4-0E8952D846A0}"/>
              </a:ext>
            </a:extLst>
          </p:cNvPr>
          <p:cNvSpPr txBox="1"/>
          <p:nvPr/>
        </p:nvSpPr>
        <p:spPr>
          <a:xfrm>
            <a:off x="708742" y="950975"/>
            <a:ext cx="477765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검색과 답변 품질 정량 측정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16199"/>
              </a:lnSpc>
            </a:pP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>
              <a:lnSpc>
                <a:spcPct val="116199"/>
              </a:lnSpc>
            </a:pP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Dense Only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vs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Dense + </a:t>
            </a:r>
            <a:r>
              <a:rPr lang="en-US" altLang="ko-KR" b="1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Rerank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vs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Hybrid</a:t>
            </a:r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CC929984-F5BD-49D9-FEF3-3D99D546F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099" y="1878146"/>
            <a:ext cx="5657751" cy="43287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DDD141-14E7-8299-6B3C-82CB26A5AFC2}"/>
              </a:ext>
            </a:extLst>
          </p:cNvPr>
          <p:cNvSpPr txBox="1"/>
          <p:nvPr/>
        </p:nvSpPr>
        <p:spPr>
          <a:xfrm>
            <a:off x="7805716" y="1437624"/>
            <a:ext cx="2630187" cy="70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16199"/>
              </a:lnSpc>
            </a:pPr>
            <a:r>
              <a:rPr lang="en-US" altLang="ko-KR" b="1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평가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지표가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가장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높은</a:t>
            </a:r>
            <a:endParaRPr lang="en-US" altLang="ko-KR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Hybrid </a:t>
            </a:r>
            <a:r>
              <a:rPr lang="en-US" altLang="ko-KR" b="1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방식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 err="1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채택</a:t>
            </a:r>
            <a:endParaRPr lang="en-US" altLang="ko-KR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CFE82F-306D-588C-C497-CB705647B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560812"/>
              </p:ext>
            </p:extLst>
          </p:nvPr>
        </p:nvGraphicFramePr>
        <p:xfrm>
          <a:off x="426891" y="2555582"/>
          <a:ext cx="5834209" cy="2204037"/>
        </p:xfrm>
        <a:graphic>
          <a:graphicData uri="http://schemas.openxmlformats.org/drawingml/2006/table">
            <a:tbl>
              <a:tblPr/>
              <a:tblGrid>
                <a:gridCol w="1554309">
                  <a:extLst>
                    <a:ext uri="{9D8B030D-6E8A-4147-A177-3AD203B41FA5}">
                      <a16:colId xmlns:a16="http://schemas.microsoft.com/office/drawing/2014/main" val="1108204293"/>
                    </a:ext>
                  </a:extLst>
                </a:gridCol>
                <a:gridCol w="2710292">
                  <a:extLst>
                    <a:ext uri="{9D8B030D-6E8A-4147-A177-3AD203B41FA5}">
                      <a16:colId xmlns:a16="http://schemas.microsoft.com/office/drawing/2014/main" val="2028096271"/>
                    </a:ext>
                  </a:extLst>
                </a:gridCol>
                <a:gridCol w="1569608">
                  <a:extLst>
                    <a:ext uri="{9D8B030D-6E8A-4147-A177-3AD203B41FA5}">
                      <a16:colId xmlns:a16="http://schemas.microsoft.com/office/drawing/2014/main" val="4204973982"/>
                    </a:ext>
                  </a:extLst>
                </a:gridCol>
              </a:tblGrid>
              <a:tr h="444501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평가 지표</a:t>
                      </a:r>
                      <a:endParaRPr lang="en-US" sz="1600" b="1" kern="1200" dirty="0">
                        <a:solidFill>
                          <a:prstClr val="white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4972" marB="54972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설명</a:t>
                      </a:r>
                      <a:endParaRPr lang="en-US" sz="1600" b="1" kern="1200" dirty="0">
                        <a:solidFill>
                          <a:prstClr val="white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4972" marB="549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600" b="1" kern="1200" dirty="0">
                          <a:solidFill>
                            <a:prstClr val="white"/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평가 대상</a:t>
                      </a:r>
                      <a:endParaRPr lang="en-US" sz="1600" b="1" kern="1200" dirty="0">
                        <a:solidFill>
                          <a:prstClr val="white"/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4972" marB="5497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314432"/>
                  </a:ext>
                </a:extLst>
              </a:tr>
              <a:tr h="586512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Retrieval Hit Rate</a:t>
                      </a:r>
                    </a:p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검색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성공률</a:t>
                      </a:r>
                      <a:endParaRPr lang="en-US" altLang="ko-KR" sz="1400" b="1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2998" marB="529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정답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소스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문서가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검색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결과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(Top-K) 에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포함되었는가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?</a:t>
                      </a:r>
                    </a:p>
                  </a:txBody>
                  <a:tcPr marL="25400" marR="25400" marT="52998" marB="529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검색 정확도</a:t>
                      </a:r>
                      <a:endParaRPr lang="en-US" sz="1400" b="1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2998" marB="52998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28291"/>
                  </a:ext>
                </a:extLst>
              </a:tr>
              <a:tr h="586512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Keyword Recall</a:t>
                      </a:r>
                    </a:p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정보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포함도</a:t>
                      </a:r>
                      <a:endParaRPr lang="en-US" altLang="ko-KR" sz="1400" b="1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기대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키워드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중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검색된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텍스트에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포함된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비율</a:t>
                      </a:r>
                      <a:endParaRPr lang="en-US" altLang="ko-KR" sz="1400" b="1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정보 </a:t>
                      </a:r>
                      <a:r>
                        <a:rPr lang="ko-KR" altLang="en-US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충분성</a:t>
                      </a:r>
                      <a:endParaRPr lang="en-US" sz="1400" b="1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393632"/>
                  </a:ext>
                </a:extLst>
              </a:tr>
              <a:tr h="586512">
                <a:tc>
                  <a:txBody>
                    <a:bodyPr/>
                    <a:lstStyle/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Answer Accuracy</a:t>
                      </a:r>
                    </a:p>
                    <a:p>
                      <a:pPr marL="0" lvl="0" algn="ctr" defTabSz="914400" rtl="0" eaLnBrk="1" latinLnBrk="1" hangingPunct="1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답변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정확도</a:t>
                      </a:r>
                      <a:endParaRPr lang="en-US" altLang="ko-KR" sz="1400" b="1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LLM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담변에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반드시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포함되어야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할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키워드가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있는가</a:t>
                      </a:r>
                      <a:r>
                        <a:rPr lang="en-US" altLang="ko-KR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?</a:t>
                      </a:r>
                      <a:endParaRPr lang="en-US" sz="1400" b="1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14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Noto Sans KR Medium" panose="020B0200000000000000" pitchFamily="50" charset="-127"/>
                          <a:ea typeface="Noto Sans KR Medium" panose="020B0200000000000000" pitchFamily="50" charset="-127"/>
                          <a:cs typeface="+mn-cs"/>
                        </a:rPr>
                        <a:t>생성 품질</a:t>
                      </a:r>
                      <a:endParaRPr lang="en-US" sz="1400" b="1" kern="1200" dirty="0">
                        <a:solidFill>
                          <a:schemeClr val="bg2">
                            <a:lumMod val="50000"/>
                          </a:schemeClr>
                        </a:solidFill>
                        <a:latin typeface="Noto Sans KR Medium" panose="020B0200000000000000" pitchFamily="50" charset="-127"/>
                        <a:ea typeface="Noto Sans KR Medium" panose="020B0200000000000000" pitchFamily="50" charset="-127"/>
                        <a:cs typeface="+mn-cs"/>
                      </a:endParaRPr>
                    </a:p>
                  </a:txBody>
                  <a:tcPr marL="25400" marR="25400" marT="52910" marB="52910" anchor="ctr">
                    <a:lnL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872003"/>
                  </a:ext>
                </a:extLst>
              </a:tr>
            </a:tbl>
          </a:graphicData>
        </a:graphic>
      </p:graphicFrame>
      <p:sp>
        <p:nvSpPr>
          <p:cNvPr id="16" name="순서도: 수행의 시작/종료 15">
            <a:extLst>
              <a:ext uri="{FF2B5EF4-FFF2-40B4-BE49-F238E27FC236}">
                <a16:creationId xmlns:a16="http://schemas.microsoft.com/office/drawing/2014/main" id="{5904B112-8B41-B1B2-884B-6FC55486F0ED}"/>
              </a:ext>
            </a:extLst>
          </p:cNvPr>
          <p:cNvSpPr/>
          <p:nvPr/>
        </p:nvSpPr>
        <p:spPr>
          <a:xfrm>
            <a:off x="10435903" y="5281928"/>
            <a:ext cx="994097" cy="318771"/>
          </a:xfrm>
          <a:prstGeom prst="flowChartTerminator">
            <a:avLst/>
          </a:prstGeom>
          <a:noFill/>
          <a:ln w="38100">
            <a:solidFill>
              <a:srgbClr val="FF4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915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275F8-7A76-3A4C-9576-C117B482B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1FF24F-CDFF-1D96-B31C-D47EFF59284A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B4FC4-2CB2-C2DD-F289-0CA59380DB50}"/>
              </a:ext>
            </a:extLst>
          </p:cNvPr>
          <p:cNvSpPr txBox="1"/>
          <p:nvPr/>
        </p:nvSpPr>
        <p:spPr>
          <a:xfrm>
            <a:off x="1037063" y="128900"/>
            <a:ext cx="31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RAG</a:t>
            </a:r>
            <a:r>
              <a:rPr lang="ko-KR" altLang="en-US" sz="3600" b="1" spc="-300" dirty="0">
                <a:solidFill>
                  <a:schemeClr val="bg1"/>
                </a:solidFill>
              </a:rPr>
              <a:t> 시스템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DE8C9-D26E-AE0F-280E-76226FBF1F55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CEBCF0-4EE2-291D-C99C-55491AFFE821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3E428AD8-8EE2-5FAB-B777-B6EA0CF0836A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1C3442AD-6EE2-74CA-90AC-EF3D09FB1807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C1FD9C51-9063-91AF-6AC6-BD7A50D3D4DB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51A6045-98E2-DC13-1BFA-91B61FA86B89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187E90FD-A0C0-FB18-F85A-9F1A9BF9F3D2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rgbClr val="FF4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D4E3C531-EC04-7B49-7A14-B00D170EA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9A509C4-143F-5685-AC24-29A6AD2B39E8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4BD4C9-C3C9-7CF1-BD9D-8B4C13BB6B34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8D3ACC2-C1F1-C89C-65E4-18B65D4A4EDA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BD8004D-04E9-1BD3-F1CE-A3C8B391BA55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4DFFF222-B9CF-DC47-F8C7-325B557B98F0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0CE8CD2F-65B8-76B9-3FBF-15D64AD29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4BBC687-48B9-6708-A286-98F6D206636C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4066218-ADA0-8753-E0F4-F56F2616A3D5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3FC1CE6F-C6A6-6631-C4B0-5125E9CD65A5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8223D373-E0D0-A1FB-81CB-2C91636F7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6942BE0-930F-FF91-FC16-23F9779CD9F2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66CB3AF-90EF-2470-AFB1-70D782385195}"/>
              </a:ext>
            </a:extLst>
          </p:cNvPr>
          <p:cNvSpPr txBox="1"/>
          <p:nvPr/>
        </p:nvSpPr>
        <p:spPr>
          <a:xfrm>
            <a:off x="437836" y="2260924"/>
            <a:ext cx="21109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하이브리드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리트리버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en-US" altLang="ko-KR" sz="16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  <a:p>
            <a:pPr marL="342900" indent="-342900" algn="l" defTabSz="914400" rtl="0" eaLnBrk="1" latinLnBrk="1" hangingPunct="1">
              <a:buFontTx/>
              <a:buAutoNum type="arabicParenBoth"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Chroma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</a:p>
          <a:p>
            <a:pPr marL="342900" indent="-342900" algn="l" defTabSz="914400" rtl="0" eaLnBrk="1" latinLnBrk="1" hangingPunct="1">
              <a:buFontTx/>
              <a:buAutoNum type="arabicParenBoth"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Ensemble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A85C31-AE66-1A19-D127-18FF8E5E1C8C}"/>
              </a:ext>
            </a:extLst>
          </p:cNvPr>
          <p:cNvSpPr txBox="1"/>
          <p:nvPr/>
        </p:nvSpPr>
        <p:spPr>
          <a:xfrm>
            <a:off x="3498271" y="2260924"/>
            <a:ext cx="21109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LCEL </a:t>
            </a: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체인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조립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· Retrieval → Generation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AB082B-2A36-2F9D-D182-A62462681129}"/>
              </a:ext>
            </a:extLst>
          </p:cNvPr>
          <p:cNvSpPr txBox="1"/>
          <p:nvPr/>
        </p:nvSpPr>
        <p:spPr>
          <a:xfrm>
            <a:off x="6609337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LLM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프롬프트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엔지니어링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F2334E84-DA9D-E627-E663-C8696C840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DF2B74-655C-9221-2ADF-99B0E778B63F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BDA573-26EB-7A18-F453-9DE2036331A4}"/>
              </a:ext>
            </a:extLst>
          </p:cNvPr>
          <p:cNvSpPr txBox="1"/>
          <p:nvPr/>
        </p:nvSpPr>
        <p:spPr>
          <a:xfrm>
            <a:off x="9720403" y="2260924"/>
            <a:ext cx="211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실시간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TTS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통합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556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BC978E-79CC-05D2-D31E-8ACC61C5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CBD3101F-CA8D-6DFD-E44F-1B74D1DB5E85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6E428B-6C2A-3871-10F7-52650CF775A3}"/>
              </a:ext>
            </a:extLst>
          </p:cNvPr>
          <p:cNvSpPr txBox="1"/>
          <p:nvPr/>
        </p:nvSpPr>
        <p:spPr>
          <a:xfrm>
            <a:off x="1037063" y="128900"/>
            <a:ext cx="7099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하이브리드 </a:t>
            </a:r>
            <a:r>
              <a:rPr lang="ko-KR" altLang="en-US" sz="3600" b="1" spc="-300" dirty="0" err="1">
                <a:solidFill>
                  <a:schemeClr val="bg1"/>
                </a:solidFill>
              </a:rPr>
              <a:t>리트리버</a:t>
            </a:r>
            <a:r>
              <a:rPr lang="ko-KR" altLang="en-US" sz="3600" b="1" spc="-300" dirty="0">
                <a:solidFill>
                  <a:schemeClr val="bg1"/>
                </a:solidFill>
              </a:rPr>
              <a:t> </a:t>
            </a:r>
            <a:r>
              <a:rPr lang="en-US" altLang="ko-KR" sz="3600" b="1" spc="-300" dirty="0">
                <a:solidFill>
                  <a:schemeClr val="bg1"/>
                </a:solidFill>
              </a:rPr>
              <a:t>- </a:t>
            </a:r>
            <a:r>
              <a:rPr lang="ko-KR" altLang="en-US" sz="3600" b="1" spc="-300" dirty="0">
                <a:solidFill>
                  <a:schemeClr val="bg1"/>
                </a:solidFill>
              </a:rPr>
              <a:t> </a:t>
            </a:r>
            <a:r>
              <a:rPr lang="en-US" altLang="ko-KR" sz="3600" b="1" spc="-300" dirty="0">
                <a:solidFill>
                  <a:schemeClr val="bg1"/>
                </a:solidFill>
              </a:rPr>
              <a:t>(1) Chroma Dense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22FB83-C64E-7CF6-D374-BF6B8F91A548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1FF84A-D90E-9E85-6423-BC1E10DB510D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E256CBE-ED3A-57D5-99C8-1015E331980E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266C273-3830-9D8C-BF27-53E9BBF47456}"/>
              </a:ext>
            </a:extLst>
          </p:cNvPr>
          <p:cNvGrpSpPr/>
          <p:nvPr/>
        </p:nvGrpSpPr>
        <p:grpSpPr>
          <a:xfrm>
            <a:off x="7301448" y="4955915"/>
            <a:ext cx="4611152" cy="1720730"/>
            <a:chOff x="7301448" y="4955915"/>
            <a:chExt cx="4611152" cy="172073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A1D69CF0-47E4-2108-3D42-3D0EFD8E7D2B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8" name="Picture 16">
              <a:extLst>
                <a:ext uri="{FF2B5EF4-FFF2-40B4-BE49-F238E27FC236}">
                  <a16:creationId xmlns:a16="http://schemas.microsoft.com/office/drawing/2014/main" id="{9C521305-7E4A-905C-8645-485593D81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38EB655-3440-F73B-42B8-0EA5D76EE656}"/>
                </a:ext>
              </a:extLst>
            </p:cNvPr>
            <p:cNvSpPr txBox="1"/>
            <p:nvPr/>
          </p:nvSpPr>
          <p:spPr>
            <a:xfrm>
              <a:off x="8323660" y="5069712"/>
              <a:ext cx="27029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03.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MMR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검색 전략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54FC9B7-9FAC-3831-4BD4-98EE836F8DC8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>
                <a:lnSpc>
                  <a:spcPct val="132800"/>
                </a:lnSpc>
              </a:pP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단순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유사도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검색이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아닌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1" i="0" u="none" strike="noStrike" spc="-100" dirty="0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MMR(Maximal Marginal Relevance)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을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적용하여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,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유사하면서도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내용이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겹치지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않는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다양한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문서를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회수합니다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.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C220EB96-44AB-BE48-FE04-06C685799C7E}"/>
              </a:ext>
            </a:extLst>
          </p:cNvPr>
          <p:cNvGrpSpPr/>
          <p:nvPr/>
        </p:nvGrpSpPr>
        <p:grpSpPr>
          <a:xfrm>
            <a:off x="7301448" y="2982716"/>
            <a:ext cx="4611152" cy="1720730"/>
            <a:chOff x="7301448" y="4955915"/>
            <a:chExt cx="4611152" cy="172073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E1E8D947-4FDA-B0F4-AD04-82F8A92793D6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7" name="Picture 16">
              <a:extLst>
                <a:ext uri="{FF2B5EF4-FFF2-40B4-BE49-F238E27FC236}">
                  <a16:creationId xmlns:a16="http://schemas.microsoft.com/office/drawing/2014/main" id="{B2AC66BF-AD25-6428-1EB6-41E84778F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7B9DB44-BD55-1F7C-7934-96CD28CEB716}"/>
                </a:ext>
              </a:extLst>
            </p:cNvPr>
            <p:cNvSpPr txBox="1"/>
            <p:nvPr/>
          </p:nvSpPr>
          <p:spPr>
            <a:xfrm>
              <a:off x="8160154" y="5069712"/>
              <a:ext cx="2893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 02. chroma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DB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로드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B70F886-B7BE-3CFB-67AA-D922A75D84D0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>
                <a:lnSpc>
                  <a:spcPct val="132800"/>
                </a:lnSpc>
              </a:pP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단순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유사도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검색이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아닌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1" i="0" u="none" strike="noStrike" spc="-100" dirty="0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MMR(Maximal Marginal Relevance)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을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적용하여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,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유사하면서도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내용이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겹치지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않는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다양한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문서를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 </a:t>
              </a:r>
              <a:r>
                <a:rPr lang="en-US" altLang="ko-KR" sz="1400" b="0" i="0" u="none" strike="noStrike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회수합니다</a:t>
              </a:r>
              <a:r>
                <a:rPr lang="en-US" altLang="ko-KR" sz="1400" b="0" i="0" u="none" strike="noStrike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  <a:cs typeface="Noto Sans CJK KR Light"/>
                </a:rPr>
                <a:t>.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37E1F10-D15B-B9D2-594E-15F7ED91DB76}"/>
              </a:ext>
            </a:extLst>
          </p:cNvPr>
          <p:cNvGrpSpPr/>
          <p:nvPr/>
        </p:nvGrpSpPr>
        <p:grpSpPr>
          <a:xfrm>
            <a:off x="7341088" y="1009517"/>
            <a:ext cx="4611152" cy="1720730"/>
            <a:chOff x="7301448" y="4955915"/>
            <a:chExt cx="4611152" cy="172073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04D1717-90D7-0A74-3DDD-43118DC3780F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2" name="Picture 16">
              <a:extLst>
                <a:ext uri="{FF2B5EF4-FFF2-40B4-BE49-F238E27FC236}">
                  <a16:creationId xmlns:a16="http://schemas.microsoft.com/office/drawing/2014/main" id="{E9EE33F3-CE57-CA59-7DC9-745FDE3C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318A855-BEEC-700E-D61F-6B1A8A349F56}"/>
                </a:ext>
              </a:extLst>
            </p:cNvPr>
            <p:cNvSpPr txBox="1"/>
            <p:nvPr/>
          </p:nvSpPr>
          <p:spPr>
            <a:xfrm>
              <a:off x="8199427" y="5069712"/>
              <a:ext cx="2815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01. </a:t>
              </a:r>
              <a:r>
                <a:rPr lang="ko-KR" altLang="en-US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임베딩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모델 정의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6C19D07-A89C-7BEE-07CA-80FA7ACBF22C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6366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2800"/>
                </a:lnSpc>
              </a:pPr>
              <a:r>
                <a:rPr lang="en-US" altLang="ko-KR" sz="1400" b="1" spc="-100" dirty="0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text-embedding-3-small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모델을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자연어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텍스트를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고차원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벡터로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변환합니다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성능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비용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효율이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우수합니다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55" name="Picture 19">
            <a:extLst>
              <a:ext uri="{FF2B5EF4-FFF2-40B4-BE49-F238E27FC236}">
                <a16:creationId xmlns:a16="http://schemas.microsoft.com/office/drawing/2014/main" id="{FA21572B-D0E9-22E3-B1F4-9DB320C52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5" y="1014099"/>
            <a:ext cx="7005126" cy="579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04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47D83-5915-E78A-D22F-FA74BCC96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0696ED-F0B1-9C90-F53D-7843AF591476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FD4D4-25C1-C771-25E0-81261484D43F}"/>
              </a:ext>
            </a:extLst>
          </p:cNvPr>
          <p:cNvSpPr txBox="1"/>
          <p:nvPr/>
        </p:nvSpPr>
        <p:spPr>
          <a:xfrm>
            <a:off x="1037063" y="128900"/>
            <a:ext cx="63834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하이브리드 </a:t>
            </a:r>
            <a:r>
              <a:rPr lang="ko-KR" altLang="en-US" sz="3600" b="1" spc="-300" dirty="0" err="1">
                <a:solidFill>
                  <a:schemeClr val="bg1"/>
                </a:solidFill>
              </a:rPr>
              <a:t>리트리버</a:t>
            </a:r>
            <a:r>
              <a:rPr lang="ko-KR" altLang="en-US" sz="3600" b="1" spc="-300" dirty="0">
                <a:solidFill>
                  <a:schemeClr val="bg1"/>
                </a:solidFill>
              </a:rPr>
              <a:t> </a:t>
            </a:r>
            <a:r>
              <a:rPr lang="en-US" altLang="ko-KR" sz="3600" b="1" spc="-300" dirty="0">
                <a:solidFill>
                  <a:schemeClr val="bg1"/>
                </a:solidFill>
              </a:rPr>
              <a:t>- </a:t>
            </a:r>
            <a:r>
              <a:rPr lang="ko-KR" altLang="en-US" sz="3600" b="1" spc="-300" dirty="0">
                <a:solidFill>
                  <a:schemeClr val="bg1"/>
                </a:solidFill>
              </a:rPr>
              <a:t> </a:t>
            </a:r>
            <a:r>
              <a:rPr lang="en-US" altLang="ko-KR" sz="3600" b="1" spc="-300" dirty="0">
                <a:solidFill>
                  <a:schemeClr val="bg1"/>
                </a:solidFill>
              </a:rPr>
              <a:t>(2) Ensemble</a:t>
            </a:r>
          </a:p>
          <a:p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F44AD-B827-236B-D8D6-766925E31E92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DF1699-2782-6676-2492-A4910F90B016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81E1165-70F3-20A1-D1ED-8C8D264CC8D0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EE18569-AE0C-0A1A-73A7-3E954728FFA1}"/>
              </a:ext>
            </a:extLst>
          </p:cNvPr>
          <p:cNvGrpSpPr/>
          <p:nvPr/>
        </p:nvGrpSpPr>
        <p:grpSpPr>
          <a:xfrm>
            <a:off x="7301448" y="4955915"/>
            <a:ext cx="4611152" cy="1720730"/>
            <a:chOff x="7301448" y="4955915"/>
            <a:chExt cx="4611152" cy="172073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63E8879-024A-7F55-9E0E-0E39E0B96412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8" name="Picture 16">
              <a:extLst>
                <a:ext uri="{FF2B5EF4-FFF2-40B4-BE49-F238E27FC236}">
                  <a16:creationId xmlns:a16="http://schemas.microsoft.com/office/drawing/2014/main" id="{601DC1FB-5676-75E7-F473-F02312B0F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9248819-000B-4AD5-5A07-9894D0F45E69}"/>
                </a:ext>
              </a:extLst>
            </p:cNvPr>
            <p:cNvSpPr txBox="1"/>
            <p:nvPr/>
          </p:nvSpPr>
          <p:spPr>
            <a:xfrm>
              <a:off x="8323660" y="5069712"/>
              <a:ext cx="30267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03.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앙상블 가중치 튜닝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D486B65-91C6-A698-CB30-5A270C8EA491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64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Dense(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의미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)와 Sparse(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키워드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)의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비중을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600" b="1" spc="-100" dirty="0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0.6 : 0.4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설정하여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문맥적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이해를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우선하되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키워드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정확성도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놓치지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않도록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균형을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맞춥니다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E6F74C2-A99F-005A-1BDE-7FE15396ACA8}"/>
              </a:ext>
            </a:extLst>
          </p:cNvPr>
          <p:cNvGrpSpPr/>
          <p:nvPr/>
        </p:nvGrpSpPr>
        <p:grpSpPr>
          <a:xfrm>
            <a:off x="7301448" y="2982716"/>
            <a:ext cx="4611152" cy="1720730"/>
            <a:chOff x="7301448" y="4955915"/>
            <a:chExt cx="4611152" cy="172073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4B76B72-6CE3-0118-4CD1-1ECF28A58FD5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7" name="Picture 16">
              <a:extLst>
                <a:ext uri="{FF2B5EF4-FFF2-40B4-BE49-F238E27FC236}">
                  <a16:creationId xmlns:a16="http://schemas.microsoft.com/office/drawing/2014/main" id="{8FAC92A9-A992-DDFA-02BC-85A05BF81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8E01849-62DC-A638-4ABC-9528FB65DFB7}"/>
                </a:ext>
              </a:extLst>
            </p:cNvPr>
            <p:cNvSpPr txBox="1"/>
            <p:nvPr/>
          </p:nvSpPr>
          <p:spPr>
            <a:xfrm>
              <a:off x="8199427" y="5069712"/>
              <a:ext cx="2815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 02.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메모리 내 인덱싱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FB28B6B-FF40-91A0-BD90-871254E971FF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Chroma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DB에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저장된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텍스트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로드하여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BM25용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역색인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(Inverted Index)을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실시간으로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구축합니다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Document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객체로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변환이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필수적입니다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3E9532C-6B2A-B0A4-4B09-4E29FE14A6CB}"/>
              </a:ext>
            </a:extLst>
          </p:cNvPr>
          <p:cNvGrpSpPr/>
          <p:nvPr/>
        </p:nvGrpSpPr>
        <p:grpSpPr>
          <a:xfrm>
            <a:off x="7341088" y="1009517"/>
            <a:ext cx="4611152" cy="1720730"/>
            <a:chOff x="7301448" y="4955915"/>
            <a:chExt cx="4611152" cy="172073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30965549-CA50-F9AC-ABC4-7DB565AC1E82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2" name="Picture 16">
              <a:extLst>
                <a:ext uri="{FF2B5EF4-FFF2-40B4-BE49-F238E27FC236}">
                  <a16:creationId xmlns:a16="http://schemas.microsoft.com/office/drawing/2014/main" id="{EA7D9AE9-A8FD-E6B4-BBDF-2667D81A8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0D13F00-ED0F-0726-3E39-42089E16B974}"/>
                </a:ext>
              </a:extLst>
            </p:cNvPr>
            <p:cNvSpPr txBox="1"/>
            <p:nvPr/>
          </p:nvSpPr>
          <p:spPr>
            <a:xfrm>
              <a:off x="7813103" y="5069712"/>
              <a:ext cx="35878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01.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키워드 매칭 보완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(BM25)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3C33AFC-27E5-84D0-A236-47E342EBE26B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2800"/>
                </a:lnSpc>
              </a:pP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Dense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Retriever가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놓치기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쉬운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고유명사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숫자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정확한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용어를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b="1" spc="-100" dirty="0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BM25 </a:t>
              </a:r>
              <a:r>
                <a:rPr lang="en-US" altLang="ko-KR" sz="1400" b="1" spc="-100" dirty="0" err="1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알고리즘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(TF-IDF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개선판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보완하여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정확도를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높입니다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2" name="Picture 17">
            <a:extLst>
              <a:ext uri="{FF2B5EF4-FFF2-40B4-BE49-F238E27FC236}">
                <a16:creationId xmlns:a16="http://schemas.microsoft.com/office/drawing/2014/main" id="{DE0455F5-06BF-EFCB-AF2B-9ECB1AAAFAE0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5" y="1014099"/>
            <a:ext cx="7005600" cy="57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123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1CD840-36DD-47A3-BC10-A6557B557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9F685C-66E8-01ED-3E0B-C2914B546906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6211A-BD5B-FE02-8741-019A68D8B5DE}"/>
              </a:ext>
            </a:extLst>
          </p:cNvPr>
          <p:cNvSpPr txBox="1"/>
          <p:nvPr/>
        </p:nvSpPr>
        <p:spPr>
          <a:xfrm>
            <a:off x="1037063" y="128900"/>
            <a:ext cx="31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RAG</a:t>
            </a:r>
            <a:r>
              <a:rPr lang="ko-KR" altLang="en-US" sz="3600" b="1" spc="-300" dirty="0">
                <a:solidFill>
                  <a:schemeClr val="bg1"/>
                </a:solidFill>
              </a:rPr>
              <a:t> 시스템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35833-5699-2578-8462-1B22EB74511E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B0EE9EA-76B5-42CF-3ED8-7502A3467B90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597FC409-1BF2-D398-51CF-02A35A091E3C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6CF29737-AA80-B8C8-01B2-0F4B4A32D720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F96CF730-CDF5-44A3-359E-4F1ED4C70BB9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DCD4851-39DC-2CB5-D143-50763D8F6E66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286E5A38-AC43-9E38-6637-3D017E09D951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48138466-1E66-1943-0FCC-CFAD838C7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36BCB10-5A97-07B8-F16D-CAF0F3ACD467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4411BEC-39C4-586C-88AE-0B67725DCBA9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877228A-3416-E3EF-4581-372A18780EB3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rgbClr val="FF4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507FC0B-9A42-F54A-337F-64AD11B20497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EC53538-E3FB-0FA4-69FE-50BF510820AC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06C9F2DB-0C31-7F0E-5979-5264A184B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4BD37D-8C92-F429-C775-C70E115C479D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F3C7EF3-F0B4-C0B4-8236-E2EA464CA5CB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CCD13B64-5981-02E9-663C-DFC0A16268CC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F78EAC31-E122-1F3A-DEA7-0778C89E5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71413CA-D3DE-73C1-0827-B3AC755F42D0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046457E-5D44-1F5E-9839-8C0A951092E7}"/>
              </a:ext>
            </a:extLst>
          </p:cNvPr>
          <p:cNvSpPr txBox="1"/>
          <p:nvPr/>
        </p:nvSpPr>
        <p:spPr>
          <a:xfrm>
            <a:off x="437836" y="2260924"/>
            <a:ext cx="21109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하이브리드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리트리버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en-US" altLang="ko-KR" sz="16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  <a:p>
            <a:pPr marL="342900" indent="-342900" algn="l" defTabSz="914400" rtl="0" eaLnBrk="1" latinLnBrk="1" hangingPunct="1">
              <a:buFontTx/>
              <a:buAutoNum type="arabicParenBoth"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Chroma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</a:p>
          <a:p>
            <a:pPr marL="342900" indent="-342900" algn="l" defTabSz="914400" rtl="0" eaLnBrk="1" latinLnBrk="1" hangingPunct="1">
              <a:buFontTx/>
              <a:buAutoNum type="arabicParenBoth"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Ensemble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B3067D17-C9FF-299C-91DC-D488B1F0B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53CD31-C022-C93B-A153-BF8A4E8C7D11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AC7843-82C8-D4BC-83AA-AA92C881F69D}"/>
              </a:ext>
            </a:extLst>
          </p:cNvPr>
          <p:cNvSpPr txBox="1"/>
          <p:nvPr/>
        </p:nvSpPr>
        <p:spPr>
          <a:xfrm>
            <a:off x="9720403" y="2260924"/>
            <a:ext cx="211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실시간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TTS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통합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8D71E3-45E7-9C76-E817-7D16DCF55B2D}"/>
              </a:ext>
            </a:extLst>
          </p:cNvPr>
          <p:cNvSpPr txBox="1"/>
          <p:nvPr/>
        </p:nvSpPr>
        <p:spPr>
          <a:xfrm>
            <a:off x="3498271" y="2260924"/>
            <a:ext cx="21109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LCEL </a:t>
            </a: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체인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조립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· Retrieval → Generation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78BD1-1510-5F58-AF01-22431913DAEA}"/>
              </a:ext>
            </a:extLst>
          </p:cNvPr>
          <p:cNvSpPr txBox="1"/>
          <p:nvPr/>
        </p:nvSpPr>
        <p:spPr>
          <a:xfrm>
            <a:off x="6609337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LLM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프롬프트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엔지니어링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5274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D667C-74CA-97EC-5B66-CB559EF4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7">
            <a:extLst>
              <a:ext uri="{FF2B5EF4-FFF2-40B4-BE49-F238E27FC236}">
                <a16:creationId xmlns:a16="http://schemas.microsoft.com/office/drawing/2014/main" id="{035A5EB6-A0A6-4B67-A088-EEEC5153A835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5" y="1014099"/>
            <a:ext cx="7005600" cy="5796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C15D3B-F0BA-955A-4BF2-190A1B4682A1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811EF-DB60-A88F-A644-AB982C34A9F6}"/>
              </a:ext>
            </a:extLst>
          </p:cNvPr>
          <p:cNvSpPr txBox="1"/>
          <p:nvPr/>
        </p:nvSpPr>
        <p:spPr>
          <a:xfrm>
            <a:off x="1037063" y="128900"/>
            <a:ext cx="6564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LCEL </a:t>
            </a:r>
            <a:r>
              <a:rPr lang="en-US" altLang="ko-KR" sz="3600" b="1" spc="-300" dirty="0" err="1">
                <a:solidFill>
                  <a:schemeClr val="bg1"/>
                </a:solidFill>
              </a:rPr>
              <a:t>체인</a:t>
            </a:r>
            <a:r>
              <a:rPr lang="en-US" altLang="ko-KR" sz="3600" b="1" spc="-300" dirty="0">
                <a:solidFill>
                  <a:schemeClr val="bg1"/>
                </a:solidFill>
              </a:rPr>
              <a:t> </a:t>
            </a:r>
            <a:r>
              <a:rPr lang="en-US" altLang="ko-KR" sz="3600" b="1" spc="-300" dirty="0" err="1">
                <a:solidFill>
                  <a:schemeClr val="bg1"/>
                </a:solidFill>
              </a:rPr>
              <a:t>조립</a:t>
            </a:r>
            <a:r>
              <a:rPr lang="en-US" altLang="ko-KR" sz="3600" b="1" spc="-300" dirty="0">
                <a:solidFill>
                  <a:schemeClr val="bg1"/>
                </a:solidFill>
              </a:rPr>
              <a:t> · Retrieval →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0A6FC-4682-308B-18CD-3F354A159382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1C4223-8786-EE22-C9B1-3EAEBD5CBD68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E82C826-D97A-4E97-68E3-958EBD4ED66E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1BC74750-8FDA-4910-DDF9-BA5C46BDDE86}"/>
              </a:ext>
            </a:extLst>
          </p:cNvPr>
          <p:cNvGrpSpPr/>
          <p:nvPr/>
        </p:nvGrpSpPr>
        <p:grpSpPr>
          <a:xfrm>
            <a:off x="7301448" y="4955915"/>
            <a:ext cx="4611152" cy="1720730"/>
            <a:chOff x="7301448" y="4955915"/>
            <a:chExt cx="4611152" cy="172073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93A99723-402B-205E-948F-EA90408451BE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8" name="Picture 16">
              <a:extLst>
                <a:ext uri="{FF2B5EF4-FFF2-40B4-BE49-F238E27FC236}">
                  <a16:creationId xmlns:a16="http://schemas.microsoft.com/office/drawing/2014/main" id="{19AD1370-B98C-3BF2-1D97-97CF74504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E187F67-6ADD-185D-A2DD-BAD503FB012B}"/>
                </a:ext>
              </a:extLst>
            </p:cNvPr>
            <p:cNvSpPr txBox="1"/>
            <p:nvPr/>
          </p:nvSpPr>
          <p:spPr>
            <a:xfrm>
              <a:off x="7998251" y="5069712"/>
              <a:ext cx="32175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03.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ASSIGN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 통한 확장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1F0C652-338B-3510-7C5E-4FD65208B6D6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b="1" spc="-100" dirty="0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assign</a:t>
              </a:r>
              <a:r>
                <a:rPr lang="en-US" altLang="ko-KR" sz="1400" b="1" spc="-100" dirty="0">
                  <a:solidFill>
                    <a:srgbClr val="3F739B"/>
                  </a:solidFill>
                  <a:latin typeface="Noto Sans CJK KR Light"/>
                  <a:ea typeface="Noto Sans CJK KR Light"/>
                  <a:cs typeface="Noto Sans CJK KR Light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메서드는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단계의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모든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결과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(`context`, `history` 등)를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보존하면서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새로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생성된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`answer`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키를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결과값에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추가합니다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ED54F6F-D9DE-8A7C-9002-752D492CC768}"/>
              </a:ext>
            </a:extLst>
          </p:cNvPr>
          <p:cNvGrpSpPr/>
          <p:nvPr/>
        </p:nvGrpSpPr>
        <p:grpSpPr>
          <a:xfrm>
            <a:off x="7301448" y="2982716"/>
            <a:ext cx="4611152" cy="1720730"/>
            <a:chOff x="7301448" y="4955915"/>
            <a:chExt cx="4611152" cy="172073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344A10BE-0A0C-8352-D61C-842115264098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7" name="Picture 16">
              <a:extLst>
                <a:ext uri="{FF2B5EF4-FFF2-40B4-BE49-F238E27FC236}">
                  <a16:creationId xmlns:a16="http://schemas.microsoft.com/office/drawing/2014/main" id="{229A0D7F-188C-F911-CAA1-2262A480A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BBA51DC-F47C-D40A-8308-BF6A37942CB7}"/>
                </a:ext>
              </a:extLst>
            </p:cNvPr>
            <p:cNvSpPr txBox="1"/>
            <p:nvPr/>
          </p:nvSpPr>
          <p:spPr>
            <a:xfrm>
              <a:off x="8181794" y="5069712"/>
              <a:ext cx="2850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 02. LCEL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파이프라인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CBEE28-ECD3-B7D6-C136-1AD9B58C8475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64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Linux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파이프라인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(`</a:t>
              </a:r>
              <a:r>
                <a:rPr lang="en-US" altLang="ko-KR" sz="1600" b="1" spc="-100" dirty="0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|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`)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구문을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활용하여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로직의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흐름을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선언적으로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정의합니다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포맷팅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프롬프트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주입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LLM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호출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파싱이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물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흐르듯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연결됩니다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6313CEB-C6A8-9D1C-C1DA-D1184BDFDF4A}"/>
              </a:ext>
            </a:extLst>
          </p:cNvPr>
          <p:cNvGrpSpPr/>
          <p:nvPr/>
        </p:nvGrpSpPr>
        <p:grpSpPr>
          <a:xfrm>
            <a:off x="7341088" y="1009517"/>
            <a:ext cx="4611152" cy="1720730"/>
            <a:chOff x="7301448" y="4955915"/>
            <a:chExt cx="4611152" cy="172073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C9C6F030-EEFB-646E-B216-7099C7DEFE64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2" name="Picture 16">
              <a:extLst>
                <a:ext uri="{FF2B5EF4-FFF2-40B4-BE49-F238E27FC236}">
                  <a16:creationId xmlns:a16="http://schemas.microsoft.com/office/drawing/2014/main" id="{AB92F956-733F-6A0E-66E8-30F5F864E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42A2107-FA8B-9273-5CEE-57C775935FBB}"/>
                </a:ext>
              </a:extLst>
            </p:cNvPr>
            <p:cNvSpPr txBox="1"/>
            <p:nvPr/>
          </p:nvSpPr>
          <p:spPr>
            <a:xfrm>
              <a:off x="8295607" y="5069712"/>
              <a:ext cx="2622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01. </a:t>
              </a:r>
              <a:r>
                <a:rPr lang="en-US" altLang="ko-KR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병렬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실행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구조</a:t>
              </a:r>
              <a:endPara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3272AD2-7243-A557-EAF2-F94AF14CF9AF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b="1" spc="-100" dirty="0" err="1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RunnableParallel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(Retrieval)과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패스스루를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동시에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처리합니다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하나의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`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input`에서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여러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파생시켜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컨텍스트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딕셔너리를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구성합니다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0862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C1BB0-70FB-42EA-3E00-3F5A29B69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C7C3D333-26DF-48A4-546B-771D4F0967EB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088E3D-690C-E279-EE4D-B19ACCB8A9A2}"/>
              </a:ext>
            </a:extLst>
          </p:cNvPr>
          <p:cNvSpPr txBox="1"/>
          <p:nvPr/>
        </p:nvSpPr>
        <p:spPr>
          <a:xfrm>
            <a:off x="1037063" y="128900"/>
            <a:ext cx="31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RAG</a:t>
            </a:r>
            <a:r>
              <a:rPr lang="ko-KR" altLang="en-US" sz="3600" b="1" spc="-300" dirty="0">
                <a:solidFill>
                  <a:schemeClr val="bg1"/>
                </a:solidFill>
              </a:rPr>
              <a:t> 시스템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A01C3-184D-E665-396C-7452563ADE47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CC46AA-4ACF-C6D5-614D-0A0C4583E3D0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3D2B358C-F306-8410-D093-1B8D8426C7AA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75AE484E-E511-6583-85D3-F9FFC1EDBDCF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7D37E140-56D2-B0ED-62E6-E07F9A6AF011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D7BCC26-C8E3-EF65-E60D-E16DDE076683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F70B96A1-8A0E-5D07-2A05-FD043CD0239D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94C96E9D-5392-4C7F-F25F-48CC33404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B77D001-B541-238E-CAFC-69877A576ECE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22EC686-C910-A0F1-BE05-78566C1990DD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E586582-4F4B-1894-FF97-7AD522833A4C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F0532A0-DC15-DA61-77F1-5747170CBF93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C3F5D81-3CAA-05C2-477F-64107914F9C3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rgbClr val="FF4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60D9199A-4230-45D6-3843-ED80E2329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B06A49-53A3-9D04-48A8-082E6F93B0AE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B6A5358-6A6C-41FA-A923-6AC532E33653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4E25F9A7-9164-4857-8DC3-274C822409D7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ABC6BDA4-EA1F-D8CE-8E7C-70C1F5A14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E8E5A06-E362-7A30-F2B9-084CE37E9E42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1D1A8F8-FD11-920D-487E-73757EE029FC}"/>
              </a:ext>
            </a:extLst>
          </p:cNvPr>
          <p:cNvSpPr txBox="1"/>
          <p:nvPr/>
        </p:nvSpPr>
        <p:spPr>
          <a:xfrm>
            <a:off x="437836" y="2260924"/>
            <a:ext cx="21109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하이브리드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리트리버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en-US" altLang="ko-KR" sz="16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  <a:p>
            <a:pPr marL="342900" indent="-342900" algn="l" defTabSz="914400" rtl="0" eaLnBrk="1" latinLnBrk="1" hangingPunct="1">
              <a:buFontTx/>
              <a:buAutoNum type="arabicParenBoth"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Chroma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</a:p>
          <a:p>
            <a:pPr marL="342900" indent="-342900" algn="l" defTabSz="914400" rtl="0" eaLnBrk="1" latinLnBrk="1" hangingPunct="1">
              <a:buFontTx/>
              <a:buAutoNum type="arabicParenBoth"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Ensemble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CD5B2093-5525-C0F2-C101-30E43BAAD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BE3A4C-3E46-5771-ED10-6A9F741C6DB2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63CDB6-7739-143B-0E2B-4C770A05E890}"/>
              </a:ext>
            </a:extLst>
          </p:cNvPr>
          <p:cNvSpPr txBox="1"/>
          <p:nvPr/>
        </p:nvSpPr>
        <p:spPr>
          <a:xfrm>
            <a:off x="9720403" y="2260924"/>
            <a:ext cx="211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실시간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TTS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통합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D83D89-2D22-B8B1-6C4A-A26A71EEDFB7}"/>
              </a:ext>
            </a:extLst>
          </p:cNvPr>
          <p:cNvSpPr txBox="1"/>
          <p:nvPr/>
        </p:nvSpPr>
        <p:spPr>
          <a:xfrm>
            <a:off x="3498271" y="2260924"/>
            <a:ext cx="21109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LCEL </a:t>
            </a: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체인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조립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· Retrieval → Generation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FF9C8-2DBC-4875-2E79-CF5F34EBC720}"/>
              </a:ext>
            </a:extLst>
          </p:cNvPr>
          <p:cNvSpPr txBox="1"/>
          <p:nvPr/>
        </p:nvSpPr>
        <p:spPr>
          <a:xfrm>
            <a:off x="6609337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LLM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프롬프트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엔지니어링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6815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2A2F4-CC09-8F83-D016-D4238A3B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7">
            <a:extLst>
              <a:ext uri="{FF2B5EF4-FFF2-40B4-BE49-F238E27FC236}">
                <a16:creationId xmlns:a16="http://schemas.microsoft.com/office/drawing/2014/main" id="{4E9837A0-79FF-F20F-CB6E-7A7443231C14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5" y="1014099"/>
            <a:ext cx="7005600" cy="5796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8840F0-77C6-0752-64E2-0AA8E09DC69F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58B98C-1691-2A23-449C-6C9A7AE3E4F4}"/>
              </a:ext>
            </a:extLst>
          </p:cNvPr>
          <p:cNvSpPr txBox="1"/>
          <p:nvPr/>
        </p:nvSpPr>
        <p:spPr>
          <a:xfrm>
            <a:off x="1037063" y="128900"/>
            <a:ext cx="5277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LLM </a:t>
            </a:r>
            <a:r>
              <a:rPr lang="ko-KR" altLang="en-US" sz="3600" b="1" spc="-300" dirty="0">
                <a:solidFill>
                  <a:schemeClr val="bg1"/>
                </a:solidFill>
              </a:rPr>
              <a:t>프롬프트 엔지니어링 </a:t>
            </a:r>
            <a:r>
              <a:rPr lang="en-US" altLang="ko-KR" sz="3600" b="1" spc="-300" dirty="0">
                <a:solidFill>
                  <a:schemeClr val="bg1"/>
                </a:solidFill>
              </a:rPr>
              <a:t>(1)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67FDB-02FE-DF35-B508-AD4AA6953492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424E21-FD38-14CF-A632-7F9F421278C2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966B921-0649-7B6E-0DA0-9E2A84BBD0B7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B8E2DC4-A99D-2474-5100-0308DEC1FA50}"/>
              </a:ext>
            </a:extLst>
          </p:cNvPr>
          <p:cNvGrpSpPr/>
          <p:nvPr/>
        </p:nvGrpSpPr>
        <p:grpSpPr>
          <a:xfrm>
            <a:off x="7301448" y="4955915"/>
            <a:ext cx="4611152" cy="1720730"/>
            <a:chOff x="7301448" y="4955915"/>
            <a:chExt cx="4611152" cy="172073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839E887F-97FD-6B71-C1F3-248E2EBB64B0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8" name="Picture 16">
              <a:extLst>
                <a:ext uri="{FF2B5EF4-FFF2-40B4-BE49-F238E27FC236}">
                  <a16:creationId xmlns:a16="http://schemas.microsoft.com/office/drawing/2014/main" id="{C1610F5B-F9DF-E60A-1330-7491B2425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ECCF354-D35D-CF2A-F66A-CA8F718D1A58}"/>
                </a:ext>
              </a:extLst>
            </p:cNvPr>
            <p:cNvSpPr txBox="1"/>
            <p:nvPr/>
          </p:nvSpPr>
          <p:spPr>
            <a:xfrm>
              <a:off x="8323660" y="5069712"/>
              <a:ext cx="2603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03.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동적 이력 주입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958F133-3AA3-4EF7-86FA-462605AD578D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b="1" spc="-100" dirty="0" err="1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MessagesPlaceholder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길이가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가변적인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기록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</a:t>
              </a:r>
              <a:r>
                <a:rPr lang="en-US" altLang="ko-KR" sz="1400" b="1" spc="-100" dirty="0" err="1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chat_history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)을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프롬프트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템플릿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내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적절한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위치에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유동적으로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삽입합니다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35185AC-2CED-FB96-27E6-2F1762573D73}"/>
              </a:ext>
            </a:extLst>
          </p:cNvPr>
          <p:cNvGrpSpPr/>
          <p:nvPr/>
        </p:nvGrpSpPr>
        <p:grpSpPr>
          <a:xfrm>
            <a:off x="7301448" y="2982716"/>
            <a:ext cx="4611152" cy="1720730"/>
            <a:chOff x="7301448" y="4955915"/>
            <a:chExt cx="4611152" cy="172073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7019BDAD-F55C-B0E5-2E6F-38B57F28E5C4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7" name="Picture 16">
              <a:extLst>
                <a:ext uri="{FF2B5EF4-FFF2-40B4-BE49-F238E27FC236}">
                  <a16:creationId xmlns:a16="http://schemas.microsoft.com/office/drawing/2014/main" id="{D0280652-A7D1-DCE5-FA05-02425A0D3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F67599E-8130-ACBE-8938-CDD39A0B8251}"/>
                </a:ext>
              </a:extLst>
            </p:cNvPr>
            <p:cNvSpPr txBox="1"/>
            <p:nvPr/>
          </p:nvSpPr>
          <p:spPr>
            <a:xfrm>
              <a:off x="7987831" y="5069712"/>
              <a:ext cx="3238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 02.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페르소나 및 제약조건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2593343-95A5-E390-C870-63AF6784C6BE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시스템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프롬프트에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'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입찰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분석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전문가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'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역할을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부여하고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"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문서에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없는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내용은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답변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금지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"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규칙을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명시하여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환각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(Hallucination)을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방지합니다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AE500E7-EAC7-BA24-74C9-84B9542B50D0}"/>
              </a:ext>
            </a:extLst>
          </p:cNvPr>
          <p:cNvGrpSpPr/>
          <p:nvPr/>
        </p:nvGrpSpPr>
        <p:grpSpPr>
          <a:xfrm>
            <a:off x="7341088" y="1009517"/>
            <a:ext cx="4611152" cy="1720730"/>
            <a:chOff x="7301448" y="4955915"/>
            <a:chExt cx="4611152" cy="172073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FE2B70C9-CA2D-8223-149D-E0E9B9CB98BE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2" name="Picture 16">
              <a:extLst>
                <a:ext uri="{FF2B5EF4-FFF2-40B4-BE49-F238E27FC236}">
                  <a16:creationId xmlns:a16="http://schemas.microsoft.com/office/drawing/2014/main" id="{D616A06B-C59F-CB06-58C2-48827BF90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7D40546-B89C-6E41-D02F-08D0F144712F}"/>
                </a:ext>
              </a:extLst>
            </p:cNvPr>
            <p:cNvSpPr txBox="1"/>
            <p:nvPr/>
          </p:nvSpPr>
          <p:spPr>
            <a:xfrm>
              <a:off x="7955771" y="5069712"/>
              <a:ext cx="3302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01.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맥락 인식 질문 재구성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F001614-87AB-8039-B915-D854D789F7C7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"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그거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예산은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?"과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같은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모호한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후속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질문을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이력을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참고하여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"A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프로젝트의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예산은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얼마인가요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?"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라는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완전한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형태의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질문으로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변환합니다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7627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4EFBDA-0CD0-FB73-13A8-E2C2D1AB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AA4121-53EF-E411-DF78-A86D29847E7A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A0985-752C-4194-E4B7-5C63BAEA4680}"/>
              </a:ext>
            </a:extLst>
          </p:cNvPr>
          <p:cNvSpPr txBox="1"/>
          <p:nvPr/>
        </p:nvSpPr>
        <p:spPr>
          <a:xfrm>
            <a:off x="1037063" y="128900"/>
            <a:ext cx="5277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LLM </a:t>
            </a:r>
            <a:r>
              <a:rPr lang="ko-KR" altLang="en-US" sz="3600" b="1" spc="-300" dirty="0">
                <a:solidFill>
                  <a:schemeClr val="bg1"/>
                </a:solidFill>
              </a:rPr>
              <a:t>프롬프트 엔지니어링 </a:t>
            </a:r>
            <a:r>
              <a:rPr lang="en-US" altLang="ko-KR" sz="3600" b="1" spc="-300" dirty="0">
                <a:solidFill>
                  <a:schemeClr val="bg1"/>
                </a:solidFill>
              </a:rPr>
              <a:t>(2)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5FFDD-2D62-1EA6-A06F-998371011DEE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344110-1488-A964-9907-3E4DBD1CE40C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C990D88-0892-6F78-4505-037AF6991D9A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C962CEE2-44C7-5928-E09B-0176C99DAEF1}"/>
              </a:ext>
            </a:extLst>
          </p:cNvPr>
          <p:cNvGrpSpPr/>
          <p:nvPr/>
        </p:nvGrpSpPr>
        <p:grpSpPr>
          <a:xfrm>
            <a:off x="7301448" y="4955915"/>
            <a:ext cx="4611152" cy="1720730"/>
            <a:chOff x="7301448" y="4955915"/>
            <a:chExt cx="4611152" cy="172073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BA62BA6-F5AC-60CB-52CA-61F0BE6244AA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8" name="Picture 16">
              <a:extLst>
                <a:ext uri="{FF2B5EF4-FFF2-40B4-BE49-F238E27FC236}">
                  <a16:creationId xmlns:a16="http://schemas.microsoft.com/office/drawing/2014/main" id="{5CF54036-871B-D842-2272-3EAE2294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286BBC3-336E-24D0-AD19-5D6707F68792}"/>
                </a:ext>
              </a:extLst>
            </p:cNvPr>
            <p:cNvSpPr txBox="1"/>
            <p:nvPr/>
          </p:nvSpPr>
          <p:spPr>
            <a:xfrm>
              <a:off x="8323660" y="5069712"/>
              <a:ext cx="2603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03.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동적 이력 주입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759406-A244-28F4-E930-936888907E94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b="1" spc="-100" dirty="0" err="1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MessagesPlaceholder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길이가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가변적인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기록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</a:t>
              </a:r>
              <a:r>
                <a:rPr lang="en-US" altLang="ko-KR" sz="1400" b="1" spc="-100" dirty="0" err="1">
                  <a:solidFill>
                    <a:srgbClr val="3F739B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chat_history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)을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프롬프트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템플릿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내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적절한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위치에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유동적으로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삽입합니다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DAF6C0A-0189-D60B-802E-38DEF990F2CD}"/>
              </a:ext>
            </a:extLst>
          </p:cNvPr>
          <p:cNvGrpSpPr/>
          <p:nvPr/>
        </p:nvGrpSpPr>
        <p:grpSpPr>
          <a:xfrm>
            <a:off x="7301448" y="2982716"/>
            <a:ext cx="4611152" cy="1720730"/>
            <a:chOff x="7301448" y="4955915"/>
            <a:chExt cx="4611152" cy="172073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13C851BC-FC91-BED9-79D3-7BB380D84EBC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7" name="Picture 16">
              <a:extLst>
                <a:ext uri="{FF2B5EF4-FFF2-40B4-BE49-F238E27FC236}">
                  <a16:creationId xmlns:a16="http://schemas.microsoft.com/office/drawing/2014/main" id="{6B8F6A3D-EFBE-D205-9451-06F07115B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5495FD-A9FC-8FB1-FCA5-87E8E1AC3468}"/>
                </a:ext>
              </a:extLst>
            </p:cNvPr>
            <p:cNvSpPr txBox="1"/>
            <p:nvPr/>
          </p:nvSpPr>
          <p:spPr>
            <a:xfrm>
              <a:off x="7987831" y="5069712"/>
              <a:ext cx="3238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 02.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페르소나 및 제약조건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EE436F-B66A-8567-8D56-71BA59FE304F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시스템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프롬프트에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'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입찰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분석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전문가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'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역할을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부여하고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"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문서에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없는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내용은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답변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금지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"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규칙을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명시하여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환각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(Hallucination)을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방지합니다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6AB4B67-74AA-F79B-A20A-4073FC895CF0}"/>
              </a:ext>
            </a:extLst>
          </p:cNvPr>
          <p:cNvGrpSpPr/>
          <p:nvPr/>
        </p:nvGrpSpPr>
        <p:grpSpPr>
          <a:xfrm>
            <a:off x="7341088" y="1009517"/>
            <a:ext cx="4611152" cy="1720730"/>
            <a:chOff x="7301448" y="4955915"/>
            <a:chExt cx="4611152" cy="172073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735EEA66-62DA-1853-3D3A-429F531F2CFB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2" name="Picture 16">
              <a:extLst>
                <a:ext uri="{FF2B5EF4-FFF2-40B4-BE49-F238E27FC236}">
                  <a16:creationId xmlns:a16="http://schemas.microsoft.com/office/drawing/2014/main" id="{1B174B74-85A3-E150-405E-7263B8AE6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D5817B7-EE44-1596-F054-65CFC2415C79}"/>
                </a:ext>
              </a:extLst>
            </p:cNvPr>
            <p:cNvSpPr txBox="1"/>
            <p:nvPr/>
          </p:nvSpPr>
          <p:spPr>
            <a:xfrm>
              <a:off x="7955771" y="5069712"/>
              <a:ext cx="3302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01.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맥락 인식 질문 재구성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85414F-9A86-27FF-C577-F33298A5C8C6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"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그거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예산은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?"과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같은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모호한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후속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질문을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이력을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참고하여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"A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프로젝트의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예산은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얼마인가요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?"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라는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완전한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형태의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질문으로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변환합니다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2" name="Picture 17">
            <a:extLst>
              <a:ext uri="{FF2B5EF4-FFF2-40B4-BE49-F238E27FC236}">
                <a16:creationId xmlns:a16="http://schemas.microsoft.com/office/drawing/2014/main" id="{D5B0D017-377E-12A3-5E80-2BE644D0440E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10835" y="1014099"/>
            <a:ext cx="7005600" cy="57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810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B83814-EE21-D2B3-8727-A4D84785F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8CA0ED-58BD-4416-3401-9395542A67CD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A725C-4A66-5944-4250-214A6EB9A1BB}"/>
              </a:ext>
            </a:extLst>
          </p:cNvPr>
          <p:cNvSpPr txBox="1"/>
          <p:nvPr/>
        </p:nvSpPr>
        <p:spPr>
          <a:xfrm>
            <a:off x="1037063" y="128900"/>
            <a:ext cx="31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RAG</a:t>
            </a:r>
            <a:r>
              <a:rPr lang="ko-KR" altLang="en-US" sz="3600" b="1" spc="-300" dirty="0">
                <a:solidFill>
                  <a:schemeClr val="bg1"/>
                </a:solidFill>
              </a:rPr>
              <a:t> 시스템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016115-E583-FFAB-714E-00B95638BB88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B5031D-9335-FAB8-7428-8643941B47EB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57E2EF37-4621-8843-04DE-76B8AB89B875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FC20D651-6EB5-F7AD-F3BF-A84F7227174F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B5B6FF61-EFF9-23A4-F0C5-124488DA32FD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461A113-EE01-2017-D496-6394571AC2E3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F5E95B8A-940B-880F-E4B0-2ADF6D275904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A1F8A6AD-9FBF-3F05-AB34-0C893083A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7E1F809-BB56-4469-CCCD-30822DC20DF8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B8453FF-1CAF-59F9-F1EC-91FA28A75365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D87128A-ED3C-AD35-6CD4-6785C635F4E6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49AF7B3-EA0E-4C0E-82F6-8669EF931FB4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8FE1CC6-AA15-427D-837C-2C3E932CBD0D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C80A79B6-8E1E-8FD2-B4E7-38936A4F6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4A7EBB-6FD1-4CCD-35DE-8FEA21FF2CD6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F086576-FF5B-8FE4-EF1A-A92B129552D1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D9A1EBB4-F1B5-DB41-C5F1-5E9DB2498D92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rgbClr val="FF4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1D17828B-461B-C7DB-87E8-A5408E6D1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61A9897-ABD0-D197-0638-16E0A325A426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0FAFA15-FA69-7158-8DDC-BD7CBEC305F3}"/>
              </a:ext>
            </a:extLst>
          </p:cNvPr>
          <p:cNvSpPr txBox="1"/>
          <p:nvPr/>
        </p:nvSpPr>
        <p:spPr>
          <a:xfrm>
            <a:off x="437836" y="2260924"/>
            <a:ext cx="21109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하이브리드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리트리버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endParaRPr lang="en-US" altLang="ko-KR" sz="16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  <a:p>
            <a:pPr marL="342900" indent="-342900" algn="l" defTabSz="914400" rtl="0" eaLnBrk="1" latinLnBrk="1" hangingPunct="1">
              <a:buFontTx/>
              <a:buAutoNum type="arabicParenBoth"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Chroma</a:t>
            </a:r>
            <a:r>
              <a:rPr lang="ko-KR" altLang="en-US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 </a:t>
            </a: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Dense</a:t>
            </a:r>
          </a:p>
          <a:p>
            <a:pPr marL="342900" indent="-342900" algn="l" defTabSz="914400" rtl="0" eaLnBrk="1" latinLnBrk="1" hangingPunct="1">
              <a:buFontTx/>
              <a:buAutoNum type="arabicParenBoth"/>
            </a:pPr>
            <a:r>
              <a:rPr lang="en-US" altLang="ko-KR" dirty="0">
                <a:solidFill>
                  <a:schemeClr val="dk1"/>
                </a:solidFill>
                <a:latin typeface="Noto Sans KR DemiLight" panose="020B0200000000000000" pitchFamily="50" charset="-127"/>
                <a:ea typeface="Noto Sans KR DemiLight" panose="020B0200000000000000" pitchFamily="50" charset="-127"/>
              </a:rPr>
              <a:t>Ensemble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289752-97BD-3090-FC96-C62ED37F2D00}"/>
              </a:ext>
            </a:extLst>
          </p:cNvPr>
          <p:cNvSpPr txBox="1"/>
          <p:nvPr/>
        </p:nvSpPr>
        <p:spPr>
          <a:xfrm>
            <a:off x="3498271" y="2260924"/>
            <a:ext cx="21109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LLM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프롬프트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defTabSz="914400" rtl="0" eaLnBrk="1" latinLnBrk="1" hangingPunct="1">
              <a:buFontTx/>
              <a:buNone/>
            </a:pP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엔지니어링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defTabSz="914400" rtl="0" eaLnBrk="1" latinLnBrk="1" hangingPunct="1">
              <a:buFontTx/>
              <a:buNone/>
            </a:pP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158FC3-018D-58AA-2E04-D7B19327E71C}"/>
              </a:ext>
            </a:extLst>
          </p:cNvPr>
          <p:cNvSpPr txBox="1"/>
          <p:nvPr/>
        </p:nvSpPr>
        <p:spPr>
          <a:xfrm>
            <a:off x="6609337" y="2260924"/>
            <a:ext cx="21109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LCEL </a:t>
            </a: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체인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dirty="0" err="1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조립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· Retrieval → Generation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1FF3FEF1-A24B-794F-F3A6-2FC8941A8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39CF40-7BB1-3537-66B7-B0BF365232F1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8E73C0-4424-F5BD-BA4A-D8DFAADA5797}"/>
              </a:ext>
            </a:extLst>
          </p:cNvPr>
          <p:cNvSpPr txBox="1"/>
          <p:nvPr/>
        </p:nvSpPr>
        <p:spPr>
          <a:xfrm>
            <a:off x="9720403" y="2260924"/>
            <a:ext cx="211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실시간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TTS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통합</a:t>
            </a:r>
            <a:endParaRPr lang="en-US" altLang="ko-KR" sz="1600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4929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DA857-C1C0-D031-1C70-AF6CC1F9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7">
            <a:extLst>
              <a:ext uri="{FF2B5EF4-FFF2-40B4-BE49-F238E27FC236}">
                <a16:creationId xmlns:a16="http://schemas.microsoft.com/office/drawing/2014/main" id="{AD819781-059B-4C26-864B-128F66806CC4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5" y="1014099"/>
            <a:ext cx="7005600" cy="5796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C285E6-A311-4618-990D-E87F27256261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FDEF2-0324-531E-FA9A-E2728CA32725}"/>
              </a:ext>
            </a:extLst>
          </p:cNvPr>
          <p:cNvSpPr txBox="1"/>
          <p:nvPr/>
        </p:nvSpPr>
        <p:spPr>
          <a:xfrm>
            <a:off x="1037063" y="128900"/>
            <a:ext cx="3469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실시간 </a:t>
            </a:r>
            <a:r>
              <a:rPr lang="en-US" altLang="ko-KR" sz="3600" b="1" spc="-300" dirty="0">
                <a:solidFill>
                  <a:schemeClr val="bg1"/>
                </a:solidFill>
              </a:rPr>
              <a:t>TTS </a:t>
            </a:r>
            <a:r>
              <a:rPr lang="ko-KR" altLang="en-US" sz="3600" b="1" spc="-300" dirty="0">
                <a:solidFill>
                  <a:schemeClr val="bg1"/>
                </a:solidFill>
              </a:rPr>
              <a:t>통합 </a:t>
            </a:r>
            <a:r>
              <a:rPr lang="en-US" altLang="ko-KR" sz="3600" b="1" spc="-300" dirty="0">
                <a:solidFill>
                  <a:schemeClr val="bg1"/>
                </a:solidFill>
              </a:rPr>
              <a:t>(1)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CA6AD3-C446-5BF7-F8E2-64BC5D22D2F6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D9558A-E5E2-A9BC-E352-B8FEA0F658BF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56F562C-3AA6-4BB6-C72A-1BD79B50520A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E1C096F-E482-AFCB-67CF-532E2521672D}"/>
              </a:ext>
            </a:extLst>
          </p:cNvPr>
          <p:cNvGrpSpPr/>
          <p:nvPr/>
        </p:nvGrpSpPr>
        <p:grpSpPr>
          <a:xfrm>
            <a:off x="7301448" y="4955915"/>
            <a:ext cx="4611152" cy="1720730"/>
            <a:chOff x="7301448" y="4955915"/>
            <a:chExt cx="4611152" cy="172073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4FF36F2-9048-9085-AE89-C507A9854B5F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8" name="Picture 16">
              <a:extLst>
                <a:ext uri="{FF2B5EF4-FFF2-40B4-BE49-F238E27FC236}">
                  <a16:creationId xmlns:a16="http://schemas.microsoft.com/office/drawing/2014/main" id="{57905D5A-D2FC-492A-F809-5B0D76EEF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CBB56E-48F5-254B-437A-56528BD1D392}"/>
                </a:ext>
              </a:extLst>
            </p:cNvPr>
            <p:cNvSpPr txBox="1"/>
            <p:nvPr/>
          </p:nvSpPr>
          <p:spPr>
            <a:xfrm>
              <a:off x="8323660" y="5069712"/>
              <a:ext cx="27510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03.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레이턴시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최소화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4A67B9D-F6AB-0469-0A91-7051A63E5727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답변이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완성되길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기다리지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않고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첫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완성되는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즉시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오디오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재생을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시작하여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사용자가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느끼는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시간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TTFb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)을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획기적으로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줄입니다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6393CF8-1BF1-A98F-451F-DA4A7BE7815F}"/>
              </a:ext>
            </a:extLst>
          </p:cNvPr>
          <p:cNvGrpSpPr/>
          <p:nvPr/>
        </p:nvGrpSpPr>
        <p:grpSpPr>
          <a:xfrm>
            <a:off x="7301448" y="2982716"/>
            <a:ext cx="4611152" cy="1720730"/>
            <a:chOff x="7301448" y="4955915"/>
            <a:chExt cx="4611152" cy="172073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E1989C7E-AF6E-25D1-80A5-3019C044160D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7" name="Picture 16">
              <a:extLst>
                <a:ext uri="{FF2B5EF4-FFF2-40B4-BE49-F238E27FC236}">
                  <a16:creationId xmlns:a16="http://schemas.microsoft.com/office/drawing/2014/main" id="{2A9580E7-4D25-4DBB-CAD2-5329E7D77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7238FD2-C464-5EF3-6E80-A364678618C0}"/>
                </a:ext>
              </a:extLst>
            </p:cNvPr>
            <p:cNvSpPr txBox="1"/>
            <p:nvPr/>
          </p:nvSpPr>
          <p:spPr>
            <a:xfrm>
              <a:off x="7843560" y="5069712"/>
              <a:ext cx="35269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 02.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비동기 큐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(Queue)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처리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080BF4A-1345-B2FD-148D-14CD534A896F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TTSWorker는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별도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스레드에서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동작하며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큐에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들어온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순차적으로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음성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변환합니다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메인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루프의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텍스트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생성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속도를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저하시키지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않습니다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DFFF61B-3D38-91F9-E8D3-D574BDC71757}"/>
              </a:ext>
            </a:extLst>
          </p:cNvPr>
          <p:cNvGrpSpPr/>
          <p:nvPr/>
        </p:nvGrpSpPr>
        <p:grpSpPr>
          <a:xfrm>
            <a:off x="7341088" y="1009517"/>
            <a:ext cx="4611152" cy="1720730"/>
            <a:chOff x="7301448" y="4955915"/>
            <a:chExt cx="4611152" cy="172073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A5CFAA4F-62E1-523C-17F9-E43A0EDA8BDB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2" name="Picture 16">
              <a:extLst>
                <a:ext uri="{FF2B5EF4-FFF2-40B4-BE49-F238E27FC236}">
                  <a16:creationId xmlns:a16="http://schemas.microsoft.com/office/drawing/2014/main" id="{F414972D-6B68-0EAF-85B3-47ED6A23A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0A1BD68-9CAD-4706-4B1A-67C31759BF45}"/>
                </a:ext>
              </a:extLst>
            </p:cNvPr>
            <p:cNvSpPr txBox="1"/>
            <p:nvPr/>
          </p:nvSpPr>
          <p:spPr>
            <a:xfrm>
              <a:off x="8199427" y="5069712"/>
              <a:ext cx="2815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01.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 단위 </a:t>
              </a:r>
              <a:r>
                <a:rPr lang="ko-KR" altLang="en-US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버퍼링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E3A2EB0-585C-1207-9676-0CC0F10C99E3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LLM의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토큰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단위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출력을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모아서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완성될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때까지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대기합니다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마침표나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물음표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등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종결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문자가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나오면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즉시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분리하여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TTS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엔진으로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넘깁니다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5469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7DFBF6-BFDA-7932-D890-2BE3B4F2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7">
            <a:extLst>
              <a:ext uri="{FF2B5EF4-FFF2-40B4-BE49-F238E27FC236}">
                <a16:creationId xmlns:a16="http://schemas.microsoft.com/office/drawing/2014/main" id="{737F32CD-24CC-F9A4-B06A-36B17FA4E7A4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5" y="1014099"/>
            <a:ext cx="7005600" cy="5796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E2CCA3-26B4-8D7D-D576-7389B975BFAE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D7165-9CD0-162E-1EF2-D2F8155C6B35}"/>
              </a:ext>
            </a:extLst>
          </p:cNvPr>
          <p:cNvSpPr txBox="1"/>
          <p:nvPr/>
        </p:nvSpPr>
        <p:spPr>
          <a:xfrm>
            <a:off x="1037063" y="128900"/>
            <a:ext cx="3469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실시간 </a:t>
            </a:r>
            <a:r>
              <a:rPr lang="en-US" altLang="ko-KR" sz="3600" b="1" spc="-300" dirty="0">
                <a:solidFill>
                  <a:schemeClr val="bg1"/>
                </a:solidFill>
              </a:rPr>
              <a:t>TTS </a:t>
            </a:r>
            <a:r>
              <a:rPr lang="ko-KR" altLang="en-US" sz="3600" b="1" spc="-300" dirty="0">
                <a:solidFill>
                  <a:schemeClr val="bg1"/>
                </a:solidFill>
              </a:rPr>
              <a:t>통합 </a:t>
            </a:r>
            <a:r>
              <a:rPr lang="en-US" altLang="ko-KR" sz="3600" b="1" spc="-300" dirty="0">
                <a:solidFill>
                  <a:schemeClr val="bg1"/>
                </a:solidFill>
              </a:rPr>
              <a:t>(2)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26716E-5459-D736-6233-2A164649FC70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3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4958A5-28CA-367B-4531-20A8762DA5BC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5403A27-A463-BB8C-7287-D4CB959C65AE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0EF144B-7C65-7B34-4EC5-B7EF7C79399C}"/>
              </a:ext>
            </a:extLst>
          </p:cNvPr>
          <p:cNvGrpSpPr/>
          <p:nvPr/>
        </p:nvGrpSpPr>
        <p:grpSpPr>
          <a:xfrm>
            <a:off x="7301448" y="4955915"/>
            <a:ext cx="4611152" cy="1720730"/>
            <a:chOff x="7301448" y="4955915"/>
            <a:chExt cx="4611152" cy="172073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5B7C60F-5C12-00B5-905E-0E3F6856C0B3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8" name="Picture 16">
              <a:extLst>
                <a:ext uri="{FF2B5EF4-FFF2-40B4-BE49-F238E27FC236}">
                  <a16:creationId xmlns:a16="http://schemas.microsoft.com/office/drawing/2014/main" id="{3F3BC96F-FDA5-E488-838C-D2CD81268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80804E-CE94-0ABF-DAB2-CAC3A505E970}"/>
                </a:ext>
              </a:extLst>
            </p:cNvPr>
            <p:cNvSpPr txBox="1"/>
            <p:nvPr/>
          </p:nvSpPr>
          <p:spPr>
            <a:xfrm>
              <a:off x="8323660" y="5069712"/>
              <a:ext cx="27510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03.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ko-KR" altLang="en-US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레이턴시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최소화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70B45B-49A8-2FA1-0483-719F355D9B3C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답변이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완성되길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기다리지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않고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첫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완성되는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즉시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오디오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재생을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시작하여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사용자가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느끼는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시간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TTFb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)을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획기적으로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줄입니다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C7C838F-BCA5-BD0E-68B4-FB95F1C73E9A}"/>
              </a:ext>
            </a:extLst>
          </p:cNvPr>
          <p:cNvGrpSpPr/>
          <p:nvPr/>
        </p:nvGrpSpPr>
        <p:grpSpPr>
          <a:xfrm>
            <a:off x="7301448" y="2982716"/>
            <a:ext cx="4611152" cy="1720730"/>
            <a:chOff x="7301448" y="4955915"/>
            <a:chExt cx="4611152" cy="1720730"/>
          </a:xfrm>
        </p:grpSpPr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5A77D658-A6B4-EF85-4AA9-C10BBB608F96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7" name="Picture 16">
              <a:extLst>
                <a:ext uri="{FF2B5EF4-FFF2-40B4-BE49-F238E27FC236}">
                  <a16:creationId xmlns:a16="http://schemas.microsoft.com/office/drawing/2014/main" id="{44D5A2C3-C9B3-155C-E692-43C397846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19E43CD-128F-563B-3078-6F1DEBCDE417}"/>
                </a:ext>
              </a:extLst>
            </p:cNvPr>
            <p:cNvSpPr txBox="1"/>
            <p:nvPr/>
          </p:nvSpPr>
          <p:spPr>
            <a:xfrm>
              <a:off x="7843560" y="5069712"/>
              <a:ext cx="35269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 02.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비동기 큐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(Queue)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처리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553DDAF-387A-98FC-99BD-0085E46F2B7D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TTSWorker는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별도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스레드에서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동작하며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큐에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들어온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순차적으로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음성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변환합니다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메인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루프의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텍스트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생성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속도를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저하시키지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않습니다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7E3510E4-9A94-BE0D-68A7-F47222A8DFD1}"/>
              </a:ext>
            </a:extLst>
          </p:cNvPr>
          <p:cNvGrpSpPr/>
          <p:nvPr/>
        </p:nvGrpSpPr>
        <p:grpSpPr>
          <a:xfrm>
            <a:off x="7341088" y="1009517"/>
            <a:ext cx="4611152" cy="1720730"/>
            <a:chOff x="7301448" y="4955915"/>
            <a:chExt cx="4611152" cy="1720730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DE43AA53-453F-E6E2-1DD5-D4584948371A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52" name="Picture 16">
              <a:extLst>
                <a:ext uri="{FF2B5EF4-FFF2-40B4-BE49-F238E27FC236}">
                  <a16:creationId xmlns:a16="http://schemas.microsoft.com/office/drawing/2014/main" id="{29738C97-0EA3-F497-9BD0-5E0E4656C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43CC69F-EB4C-972F-214D-DBEA882F7EF7}"/>
                </a:ext>
              </a:extLst>
            </p:cNvPr>
            <p:cNvSpPr txBox="1"/>
            <p:nvPr/>
          </p:nvSpPr>
          <p:spPr>
            <a:xfrm>
              <a:off x="8199427" y="5069712"/>
              <a:ext cx="2815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01. 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 단위 </a:t>
              </a:r>
              <a:r>
                <a:rPr lang="ko-KR" altLang="en-US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버퍼링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E675D03-89C2-EC44-420D-03A2D0BADB1F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9232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LLM의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토큰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단위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출력을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모아서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완성될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때까지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대기합니다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마침표나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물음표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등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종결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문자가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나오면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즉시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분리하여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TTS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엔진으로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넘깁니다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8930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58993-7B3C-2B8E-4092-52A17DB21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4E0207-C394-8558-77B6-7560AD402236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B3F18-A6B0-72DA-E828-306C392C466F}"/>
              </a:ext>
            </a:extLst>
          </p:cNvPr>
          <p:cNvSpPr txBox="1"/>
          <p:nvPr/>
        </p:nvSpPr>
        <p:spPr>
          <a:xfrm>
            <a:off x="1037063" y="128900"/>
            <a:ext cx="2996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TTS </a:t>
            </a:r>
            <a:r>
              <a:rPr lang="ko-KR" altLang="en-US" sz="3600" b="1" spc="-300" dirty="0">
                <a:solidFill>
                  <a:schemeClr val="bg1"/>
                </a:solidFill>
              </a:rPr>
              <a:t>시스템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A96D5-366E-20B7-2319-E2AC7E273324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4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9D400A-B36A-1DA6-C86D-8DC813047B42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BFE4BF0F-D6DE-12C9-84E7-EEB75C6E7BC5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A4B89137-9E04-59E9-D976-6E9581569712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EBC2FB31-A594-1534-FF73-6C81C5CFB063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7566A7F-E774-9376-338E-E81962E795A7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EBCB0544-3DC9-B8E0-9781-1A18B7A83DD5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rgbClr val="FF4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5FDE2E22-AF95-FE49-67C7-D743D749D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153387F-30A5-24EE-9CFE-253B9B74DFFB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B9EAF3B-7B80-3F71-62A8-CE81489F6E9A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35FDBAC-74A6-BE3C-AB3C-6E472194C3CF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AD30E0A-4BF9-B66D-43A1-2E9681FF8FF4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ADB1A1B-508D-1E51-F623-399DE988CD6A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F7B2A90C-0651-B80C-55ED-CCBAEA13D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EC7E219-994F-1D14-A682-3A588BB361AA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B44F585-3A8F-13C4-28D3-DCCD0CD786C6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03253B40-51A9-1BA7-4DE9-217198A6CE9B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54979AAA-8268-8C87-813D-DEFDA5482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B70C553-3F12-C7D1-28BF-0C0394789287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0CFED0C-60E1-9670-6DF2-A7B0EF965AA2}"/>
              </a:ext>
            </a:extLst>
          </p:cNvPr>
          <p:cNvSpPr txBox="1"/>
          <p:nvPr/>
        </p:nvSpPr>
        <p:spPr>
          <a:xfrm>
            <a:off x="437836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시스템 아키텍처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B2355D-C9F8-9665-F3B8-3A470B5407C9}"/>
              </a:ext>
            </a:extLst>
          </p:cNvPr>
          <p:cNvSpPr txBox="1"/>
          <p:nvPr/>
        </p:nvSpPr>
        <p:spPr>
          <a:xfrm>
            <a:off x="3498271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TTS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워커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비동기 처리의 핵심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1094E5-3D65-B544-6B55-0B1A2AB8AE53}"/>
              </a:ext>
            </a:extLst>
          </p:cNvPr>
          <p:cNvSpPr txBox="1"/>
          <p:nvPr/>
        </p:nvSpPr>
        <p:spPr>
          <a:xfrm>
            <a:off x="6609337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ONNX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추론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(7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단계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084E78D2-A781-05CC-178B-855CB4E7D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63A7C1-4206-2AD0-B5C0-393473489DD7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47EA4-F3B1-3CFD-F04B-E79DB634C616}"/>
              </a:ext>
            </a:extLst>
          </p:cNvPr>
          <p:cNvSpPr txBox="1"/>
          <p:nvPr/>
        </p:nvSpPr>
        <p:spPr>
          <a:xfrm>
            <a:off x="9720403" y="2260924"/>
            <a:ext cx="211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G2P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와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BERT</a:t>
            </a:r>
          </a:p>
        </p:txBody>
      </p:sp>
    </p:spTree>
    <p:extLst>
      <p:ext uri="{BB962C8B-B14F-4D97-AF65-F5344CB8AC3E}">
        <p14:creationId xmlns:p14="http://schemas.microsoft.com/office/powerpoint/2010/main" val="3836782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A106D-5021-1087-B5AA-5736B6B5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D2FA81B-5092-2700-E6CF-C8E89AEFA7BD}"/>
              </a:ext>
            </a:extLst>
          </p:cNvPr>
          <p:cNvSpPr/>
          <p:nvPr/>
        </p:nvSpPr>
        <p:spPr>
          <a:xfrm>
            <a:off x="8429258" y="2098523"/>
            <a:ext cx="2765831" cy="3562048"/>
          </a:xfrm>
          <a:prstGeom prst="roundRect">
            <a:avLst/>
          </a:prstGeom>
          <a:solidFill>
            <a:srgbClr val="FF4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62CEB9CA-CEE3-F8CA-F2DC-828F4040D35F}"/>
              </a:ext>
            </a:extLst>
          </p:cNvPr>
          <p:cNvSpPr/>
          <p:nvPr/>
        </p:nvSpPr>
        <p:spPr>
          <a:xfrm>
            <a:off x="8659560" y="2246959"/>
            <a:ext cx="2305226" cy="96272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추론 계층</a:t>
            </a:r>
            <a:endParaRPr lang="en-US" altLang="ko-KR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(ONNX Engine)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7B10D81-856B-A895-1467-77E4CD26201C}"/>
              </a:ext>
            </a:extLst>
          </p:cNvPr>
          <p:cNvSpPr/>
          <p:nvPr/>
        </p:nvSpPr>
        <p:spPr>
          <a:xfrm>
            <a:off x="994663" y="2098523"/>
            <a:ext cx="2765831" cy="356204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9EA9B27B-2FA6-DF11-65A3-FD9D7AC8130D}"/>
              </a:ext>
            </a:extLst>
          </p:cNvPr>
          <p:cNvSpPr/>
          <p:nvPr/>
        </p:nvSpPr>
        <p:spPr>
          <a:xfrm>
            <a:off x="1246166" y="2246959"/>
            <a:ext cx="2305226" cy="96272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서비스 계층</a:t>
            </a:r>
            <a:b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(TTS Worker)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3C7AF9-43EC-723B-FBAE-D7DCDE56F5F9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73025-161F-F8E7-5B37-11F598233728}"/>
              </a:ext>
            </a:extLst>
          </p:cNvPr>
          <p:cNvSpPr txBox="1"/>
          <p:nvPr/>
        </p:nvSpPr>
        <p:spPr>
          <a:xfrm>
            <a:off x="1037063" y="128900"/>
            <a:ext cx="4755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TTS </a:t>
            </a:r>
            <a:r>
              <a:rPr lang="ko-KR" altLang="en-US" sz="3600" b="1" spc="-300" dirty="0">
                <a:solidFill>
                  <a:schemeClr val="bg1"/>
                </a:solidFill>
              </a:rPr>
              <a:t>시스템 아키텍처 개요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0F0A7-1DE2-FDCA-8A9D-4AE567E61283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4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9FC1CF-C979-04C8-476B-F95DFE838BC8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37F02C-D278-0684-8B40-B61F8EFA653B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F817A-4602-DDB0-6E96-91E592A105A8}"/>
              </a:ext>
            </a:extLst>
          </p:cNvPr>
          <p:cNvSpPr txBox="1"/>
          <p:nvPr/>
        </p:nvSpPr>
        <p:spPr>
          <a:xfrm>
            <a:off x="708742" y="950975"/>
            <a:ext cx="4777658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비동기 워커와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ONNX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추론 엔진의 </a:t>
            </a:r>
            <a:r>
              <a:rPr lang="ko-KR" altLang="en-US" b="1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게층적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통합</a:t>
            </a:r>
            <a:endParaRPr lang="en-US" altLang="ko-KR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D9EDC731-69D9-EE8F-86B2-F1AE20CEA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196" t="22950" r="3863" b="26177"/>
          <a:stretch>
            <a:fillRect/>
          </a:stretch>
        </p:blipFill>
        <p:spPr>
          <a:xfrm>
            <a:off x="6781130" y="4022065"/>
            <a:ext cx="908419" cy="153442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5D59669-EC3A-7AB4-7B8A-AD61FCF583B6}"/>
              </a:ext>
            </a:extLst>
          </p:cNvPr>
          <p:cNvSpPr txBox="1"/>
          <p:nvPr/>
        </p:nvSpPr>
        <p:spPr>
          <a:xfrm>
            <a:off x="4029238" y="4407392"/>
            <a:ext cx="375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&lt;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FD104A-48C9-9B11-E51B-EB02C68A5CD9}"/>
              </a:ext>
            </a:extLst>
          </p:cNvPr>
          <p:cNvSpPr txBox="1"/>
          <p:nvPr/>
        </p:nvSpPr>
        <p:spPr>
          <a:xfrm>
            <a:off x="4500205" y="4407392"/>
            <a:ext cx="1821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음성 반환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BB2783-D614-0ACB-A333-371B59B287EC}"/>
              </a:ext>
            </a:extLst>
          </p:cNvPr>
          <p:cNvSpPr txBox="1"/>
          <p:nvPr/>
        </p:nvSpPr>
        <p:spPr>
          <a:xfrm>
            <a:off x="7689549" y="2819239"/>
            <a:ext cx="375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&gt;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28777F-0380-7D74-1259-CCD1E0C7FB97}"/>
              </a:ext>
            </a:extLst>
          </p:cNvPr>
          <p:cNvSpPr txBox="1"/>
          <p:nvPr/>
        </p:nvSpPr>
        <p:spPr>
          <a:xfrm>
            <a:off x="5004198" y="2902298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spc="-300" dirty="0">
                <a:solidFill>
                  <a:schemeClr val="bg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음성 생성 요청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43A958-7E30-86D6-7D0D-B20F82E51FC7}"/>
              </a:ext>
            </a:extLst>
          </p:cNvPr>
          <p:cNvSpPr txBox="1"/>
          <p:nvPr/>
        </p:nvSpPr>
        <p:spPr>
          <a:xfrm>
            <a:off x="1261161" y="3358846"/>
            <a:ext cx="2305227" cy="11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2800"/>
              </a:lnSpc>
            </a:pP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비동기 큐 관리</a:t>
            </a:r>
            <a:endParaRPr lang="en-US" altLang="ko-KR" sz="1800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>
              <a:lnSpc>
                <a:spcPct val="132800"/>
              </a:lnSpc>
            </a:pP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스레드 기반 병렬 처리</a:t>
            </a:r>
            <a:endParaRPr lang="en-US" altLang="ko-KR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>
              <a:lnSpc>
                <a:spcPct val="132800"/>
              </a:lnSpc>
            </a:pP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사용자 중단 제어</a:t>
            </a:r>
            <a:endParaRPr lang="en-US" altLang="ko-KR" sz="1800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FBF481-D7AA-8A31-1386-5CA9AE99506E}"/>
              </a:ext>
            </a:extLst>
          </p:cNvPr>
          <p:cNvSpPr txBox="1"/>
          <p:nvPr/>
        </p:nvSpPr>
        <p:spPr>
          <a:xfrm>
            <a:off x="8700661" y="3358846"/>
            <a:ext cx="2305227" cy="11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2800"/>
              </a:lnSpc>
            </a:pP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BERT </a:t>
            </a: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특징 추출</a:t>
            </a:r>
            <a:endParaRPr lang="en-US" altLang="ko-KR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>
              <a:lnSpc>
                <a:spcPct val="132800"/>
              </a:lnSpc>
            </a:pPr>
            <a:r>
              <a:rPr lang="en-US" altLang="ko-KR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ONNX </a:t>
            </a:r>
            <a:r>
              <a:rPr lang="ko-KR" altLang="en-US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모델 추론</a:t>
            </a:r>
            <a:endParaRPr lang="en-US" altLang="ko-KR" sz="1800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lvl="0">
              <a:lnSpc>
                <a:spcPct val="132800"/>
              </a:lnSpc>
            </a:pPr>
            <a:r>
              <a:rPr lang="en-US" altLang="ko-KR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G2P </a:t>
            </a:r>
            <a:r>
              <a:rPr lang="ko-KR" altLang="en-US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발음 변환</a:t>
            </a:r>
            <a:endParaRPr lang="en-US" altLang="ko-KR" sz="1800" spc="-100" dirty="0">
              <a:solidFill>
                <a:srgbClr val="272424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6841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3B3FE4-2605-E0EB-1290-22B306C82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A292B3D-A2E4-CFCC-AF4C-9CB9824BDF01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D2D10-D07C-20A6-DF12-4414E558A549}"/>
              </a:ext>
            </a:extLst>
          </p:cNvPr>
          <p:cNvSpPr txBox="1"/>
          <p:nvPr/>
        </p:nvSpPr>
        <p:spPr>
          <a:xfrm>
            <a:off x="1037063" y="128900"/>
            <a:ext cx="2996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TTS </a:t>
            </a:r>
            <a:r>
              <a:rPr lang="ko-KR" altLang="en-US" sz="3600" b="1" spc="-300" dirty="0">
                <a:solidFill>
                  <a:schemeClr val="bg1"/>
                </a:solidFill>
              </a:rPr>
              <a:t>시스템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E0F67-585A-8B7E-516C-48534012362D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4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7D62527-C399-3FFD-AF28-67A56C0D8DF1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A420B1AF-8E28-72E6-0055-1AAB8E577DCC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97314DA2-65D4-F433-BDCF-E99ED5478E75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332F61D6-1F11-1025-1401-3E505F5BEC30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523AF47-5A75-AFC6-4E17-A9BABF762D42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DEC00005-205A-F967-75E0-534F1F831982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5B6C47E7-9A79-1880-EE1C-D73B83CF4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449255C-DC3E-02EA-E4EB-B089DE4AD7CF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4E85186-7616-3AF4-7976-C5520F1E18CE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BD748C7-449F-A26A-6D31-0E6B24EB5E41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rgbClr val="FF4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2D6F802-DA41-1294-41D1-1A4D5C4AE976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A9C87057-899B-E0BB-10F1-1667DE5C9F11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31AC6521-C2A7-52F2-4183-ABD5971D4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9F516E9-7E06-0EA0-D1E7-9BB394F54858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D44FE92-535E-3330-3341-917F816A5508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59D219AC-F1F2-8F06-9A69-14C33FF9CEC3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B3A1FADC-8176-BB47-926D-504588F47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DE4B4F-411B-A247-BE37-1D5D165E491A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2571121-99E8-1C98-CB07-B24F7E2FF85E}"/>
              </a:ext>
            </a:extLst>
          </p:cNvPr>
          <p:cNvSpPr txBox="1"/>
          <p:nvPr/>
        </p:nvSpPr>
        <p:spPr>
          <a:xfrm>
            <a:off x="437836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시스템 아키텍처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5062FD-B27C-E7BF-9783-E70B17984F60}"/>
              </a:ext>
            </a:extLst>
          </p:cNvPr>
          <p:cNvSpPr txBox="1"/>
          <p:nvPr/>
        </p:nvSpPr>
        <p:spPr>
          <a:xfrm>
            <a:off x="3498271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TTS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워커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비동기 처리의 핵심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91DDBA-5E04-3BB0-3B4E-15F3EEDCDF60}"/>
              </a:ext>
            </a:extLst>
          </p:cNvPr>
          <p:cNvSpPr txBox="1"/>
          <p:nvPr/>
        </p:nvSpPr>
        <p:spPr>
          <a:xfrm>
            <a:off x="6609337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ONNX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추론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(7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단계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583B3144-4FAC-459B-9191-F25283EBA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C79D75-316C-C623-A8E7-293454461304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7B91EF-5F5C-9479-5D88-C52A5FAF552B}"/>
              </a:ext>
            </a:extLst>
          </p:cNvPr>
          <p:cNvSpPr txBox="1"/>
          <p:nvPr/>
        </p:nvSpPr>
        <p:spPr>
          <a:xfrm>
            <a:off x="9720403" y="2260924"/>
            <a:ext cx="211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G2P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와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BERT</a:t>
            </a:r>
          </a:p>
        </p:txBody>
      </p:sp>
    </p:spTree>
    <p:extLst>
      <p:ext uri="{BB962C8B-B14F-4D97-AF65-F5344CB8AC3E}">
        <p14:creationId xmlns:p14="http://schemas.microsoft.com/office/powerpoint/2010/main" val="1429034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833CC-858C-7A6E-5A13-E4067046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C6273E-1A98-157D-885C-66ACA60E2223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9F09D-222D-43FE-4DCC-1FFCE6ED8B3D}"/>
              </a:ext>
            </a:extLst>
          </p:cNvPr>
          <p:cNvSpPr txBox="1"/>
          <p:nvPr/>
        </p:nvSpPr>
        <p:spPr>
          <a:xfrm>
            <a:off x="1037063" y="128900"/>
            <a:ext cx="4974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TTS </a:t>
            </a:r>
            <a:r>
              <a:rPr lang="ko-KR" altLang="en-US" sz="3600" b="1" spc="-300" dirty="0">
                <a:solidFill>
                  <a:schemeClr val="bg1"/>
                </a:solidFill>
              </a:rPr>
              <a:t>워커 </a:t>
            </a:r>
            <a:r>
              <a:rPr lang="en-US" altLang="ko-KR" sz="3600" b="1" spc="-300" dirty="0">
                <a:solidFill>
                  <a:schemeClr val="bg1"/>
                </a:solidFill>
              </a:rPr>
              <a:t>: </a:t>
            </a:r>
            <a:r>
              <a:rPr lang="ko-KR" altLang="en-US" sz="3600" b="1" spc="-300" dirty="0">
                <a:solidFill>
                  <a:schemeClr val="bg1"/>
                </a:solidFill>
              </a:rPr>
              <a:t>비동기 처리 핵심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99AC0-2E5B-51BA-D903-DBCF27F0CF06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4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7C55D2-02A7-7D32-8E4F-E68F7CB4289D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F969CB8-A64C-3D52-86BF-7EE3710A92BF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B3DF0-DBC0-5EA3-94EE-2CF049F8C2B5}"/>
              </a:ext>
            </a:extLst>
          </p:cNvPr>
          <p:cNvSpPr txBox="1"/>
          <p:nvPr/>
        </p:nvSpPr>
        <p:spPr>
          <a:xfrm>
            <a:off x="708741" y="950975"/>
            <a:ext cx="5302953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Queue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와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Thread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를 통한 순서 보장 및 반응성 유지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2947D1-2AAF-E81A-0E1F-CBF40A0D8415}"/>
              </a:ext>
            </a:extLst>
          </p:cNvPr>
          <p:cNvSpPr/>
          <p:nvPr/>
        </p:nvSpPr>
        <p:spPr>
          <a:xfrm>
            <a:off x="8572405" y="1674517"/>
            <a:ext cx="3156857" cy="45324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6C046088-3556-45ED-1D9B-FA6C10ED9BDD}"/>
              </a:ext>
            </a:extLst>
          </p:cNvPr>
          <p:cNvSpPr txBox="1"/>
          <p:nvPr/>
        </p:nvSpPr>
        <p:spPr>
          <a:xfrm rot="21600000">
            <a:off x="1397097" y="1548152"/>
            <a:ext cx="22225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1" spc="-3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직렬화</a:t>
            </a:r>
            <a:r>
              <a:rPr lang="en-US" sz="2400" b="1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09966355-9F86-9070-F551-84D92FB67F84}"/>
              </a:ext>
            </a:extLst>
          </p:cNvPr>
          <p:cNvSpPr txBox="1"/>
          <p:nvPr/>
        </p:nvSpPr>
        <p:spPr>
          <a:xfrm rot="21600000">
            <a:off x="1397096" y="2056152"/>
            <a:ext cx="5016500" cy="63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FIFO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큐를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통해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문장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처리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순서를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엄격히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유지하여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오디오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겹침을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방지하고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대화의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흐름을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보장합니다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
</a:t>
            </a:r>
          </a:p>
        </p:txBody>
      </p:sp>
      <p:pic>
        <p:nvPicPr>
          <p:cNvPr id="7" name="Picture 20">
            <a:extLst>
              <a:ext uri="{FF2B5EF4-FFF2-40B4-BE49-F238E27FC236}">
                <a16:creationId xmlns:a16="http://schemas.microsoft.com/office/drawing/2014/main" id="{89C2C39A-73AB-15A0-4978-8A60762F6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97" y="1548151"/>
            <a:ext cx="469900" cy="1485900"/>
          </a:xfrm>
          <a:prstGeom prst="rect">
            <a:avLst/>
          </a:prstGeom>
        </p:spPr>
      </p:pic>
      <p:sp>
        <p:nvSpPr>
          <p:cNvPr id="9" name="TextBox 21">
            <a:extLst>
              <a:ext uri="{FF2B5EF4-FFF2-40B4-BE49-F238E27FC236}">
                <a16:creationId xmlns:a16="http://schemas.microsoft.com/office/drawing/2014/main" id="{31363EBC-F823-5ABB-4231-E863885BA93B}"/>
              </a:ext>
            </a:extLst>
          </p:cNvPr>
          <p:cNvSpPr txBox="1"/>
          <p:nvPr/>
        </p:nvSpPr>
        <p:spPr>
          <a:xfrm rot="21600000">
            <a:off x="1397097" y="3135651"/>
            <a:ext cx="22225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sz="2400" b="1" spc="-3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비차단</a:t>
            </a:r>
            <a:r>
              <a:rPr lang="en-US" sz="2400" b="1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sz="2400" b="1" spc="-3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실행</a:t>
            </a:r>
            <a:r>
              <a:rPr lang="en-US" sz="2400" b="1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4C25C5F8-CFD7-97ED-2D8A-04F50E52B869}"/>
              </a:ext>
            </a:extLst>
          </p:cNvPr>
          <p:cNvSpPr txBox="1"/>
          <p:nvPr/>
        </p:nvSpPr>
        <p:spPr>
          <a:xfrm rot="21600000">
            <a:off x="1397096" y="3605549"/>
            <a:ext cx="6807200" cy="96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별도의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워커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스레드에서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합성을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수행하여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 </a:t>
            </a:r>
          </a:p>
          <a:p>
            <a:pPr>
              <a:lnSpc>
                <a:spcPct val="116199"/>
              </a:lnSpc>
            </a:pP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메인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UI나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RAG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프로세스의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지연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없이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실시간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응답을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가능하게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합니다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pic>
        <p:nvPicPr>
          <p:cNvPr id="15" name="Picture 23">
            <a:extLst>
              <a:ext uri="{FF2B5EF4-FFF2-40B4-BE49-F238E27FC236}">
                <a16:creationId xmlns:a16="http://schemas.microsoft.com/office/drawing/2014/main" id="{81BC21FA-56B1-1979-203D-0A641179B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97" y="3135651"/>
            <a:ext cx="393700" cy="1663700"/>
          </a:xfrm>
          <a:prstGeom prst="rect">
            <a:avLst/>
          </a:prstGeom>
        </p:spPr>
      </p:pic>
      <p:sp>
        <p:nvSpPr>
          <p:cNvPr id="17" name="TextBox 24">
            <a:extLst>
              <a:ext uri="{FF2B5EF4-FFF2-40B4-BE49-F238E27FC236}">
                <a16:creationId xmlns:a16="http://schemas.microsoft.com/office/drawing/2014/main" id="{0C6675F2-9E08-AB6B-45F1-08546EA815BD}"/>
              </a:ext>
            </a:extLst>
          </p:cNvPr>
          <p:cNvSpPr txBox="1"/>
          <p:nvPr/>
        </p:nvSpPr>
        <p:spPr>
          <a:xfrm rot="21600000">
            <a:off x="1397097" y="4900951"/>
            <a:ext cx="14732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sz="2400" b="1" spc="-3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즉시</a:t>
            </a:r>
            <a:r>
              <a:rPr lang="en-US" sz="2400" b="1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sz="2400" b="1" spc="-3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중단</a:t>
            </a:r>
            <a:r>
              <a:rPr lang="en-US" sz="2400" b="1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 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2B4FA318-AD70-ECDC-853A-690B6F62AF6F}"/>
              </a:ext>
            </a:extLst>
          </p:cNvPr>
          <p:cNvSpPr txBox="1"/>
          <p:nvPr/>
        </p:nvSpPr>
        <p:spPr>
          <a:xfrm rot="21600000">
            <a:off x="1397096" y="5357827"/>
            <a:ext cx="5372100" cy="96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사용자의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새로운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입력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시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현재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재생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중인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프로세스를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 </a:t>
            </a:r>
          </a:p>
          <a:p>
            <a:pPr>
              <a:lnSpc>
                <a:spcPct val="116199"/>
              </a:lnSpc>
            </a:pP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즉시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종료하고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큐를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비워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최상의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반응성을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제공합니다</a:t>
            </a:r>
            <a:r>
              <a:rPr lang="en-US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
</a:t>
            </a:r>
          </a:p>
        </p:txBody>
      </p:sp>
      <p:pic>
        <p:nvPicPr>
          <p:cNvPr id="19" name="Picture 26">
            <a:extLst>
              <a:ext uri="{FF2B5EF4-FFF2-40B4-BE49-F238E27FC236}">
                <a16:creationId xmlns:a16="http://schemas.microsoft.com/office/drawing/2014/main" id="{6908B4C1-1384-35D3-B503-91124A85F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97" y="4900951"/>
            <a:ext cx="457200" cy="1473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AD6973A-4F39-76CE-C380-EC619D1E4ADB}"/>
              </a:ext>
            </a:extLst>
          </p:cNvPr>
          <p:cNvSpPr txBox="1"/>
          <p:nvPr/>
        </p:nvSpPr>
        <p:spPr>
          <a:xfrm>
            <a:off x="9409813" y="1873412"/>
            <a:ext cx="1456639" cy="423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2800"/>
              </a:lnSpc>
            </a:pPr>
            <a:r>
              <a:rPr lang="en-US" altLang="ko-KR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FIFO QUEUE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65A6BE-0956-550A-0CD9-2434DC6AB71F}"/>
              </a:ext>
            </a:extLst>
          </p:cNvPr>
          <p:cNvSpPr/>
          <p:nvPr/>
        </p:nvSpPr>
        <p:spPr>
          <a:xfrm>
            <a:off x="9147533" y="2490153"/>
            <a:ext cx="2006600" cy="472259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PROCESSING ..</a:t>
            </a:r>
            <a:endParaRPr lang="ko-KR" altLang="en-US" sz="160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00FFED-ECBE-7094-EE84-E0DE4091D881}"/>
              </a:ext>
            </a:extLst>
          </p:cNvPr>
          <p:cNvSpPr/>
          <p:nvPr/>
        </p:nvSpPr>
        <p:spPr>
          <a:xfrm>
            <a:off x="9147533" y="3136333"/>
            <a:ext cx="2006600" cy="472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SENTENCE 02</a:t>
            </a:r>
            <a:endParaRPr lang="ko-KR" altLang="en-US" sz="160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3866C0-F5D3-EC14-6815-6B84FA177794}"/>
              </a:ext>
            </a:extLst>
          </p:cNvPr>
          <p:cNvSpPr/>
          <p:nvPr/>
        </p:nvSpPr>
        <p:spPr>
          <a:xfrm>
            <a:off x="9147533" y="3782513"/>
            <a:ext cx="2006600" cy="472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SENTENCE 03</a:t>
            </a:r>
            <a:endParaRPr lang="ko-KR" altLang="en-US" sz="160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421F8F-5C61-C337-4702-8564CB195164}"/>
              </a:ext>
            </a:extLst>
          </p:cNvPr>
          <p:cNvSpPr/>
          <p:nvPr/>
        </p:nvSpPr>
        <p:spPr>
          <a:xfrm>
            <a:off x="9147533" y="4428692"/>
            <a:ext cx="2006600" cy="472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SENTENCE 04</a:t>
            </a:r>
            <a:endParaRPr lang="ko-KR" altLang="en-US" sz="1600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D57C121B-F3CD-58F8-0E03-87BBCF741C1E}"/>
              </a:ext>
            </a:extLst>
          </p:cNvPr>
          <p:cNvSpPr txBox="1"/>
          <p:nvPr/>
        </p:nvSpPr>
        <p:spPr>
          <a:xfrm rot="21600000">
            <a:off x="10042883" y="5038926"/>
            <a:ext cx="215901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376" b="1" i="0" u="none" strike="noStrike" dirty="0">
                <a:solidFill>
                  <a:srgbClr val="FF4F00"/>
                </a:solidFill>
                <a:latin typeface="Pretendard Regular"/>
                <a:ea typeface="Pretendard Regular"/>
                <a:cs typeface="Pretendard Regular"/>
              </a:rPr>
              <a:t>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47A0D0-5EB2-0625-BF36-94135FA9356D}"/>
              </a:ext>
            </a:extLst>
          </p:cNvPr>
          <p:cNvSpPr txBox="1"/>
          <p:nvPr/>
        </p:nvSpPr>
        <p:spPr>
          <a:xfrm>
            <a:off x="9168513" y="5416657"/>
            <a:ext cx="1964639" cy="423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2800"/>
              </a:lnSpc>
            </a:pPr>
            <a:r>
              <a:rPr lang="en-US" altLang="ko-KR" sz="18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WORKER THREAD</a:t>
            </a:r>
          </a:p>
        </p:txBody>
      </p:sp>
    </p:spTree>
    <p:extLst>
      <p:ext uri="{BB962C8B-B14F-4D97-AF65-F5344CB8AC3E}">
        <p14:creationId xmlns:p14="http://schemas.microsoft.com/office/powerpoint/2010/main" val="516863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A2ADD-C44D-A3CB-9716-FD6EF759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04FF99-2B80-2BE3-C388-49054019F393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C2CAB-59FA-6542-07AD-8A56067B4A2C}"/>
              </a:ext>
            </a:extLst>
          </p:cNvPr>
          <p:cNvSpPr txBox="1"/>
          <p:nvPr/>
        </p:nvSpPr>
        <p:spPr>
          <a:xfrm>
            <a:off x="1037063" y="128900"/>
            <a:ext cx="2996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TTS </a:t>
            </a:r>
            <a:r>
              <a:rPr lang="ko-KR" altLang="en-US" sz="3600" b="1" spc="-300" dirty="0">
                <a:solidFill>
                  <a:schemeClr val="bg1"/>
                </a:solidFill>
              </a:rPr>
              <a:t>시스템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4F850-AAC8-3586-FEC9-C9F1CD0D0B06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4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CF8DCDA-10DE-24D5-84D7-D712622522B6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007609B2-B043-5A22-B2DF-192F6876B4E1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6350566B-A2F2-6F4B-9D11-11DA137358A0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27A663D5-CCE5-0493-D1BD-635CB3E00C65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CA09F31-99EE-2044-2C94-D73E704D43F0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EC41B464-1977-3AC6-442A-9C513EEAE3CE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70FAF44C-3D7E-6C5D-047B-FAF836909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FE02971-6C98-2DE8-C86B-128A31599CE3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6AE5EAA-CE71-7FF8-6F87-62767A9F494B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366DF0-0A32-4C57-4E36-7DCA4EB42F76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BA1F1B9-53EB-EC80-01F2-3A86C0B9A00D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3591CCC-EE54-A8E4-7089-9D92DAB7057A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rgbClr val="FF4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8934F694-C4D2-00C8-5454-5AC8ED865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308FED5-0B1C-6126-38B5-F8155094006F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DA740B2-6E3B-8F4C-15F9-D35F3451D06F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50FFC6B1-C59A-3928-002A-2760BBB49446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417C05D8-9DF0-4355-5141-E3085DBAE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CF4BEE1-9CB4-85D2-405A-36FE1A68B026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7749108C-A4E4-3E32-07F4-86FA28964A44}"/>
              </a:ext>
            </a:extLst>
          </p:cNvPr>
          <p:cNvSpPr txBox="1"/>
          <p:nvPr/>
        </p:nvSpPr>
        <p:spPr>
          <a:xfrm>
            <a:off x="437836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시스템 아키텍처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1FC0CE-F66D-E563-F4C3-637A5329786F}"/>
              </a:ext>
            </a:extLst>
          </p:cNvPr>
          <p:cNvSpPr txBox="1"/>
          <p:nvPr/>
        </p:nvSpPr>
        <p:spPr>
          <a:xfrm>
            <a:off x="3498271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TTS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워커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비동기 처리의 핵심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4A01A2C-23B9-57A6-FEEF-8BCC548498C0}"/>
              </a:ext>
            </a:extLst>
          </p:cNvPr>
          <p:cNvSpPr txBox="1"/>
          <p:nvPr/>
        </p:nvSpPr>
        <p:spPr>
          <a:xfrm>
            <a:off x="6609337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ONNX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추론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(7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단계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3E297088-DEB1-D4AE-D3C1-8FFE4F459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0A1001-860B-F3FA-F644-0943334F07C8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0181E-10A3-27D0-2677-6D43F78697F3}"/>
              </a:ext>
            </a:extLst>
          </p:cNvPr>
          <p:cNvSpPr txBox="1"/>
          <p:nvPr/>
        </p:nvSpPr>
        <p:spPr>
          <a:xfrm>
            <a:off x="9720403" y="2260924"/>
            <a:ext cx="211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G2P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와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BERT</a:t>
            </a:r>
          </a:p>
        </p:txBody>
      </p:sp>
    </p:spTree>
    <p:extLst>
      <p:ext uri="{BB962C8B-B14F-4D97-AF65-F5344CB8AC3E}">
        <p14:creationId xmlns:p14="http://schemas.microsoft.com/office/powerpoint/2010/main" val="1384557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2246A-3567-9676-BF7C-1AE44F6B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42ADE0-40D1-269F-791F-565446E08E64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0A9DF-B10B-9049-B098-3D73EDD212D6}"/>
              </a:ext>
            </a:extLst>
          </p:cNvPr>
          <p:cNvSpPr txBox="1"/>
          <p:nvPr/>
        </p:nvSpPr>
        <p:spPr>
          <a:xfrm>
            <a:off x="1037063" y="128900"/>
            <a:ext cx="4301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ONNX</a:t>
            </a:r>
            <a:r>
              <a:rPr lang="ko-KR" altLang="en-US" sz="3600" b="1" spc="-300" dirty="0">
                <a:solidFill>
                  <a:schemeClr val="bg1"/>
                </a:solidFill>
              </a:rPr>
              <a:t> 추론 파이프라인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70A03-2746-C656-903A-C0AF25767073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4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AEC6BB-7EF6-A217-5600-2291E89FC57C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CB0F0FC-3776-93CD-95D2-2B4028966888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5DA86-E281-3667-D606-2F970B348ECD}"/>
              </a:ext>
            </a:extLst>
          </p:cNvPr>
          <p:cNvSpPr txBox="1"/>
          <p:nvPr/>
        </p:nvSpPr>
        <p:spPr>
          <a:xfrm>
            <a:off x="708741" y="950975"/>
            <a:ext cx="5302953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텍스트 정규화부터 음성 합성까지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7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단계 프로세스</a:t>
            </a:r>
            <a:endParaRPr lang="en-US" altLang="ko-KR" b="1" dirty="0">
              <a:solidFill>
                <a:prstClr val="whit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8698391-5AFD-6E19-5EE4-46431DF27215}"/>
              </a:ext>
            </a:extLst>
          </p:cNvPr>
          <p:cNvGrpSpPr/>
          <p:nvPr/>
        </p:nvGrpSpPr>
        <p:grpSpPr>
          <a:xfrm>
            <a:off x="675517" y="1384040"/>
            <a:ext cx="10966634" cy="5345060"/>
            <a:chOff x="675517" y="1384040"/>
            <a:chExt cx="10966634" cy="5345060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0532A42-A7D5-0F62-5871-650F8334DB57}"/>
                </a:ext>
              </a:extLst>
            </p:cNvPr>
            <p:cNvSpPr/>
            <p:nvPr/>
          </p:nvSpPr>
          <p:spPr>
            <a:xfrm>
              <a:off x="675517" y="1384041"/>
              <a:ext cx="10950426" cy="6286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400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 01. </a:t>
              </a:r>
              <a:r>
                <a:rPr lang="en-US" altLang="ko-KR" b="1" dirty="0" err="1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텍스트</a:t>
              </a:r>
              <a:r>
                <a:rPr lang="en-US" altLang="ko-KR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정규화</a:t>
              </a:r>
              <a:endPara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921AFE0-9D2E-4A42-2444-15600968813E}"/>
                </a:ext>
              </a:extLst>
            </p:cNvPr>
            <p:cNvSpPr/>
            <p:nvPr/>
          </p:nvSpPr>
          <p:spPr>
            <a:xfrm>
              <a:off x="675517" y="2170109"/>
              <a:ext cx="10950426" cy="6286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400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 02. </a:t>
              </a:r>
              <a:r>
                <a:rPr lang="en-US" altLang="ko-KR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G2P </a:t>
              </a:r>
              <a:r>
                <a:rPr lang="ko-KR" altLang="en-US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변환</a:t>
              </a:r>
              <a:endPara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9420A23-5C03-3D3B-A1D6-4581C873A5A3}"/>
                </a:ext>
              </a:extLst>
            </p:cNvPr>
            <p:cNvSpPr/>
            <p:nvPr/>
          </p:nvSpPr>
          <p:spPr>
            <a:xfrm>
              <a:off x="675517" y="2956177"/>
              <a:ext cx="10950426" cy="62865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400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 03. </a:t>
              </a:r>
              <a:r>
                <a:rPr lang="en-US" altLang="ko-KR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BERT </a:t>
              </a:r>
              <a:r>
                <a:rPr lang="en-US" altLang="ko-KR" b="1" dirty="0" err="1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특징</a:t>
              </a:r>
              <a:r>
                <a:rPr lang="en-US" altLang="ko-KR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추출</a:t>
              </a:r>
              <a:endParaRPr lang="ko-KR" altLang="en-US" dirty="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F48BDEE-8F84-89DD-D03C-63A0618C623C}"/>
                </a:ext>
              </a:extLst>
            </p:cNvPr>
            <p:cNvSpPr/>
            <p:nvPr/>
          </p:nvSpPr>
          <p:spPr>
            <a:xfrm>
              <a:off x="675517" y="3742245"/>
              <a:ext cx="10950426" cy="6286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400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 04. </a:t>
              </a:r>
              <a:r>
                <a:rPr lang="ko-KR" altLang="en-US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입력 </a:t>
              </a:r>
              <a:r>
                <a:rPr lang="ko-KR" altLang="en-US" b="1" dirty="0" err="1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텐서</a:t>
              </a:r>
              <a:r>
                <a:rPr lang="ko-KR" altLang="en-US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구성</a:t>
              </a:r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4F441F2-25A6-5231-1B3E-4EE382C4EFD4}"/>
                </a:ext>
              </a:extLst>
            </p:cNvPr>
            <p:cNvSpPr/>
            <p:nvPr/>
          </p:nvSpPr>
          <p:spPr>
            <a:xfrm>
              <a:off x="675517" y="4528313"/>
              <a:ext cx="10950426" cy="62865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400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 05. </a:t>
              </a:r>
              <a:r>
                <a:rPr lang="en-US" altLang="ko-KR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TTS </a:t>
              </a:r>
              <a:r>
                <a:rPr lang="ko-KR" altLang="en-US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모델 추론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1C3659EB-B767-9BBF-4B7C-A7BDBEA20BB4}"/>
                </a:ext>
              </a:extLst>
            </p:cNvPr>
            <p:cNvSpPr/>
            <p:nvPr/>
          </p:nvSpPr>
          <p:spPr>
            <a:xfrm>
              <a:off x="675517" y="5314381"/>
              <a:ext cx="10950426" cy="628651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400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 06. </a:t>
              </a:r>
              <a:r>
                <a:rPr lang="ko-KR" altLang="en-US" b="1" dirty="0">
                  <a:solidFill>
                    <a:schemeClr val="tx1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 결합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6A31C11-5293-CC20-93CE-7A8DFD22DDDA}"/>
                </a:ext>
              </a:extLst>
            </p:cNvPr>
            <p:cNvSpPr/>
            <p:nvPr/>
          </p:nvSpPr>
          <p:spPr>
            <a:xfrm>
              <a:off x="3360217" y="1393492"/>
              <a:ext cx="8265726" cy="61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입력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텍스트의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기호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숫자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,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약어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등을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표준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발음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형식으로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정규화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(Normalize)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합니다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dirty="0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D552303-14AD-5BEC-219A-455E53802FD4}"/>
                </a:ext>
              </a:extLst>
            </p:cNvPr>
            <p:cNvSpPr/>
            <p:nvPr/>
          </p:nvSpPr>
          <p:spPr>
            <a:xfrm>
              <a:off x="3360217" y="2186760"/>
              <a:ext cx="8265726" cy="61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입력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텍스트를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발음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단위인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Phoneme 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시퀀스로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변환합니다</a:t>
              </a:r>
              <a:r>
                <a:rPr lang="en-US" altLang="ko-KR" dirty="0">
                  <a:solidFill>
                    <a:srgbClr val="555555"/>
                  </a:solidFill>
                  <a:latin typeface="Pretendard Regular"/>
                  <a:ea typeface="Pretendard Regular"/>
                  <a:cs typeface="Pretendard Regular"/>
                </a:rPr>
                <a:t>.</a:t>
              </a:r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AE0518E-AB79-F3F7-AF52-B62CFB192D20}"/>
                </a:ext>
              </a:extLst>
            </p:cNvPr>
            <p:cNvSpPr/>
            <p:nvPr/>
          </p:nvSpPr>
          <p:spPr>
            <a:xfrm>
              <a:off x="3360217" y="2972828"/>
              <a:ext cx="8265726" cy="612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BERT ONNX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모델을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통해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문맥적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의미가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담긴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Phone-level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feature를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생성합니다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A8B02A-67B2-1DD0-B805-81E1AB499118}"/>
                </a:ext>
              </a:extLst>
            </p:cNvPr>
            <p:cNvSpPr/>
            <p:nvPr/>
          </p:nvSpPr>
          <p:spPr>
            <a:xfrm>
              <a:off x="3360217" y="3758896"/>
              <a:ext cx="8265726" cy="61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Phoneme ID, Language, BERT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특징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등을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결합하여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TTS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모델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입력을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생성합니다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164D7AF-561E-5260-6B52-1AB2DCA1ADF6}"/>
                </a:ext>
              </a:extLst>
            </p:cNvPr>
            <p:cNvSpPr/>
            <p:nvPr/>
          </p:nvSpPr>
          <p:spPr>
            <a:xfrm>
              <a:off x="3360217" y="4544964"/>
              <a:ext cx="8265726" cy="6120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16199"/>
                </a:lnSpc>
              </a:pP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최적화된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ONNX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세션을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통해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텍스트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특징으로부터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최종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음성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파형을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합성합니다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4BF7899-C783-B248-E4BA-FAFE47DCC8E7}"/>
                </a:ext>
              </a:extLst>
            </p:cNvPr>
            <p:cNvSpPr/>
            <p:nvPr/>
          </p:nvSpPr>
          <p:spPr>
            <a:xfrm>
              <a:off x="3210128" y="5331032"/>
              <a:ext cx="8415815" cy="612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lnSpc>
                  <a:spcPct val="116199"/>
                </a:lnSpc>
              </a:pP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긴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문장은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구두점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기준으로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분할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합성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후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np.concatenate로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자연스럽게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이어붙입니다</a:t>
              </a:r>
              <a:r>
                <a:rPr lang="en-US" altLang="ko-K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093DA6F-ACC1-A51C-42E5-B5CC50EB2D9B}"/>
                </a:ext>
              </a:extLst>
            </p:cNvPr>
            <p:cNvGrpSpPr/>
            <p:nvPr/>
          </p:nvGrpSpPr>
          <p:grpSpPr>
            <a:xfrm>
              <a:off x="691725" y="6100449"/>
              <a:ext cx="10950426" cy="628651"/>
              <a:chOff x="827917" y="6100449"/>
              <a:chExt cx="10950426" cy="628651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AC72EEEC-922F-6B25-0307-A08E21715214}"/>
                  </a:ext>
                </a:extLst>
              </p:cNvPr>
              <p:cNvSpPr/>
              <p:nvPr/>
            </p:nvSpPr>
            <p:spPr>
              <a:xfrm>
                <a:off x="827917" y="6100449"/>
                <a:ext cx="10950426" cy="628651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2400" b="1" dirty="0">
                    <a:solidFill>
                      <a:srgbClr val="FF4F00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  07. </a:t>
                </a:r>
                <a:r>
                  <a:rPr lang="ko-KR" altLang="en-US" b="1" dirty="0">
                    <a:solidFill>
                      <a:schemeClr val="tx1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오디오 출력</a:t>
                </a: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A9FCBA85-8B6B-616E-7C9B-254DABEC2FD0}"/>
                  </a:ext>
                </a:extLst>
              </p:cNvPr>
              <p:cNvSpPr/>
              <p:nvPr/>
            </p:nvSpPr>
            <p:spPr>
              <a:xfrm>
                <a:off x="3512617" y="6117100"/>
                <a:ext cx="8265726" cy="612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>
                  <a:lnSpc>
                    <a:spcPct val="116199"/>
                  </a:lnSpc>
                </a:pP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</a:t>
                </a:r>
                <a:r>
                  <a:rPr lang="en-US" altLang="ko-KR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최종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</a:t>
                </a:r>
                <a:r>
                  <a:rPr lang="en-US" altLang="ko-KR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합성된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</a:t>
                </a:r>
                <a:r>
                  <a:rPr lang="en-US" altLang="ko-KR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파형을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</a:t>
                </a:r>
                <a:r>
                  <a:rPr lang="en-US" altLang="ko-KR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반환하거나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WAV </a:t>
                </a:r>
                <a:r>
                  <a:rPr lang="en-US" altLang="ko-KR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파일로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</a:t>
                </a:r>
                <a:r>
                  <a:rPr lang="en-US" altLang="ko-KR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저장하여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</a:t>
                </a:r>
                <a:r>
                  <a:rPr lang="en-US" altLang="ko-KR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재생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</a:t>
                </a:r>
                <a:r>
                  <a:rPr lang="en-US" altLang="ko-KR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준비를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 </a:t>
                </a:r>
                <a:r>
                  <a:rPr lang="en-US" altLang="ko-KR" b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마칩니다</a:t>
                </a:r>
                <a:r>
                  <a:rPr lang="en-US" altLang="ko-K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.</a:t>
                </a:r>
              </a:p>
            </p:txBody>
          </p: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C15537B-E6FA-7ED1-3DEA-34BD07A2D80B}"/>
                </a:ext>
              </a:extLst>
            </p:cNvPr>
            <p:cNvSpPr/>
            <p:nvPr/>
          </p:nvSpPr>
          <p:spPr>
            <a:xfrm>
              <a:off x="675517" y="1384040"/>
              <a:ext cx="45719" cy="6286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EA033DF-A16A-860B-495E-80292631E0A2}"/>
                </a:ext>
              </a:extLst>
            </p:cNvPr>
            <p:cNvSpPr/>
            <p:nvPr/>
          </p:nvSpPr>
          <p:spPr>
            <a:xfrm>
              <a:off x="675517" y="2170109"/>
              <a:ext cx="45719" cy="6286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613D1EC-6981-8AF6-3628-5B8EA477C0CE}"/>
                </a:ext>
              </a:extLst>
            </p:cNvPr>
            <p:cNvSpPr/>
            <p:nvPr/>
          </p:nvSpPr>
          <p:spPr>
            <a:xfrm>
              <a:off x="685881" y="2956176"/>
              <a:ext cx="45719" cy="628651"/>
            </a:xfrm>
            <a:prstGeom prst="rect">
              <a:avLst/>
            </a:prstGeom>
            <a:solidFill>
              <a:srgbClr val="FF4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22603F7-29BE-1A21-3576-3D85CD31D94E}"/>
                </a:ext>
              </a:extLst>
            </p:cNvPr>
            <p:cNvSpPr/>
            <p:nvPr/>
          </p:nvSpPr>
          <p:spPr>
            <a:xfrm>
              <a:off x="685881" y="3742245"/>
              <a:ext cx="45719" cy="6286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6E5F0D2-6516-B910-BFD0-A0224D0C8614}"/>
                </a:ext>
              </a:extLst>
            </p:cNvPr>
            <p:cNvSpPr/>
            <p:nvPr/>
          </p:nvSpPr>
          <p:spPr>
            <a:xfrm>
              <a:off x="675517" y="4528313"/>
              <a:ext cx="45719" cy="628651"/>
            </a:xfrm>
            <a:prstGeom prst="rect">
              <a:avLst/>
            </a:prstGeom>
            <a:solidFill>
              <a:srgbClr val="FF4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ADEE2A3-04FD-1ADE-A23D-854BBBDC169A}"/>
                </a:ext>
              </a:extLst>
            </p:cNvPr>
            <p:cNvSpPr/>
            <p:nvPr/>
          </p:nvSpPr>
          <p:spPr>
            <a:xfrm>
              <a:off x="691725" y="6100449"/>
              <a:ext cx="45719" cy="6286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9AC57E0-E681-F146-9EE8-E2B4A22D295E}"/>
                </a:ext>
              </a:extLst>
            </p:cNvPr>
            <p:cNvSpPr/>
            <p:nvPr/>
          </p:nvSpPr>
          <p:spPr>
            <a:xfrm>
              <a:off x="675517" y="5314381"/>
              <a:ext cx="45719" cy="62865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7553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80FC04-7555-A498-CD4D-C79DD811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D897D6-FCBA-E9BF-ADF2-4C9B1854DEA1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AD3ECE-4819-F99B-1698-17B7D108121A}"/>
              </a:ext>
            </a:extLst>
          </p:cNvPr>
          <p:cNvSpPr txBox="1"/>
          <p:nvPr/>
        </p:nvSpPr>
        <p:spPr>
          <a:xfrm>
            <a:off x="1037063" y="128900"/>
            <a:ext cx="2996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TTS </a:t>
            </a:r>
            <a:r>
              <a:rPr lang="ko-KR" altLang="en-US" sz="3600" b="1" spc="-300" dirty="0">
                <a:solidFill>
                  <a:schemeClr val="bg1"/>
                </a:solidFill>
              </a:rPr>
              <a:t>시스템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5FAB9-D50A-CF2C-6D80-748A22F4DACF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4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64CEEC-08D5-376C-8BD9-B6AB62587C51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D577CFF8-7159-F4B8-7F37-A53F42A6DDA6}"/>
              </a:ext>
            </a:extLst>
          </p:cNvPr>
          <p:cNvSpPr txBox="1"/>
          <p:nvPr/>
        </p:nvSpPr>
        <p:spPr>
          <a:xfrm rot="21600000">
            <a:off x="2885098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53B0191E-636F-F539-29C9-D1C14BEBD280}"/>
              </a:ext>
            </a:extLst>
          </p:cNvPr>
          <p:cNvSpPr txBox="1"/>
          <p:nvPr/>
        </p:nvSpPr>
        <p:spPr>
          <a:xfrm rot="21600000">
            <a:off x="6005251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16806040-38FF-EF43-9E2D-27B7C4CD4CAC}"/>
              </a:ext>
            </a:extLst>
          </p:cNvPr>
          <p:cNvSpPr txBox="1"/>
          <p:nvPr/>
        </p:nvSpPr>
        <p:spPr>
          <a:xfrm rot="21600000">
            <a:off x="9125403" y="3268531"/>
            <a:ext cx="33655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82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Pretendard Regular"/>
              </a:rPr>
              <a:t>&gt;&gt;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87466EA-A451-1DEF-4F2E-285007201FBC}"/>
              </a:ext>
            </a:extLst>
          </p:cNvPr>
          <p:cNvGrpSpPr/>
          <p:nvPr/>
        </p:nvGrpSpPr>
        <p:grpSpPr>
          <a:xfrm>
            <a:off x="342981" y="1431662"/>
            <a:ext cx="2300630" cy="4016638"/>
            <a:chOff x="342981" y="1431662"/>
            <a:chExt cx="2300630" cy="4579766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BC84106B-0539-F0A5-EC7B-294C268A4C4E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0" name="Picture 16">
              <a:extLst>
                <a:ext uri="{FF2B5EF4-FFF2-40B4-BE49-F238E27FC236}">
                  <a16:creationId xmlns:a16="http://schemas.microsoft.com/office/drawing/2014/main" id="{C1BEE53B-6A3C-FAFE-B6A9-E3C93E04B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DA43FB8-1B3D-4566-EAC9-97BAD42FC87C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1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E915679-21F7-4ED2-1497-057BEE5D6B1F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E011BDF-C427-B7C4-D010-5393C47D04DC}"/>
              </a:ext>
            </a:extLst>
          </p:cNvPr>
          <p:cNvSpPr/>
          <p:nvPr/>
        </p:nvSpPr>
        <p:spPr>
          <a:xfrm>
            <a:off x="3403416" y="1431662"/>
            <a:ext cx="2300630" cy="40166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BDF2DC6-5131-F85C-86B8-2F989A17A29C}"/>
              </a:ext>
            </a:extLst>
          </p:cNvPr>
          <p:cNvGrpSpPr/>
          <p:nvPr/>
        </p:nvGrpSpPr>
        <p:grpSpPr>
          <a:xfrm>
            <a:off x="6514482" y="1431662"/>
            <a:ext cx="2300630" cy="4016638"/>
            <a:chOff x="342981" y="1431662"/>
            <a:chExt cx="2300630" cy="457976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3BB099EA-CCC7-E953-90C9-191B83F62B95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16">
              <a:extLst>
                <a:ext uri="{FF2B5EF4-FFF2-40B4-BE49-F238E27FC236}">
                  <a16:creationId xmlns:a16="http://schemas.microsoft.com/office/drawing/2014/main" id="{2D6329EE-E99D-06EB-EE31-AC08F1D9F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98A76F-AD4D-137E-C84B-61B8EF89BF5C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3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BD4BFD7-E847-D28F-F432-4CC346C2A3E6}"/>
              </a:ext>
            </a:extLst>
          </p:cNvPr>
          <p:cNvGrpSpPr/>
          <p:nvPr/>
        </p:nvGrpSpPr>
        <p:grpSpPr>
          <a:xfrm>
            <a:off x="9625548" y="1431662"/>
            <a:ext cx="2300630" cy="4016638"/>
            <a:chOff x="342981" y="1431662"/>
            <a:chExt cx="2300630" cy="4579766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6534A348-8DA1-6808-6B78-3F4D1D856F22}"/>
                </a:ext>
              </a:extLst>
            </p:cNvPr>
            <p:cNvSpPr/>
            <p:nvPr/>
          </p:nvSpPr>
          <p:spPr>
            <a:xfrm>
              <a:off x="342981" y="1431662"/>
              <a:ext cx="2300630" cy="4579766"/>
            </a:xfrm>
            <a:prstGeom prst="roundRect">
              <a:avLst/>
            </a:prstGeom>
            <a:solidFill>
              <a:srgbClr val="FF4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ture 16">
              <a:extLst>
                <a:ext uri="{FF2B5EF4-FFF2-40B4-BE49-F238E27FC236}">
                  <a16:creationId xmlns:a16="http://schemas.microsoft.com/office/drawing/2014/main" id="{7BD2A8C5-C81C-6CCB-8FD3-3B18C009F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891" y="1669422"/>
              <a:ext cx="2075986" cy="44198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EFF8475-7F49-5BA0-0A8F-EBA250C708F3}"/>
                </a:ext>
              </a:extLst>
            </p:cNvPr>
            <p:cNvSpPr txBox="1"/>
            <p:nvPr/>
          </p:nvSpPr>
          <p:spPr>
            <a:xfrm>
              <a:off x="999853" y="1705748"/>
              <a:ext cx="930063" cy="4211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STEP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endPara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1CD2E29-4E3D-4E1B-6BAF-3A67EE9EA265}"/>
              </a:ext>
            </a:extLst>
          </p:cNvPr>
          <p:cNvSpPr txBox="1"/>
          <p:nvPr/>
        </p:nvSpPr>
        <p:spPr>
          <a:xfrm>
            <a:off x="437836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시스템 아키텍처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 defTabSz="914400" rtl="0" eaLnBrk="1" latinLnBrk="1" hangingPunct="1">
              <a:buFontTx/>
              <a:buNone/>
            </a:pPr>
            <a:r>
              <a:rPr lang="ko-KR" altLang="en-US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개요</a:t>
            </a:r>
            <a:endParaRPr lang="en-US" altLang="ko-KR" kern="1200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BBF26A-C168-82E8-57B9-1100D5CCD38D}"/>
              </a:ext>
            </a:extLst>
          </p:cNvPr>
          <p:cNvSpPr txBox="1"/>
          <p:nvPr/>
        </p:nvSpPr>
        <p:spPr>
          <a:xfrm>
            <a:off x="3498271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defTabSz="914400" rtl="0" eaLnBrk="1" latinLnBrk="1" hangingPunct="1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TTS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워커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비동기 처리의 핵심</a:t>
            </a:r>
            <a:endParaRPr lang="en-US" altLang="ko-KR" dirty="0">
              <a:solidFill>
                <a:schemeClr val="dk1"/>
              </a:solidFill>
              <a:latin typeface="Noto Sans KR DemiLight" panose="020B0200000000000000" pitchFamily="50" charset="-127"/>
              <a:ea typeface="Noto Sans KR DemiLight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71C229-8691-C96D-28E9-DBCA6B6E0813}"/>
              </a:ext>
            </a:extLst>
          </p:cNvPr>
          <p:cNvSpPr txBox="1"/>
          <p:nvPr/>
        </p:nvSpPr>
        <p:spPr>
          <a:xfrm>
            <a:off x="6609337" y="2260924"/>
            <a:ext cx="2110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ONNX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추론</a:t>
            </a:r>
            <a:endParaRPr lang="en-US" altLang="ko-KR" dirty="0">
              <a:solidFill>
                <a:schemeClr val="dk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파이프라인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(7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단계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0BB5C268-7E70-E057-C587-CF2CDF999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326" y="1640187"/>
            <a:ext cx="2075986" cy="387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74908C-CDB0-7D0C-6610-2F3C4EE02DB7}"/>
              </a:ext>
            </a:extLst>
          </p:cNvPr>
          <p:cNvSpPr txBox="1"/>
          <p:nvPr/>
        </p:nvSpPr>
        <p:spPr>
          <a:xfrm>
            <a:off x="4060288" y="1672046"/>
            <a:ext cx="930063" cy="323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STEP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</a:t>
            </a:r>
            <a:endParaRPr lang="ko-KR" altLang="en-US" b="1" dirty="0">
              <a:solidFill>
                <a:srgbClr val="FF4F00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564CFD-2047-EC71-B614-5739CBE66513}"/>
              </a:ext>
            </a:extLst>
          </p:cNvPr>
          <p:cNvSpPr txBox="1"/>
          <p:nvPr/>
        </p:nvSpPr>
        <p:spPr>
          <a:xfrm>
            <a:off x="9720403" y="2260924"/>
            <a:ext cx="211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FontTx/>
              <a:buNone/>
            </a:pP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G2P </a:t>
            </a:r>
            <a:r>
              <a:rPr lang="ko-KR" altLang="en-US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와 </a:t>
            </a:r>
            <a:r>
              <a: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BERT</a:t>
            </a:r>
          </a:p>
        </p:txBody>
      </p:sp>
    </p:spTree>
    <p:extLst>
      <p:ext uri="{BB962C8B-B14F-4D97-AF65-F5344CB8AC3E}">
        <p14:creationId xmlns:p14="http://schemas.microsoft.com/office/powerpoint/2010/main" val="38769444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04367-255B-7D9C-E292-3BFF5F6B3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1">
            <a:extLst>
              <a:ext uri="{FF2B5EF4-FFF2-40B4-BE49-F238E27FC236}">
                <a16:creationId xmlns:a16="http://schemas.microsoft.com/office/drawing/2014/main" id="{5C49EB87-2FB8-CBAB-175E-961E77118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97" y="4900951"/>
            <a:ext cx="3657600" cy="508000"/>
          </a:xfrm>
          <a:prstGeom prst="rect">
            <a:avLst/>
          </a:prstGeom>
        </p:spPr>
      </p:pic>
      <p:pic>
        <p:nvPicPr>
          <p:cNvPr id="12" name="Picture 20">
            <a:extLst>
              <a:ext uri="{FF2B5EF4-FFF2-40B4-BE49-F238E27FC236}">
                <a16:creationId xmlns:a16="http://schemas.microsoft.com/office/drawing/2014/main" id="{B5F4EC04-BFF9-B17B-802E-29DC547CB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97" y="3135651"/>
            <a:ext cx="2968528" cy="494974"/>
          </a:xfrm>
          <a:prstGeom prst="rect">
            <a:avLst/>
          </a:prstGeom>
        </p:spPr>
      </p:pic>
      <p:pic>
        <p:nvPicPr>
          <p:cNvPr id="8" name="Picture 19">
            <a:extLst>
              <a:ext uri="{FF2B5EF4-FFF2-40B4-BE49-F238E27FC236}">
                <a16:creationId xmlns:a16="http://schemas.microsoft.com/office/drawing/2014/main" id="{F3270170-4866-64DF-4850-27F0E99BC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97" y="1500526"/>
            <a:ext cx="2968528" cy="53486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FD3086-3107-0310-A693-F354E0C64A31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F8BCF-13DE-0190-C874-0F4E8186C0B6}"/>
              </a:ext>
            </a:extLst>
          </p:cNvPr>
          <p:cNvSpPr txBox="1"/>
          <p:nvPr/>
        </p:nvSpPr>
        <p:spPr>
          <a:xfrm>
            <a:off x="1037063" y="128900"/>
            <a:ext cx="2211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G2P</a:t>
            </a:r>
            <a:r>
              <a:rPr lang="ko-KR" altLang="en-US" sz="3600" b="1" spc="-300" dirty="0">
                <a:solidFill>
                  <a:schemeClr val="bg1"/>
                </a:solidFill>
              </a:rPr>
              <a:t> 와 </a:t>
            </a:r>
            <a:r>
              <a:rPr lang="en-US" altLang="ko-KR" sz="3600" b="1" spc="-300" dirty="0">
                <a:solidFill>
                  <a:schemeClr val="bg1"/>
                </a:solidFill>
              </a:rPr>
              <a:t>BERT</a:t>
            </a:r>
            <a:endParaRPr lang="ko-KR" altLang="en-US" sz="3600" b="1" spc="-3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A0F76-DD76-BBC9-B4F6-827FBF863EF9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4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E2F3F8-5426-D6AE-2BE1-A27C511138D8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66371D7-4647-C62D-A853-C58D9B4592DA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66880-B432-1584-1806-0617423A34FB}"/>
              </a:ext>
            </a:extLst>
          </p:cNvPr>
          <p:cNvSpPr txBox="1"/>
          <p:nvPr/>
        </p:nvSpPr>
        <p:spPr>
          <a:xfrm>
            <a:off x="708741" y="950975"/>
            <a:ext cx="5704855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고품질 음성 합성을 위한 언어학적 특징 추출 </a:t>
            </a:r>
            <a:r>
              <a:rPr lang="en-US" altLang="ko-KR" b="1" dirty="0">
                <a:solidFill>
                  <a:srgbClr val="FF4F00"/>
                </a:solidFill>
                <a:highlight>
                  <a:srgbClr val="D69137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  <a:hlinkClick r:id="rId6"/>
              </a:rPr>
              <a:t>(</a:t>
            </a:r>
            <a:r>
              <a:rPr lang="ko-KR" altLang="en-US" b="1" dirty="0" err="1">
                <a:solidFill>
                  <a:srgbClr val="FF4F00"/>
                </a:solidFill>
                <a:highlight>
                  <a:srgbClr val="D69137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  <a:hlinkClick r:id="rId6"/>
              </a:rPr>
              <a:t>예시음성</a:t>
            </a:r>
            <a:r>
              <a:rPr lang="en-US" altLang="ko-KR" b="1" dirty="0">
                <a:solidFill>
                  <a:srgbClr val="FF4F00"/>
                </a:solidFill>
                <a:highlight>
                  <a:srgbClr val="D69137"/>
                </a:highlight>
                <a:latin typeface="Noto Sans KR Medium" panose="020B0200000000000000" pitchFamily="50" charset="-127"/>
                <a:ea typeface="Noto Sans KR Medium" panose="020B0200000000000000" pitchFamily="50" charset="-127"/>
                <a:hlinkClick r:id="rId6"/>
              </a:rPr>
              <a:t>)</a:t>
            </a:r>
            <a:endParaRPr lang="en-US" altLang="ko-KR" b="1" dirty="0">
              <a:solidFill>
                <a:srgbClr val="FF4F00"/>
              </a:solidFill>
              <a:highlight>
                <a:srgbClr val="D69137"/>
              </a:highlight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E86B731C-B452-D6C7-2439-C58D53632109}"/>
              </a:ext>
            </a:extLst>
          </p:cNvPr>
          <p:cNvSpPr txBox="1"/>
          <p:nvPr/>
        </p:nvSpPr>
        <p:spPr>
          <a:xfrm rot="21600000">
            <a:off x="1397097" y="1548152"/>
            <a:ext cx="22225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2400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Phoneme</a:t>
            </a:r>
            <a:endParaRPr lang="en-US" altLang="ko-KR" sz="24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" name="TextBox 19">
            <a:extLst>
              <a:ext uri="{FF2B5EF4-FFF2-40B4-BE49-F238E27FC236}">
                <a16:creationId xmlns:a16="http://schemas.microsoft.com/office/drawing/2014/main" id="{EAF8466A-11BF-62C2-330B-84CDD08EE177}"/>
              </a:ext>
            </a:extLst>
          </p:cNvPr>
          <p:cNvSpPr txBox="1"/>
          <p:nvPr/>
        </p:nvSpPr>
        <p:spPr>
          <a:xfrm rot="21600000">
            <a:off x="1397096" y="2056151"/>
            <a:ext cx="8489854" cy="81860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텍스트를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발음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단위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(Phoneme)로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변환합니다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 </a:t>
            </a:r>
          </a:p>
          <a:p>
            <a:pPr lvl="0">
              <a:lnSpc>
                <a:spcPct val="116199"/>
              </a:lnSpc>
            </a:pP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이는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모델이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문자가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아닌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실제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발음을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이해하는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 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기초가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됩니다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0D4F7EAD-2A6F-A7B5-955E-2B2F5C922D4F}"/>
              </a:ext>
            </a:extLst>
          </p:cNvPr>
          <p:cNvSpPr txBox="1"/>
          <p:nvPr/>
        </p:nvSpPr>
        <p:spPr>
          <a:xfrm rot="21600000">
            <a:off x="1397097" y="3135651"/>
            <a:ext cx="3546378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2400" spc="-3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Word2Ph   Mapping</a:t>
            </a:r>
          </a:p>
        </p:txBody>
      </p:sp>
      <p:sp>
        <p:nvSpPr>
          <p:cNvPr id="10" name="TextBox 22">
            <a:extLst>
              <a:ext uri="{FF2B5EF4-FFF2-40B4-BE49-F238E27FC236}">
                <a16:creationId xmlns:a16="http://schemas.microsoft.com/office/drawing/2014/main" id="{B09654B2-1E6D-9908-985F-72C493358BA9}"/>
              </a:ext>
            </a:extLst>
          </p:cNvPr>
          <p:cNvSpPr txBox="1"/>
          <p:nvPr/>
        </p:nvSpPr>
        <p:spPr>
          <a:xfrm rot="21600000">
            <a:off x="1397095" y="3605549"/>
            <a:ext cx="7546879" cy="96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단어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레벨의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BERT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토큰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특징을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Phoneme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길이로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 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확장하여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정렬합니다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 </a:t>
            </a:r>
          </a:p>
          <a:p>
            <a:pPr>
              <a:lnSpc>
                <a:spcPct val="116199"/>
              </a:lnSpc>
            </a:pP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문맥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정보가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각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발음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단위에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정확히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 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매핑되도록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보장하는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핵심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과정입니다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943B7A65-1857-6617-8D4D-6C8B36D32B30}"/>
              </a:ext>
            </a:extLst>
          </p:cNvPr>
          <p:cNvSpPr txBox="1"/>
          <p:nvPr/>
        </p:nvSpPr>
        <p:spPr>
          <a:xfrm rot="21600000">
            <a:off x="1397096" y="4900951"/>
            <a:ext cx="2603403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en-US" altLang="ko-KR" sz="2400" spc="-3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BERT Features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B4598D4E-745F-4897-0CD3-5B17BA5A2B6D}"/>
              </a:ext>
            </a:extLst>
          </p:cNvPr>
          <p:cNvSpPr txBox="1"/>
          <p:nvPr/>
        </p:nvSpPr>
        <p:spPr>
          <a:xfrm rot="21600000">
            <a:off x="1397096" y="5357827"/>
            <a:ext cx="5372100" cy="96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한국어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문맥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특징은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BERT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모델을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통해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 </a:t>
            </a:r>
          </a:p>
          <a:p>
            <a:pPr lvl="0">
              <a:lnSpc>
                <a:spcPct val="116199"/>
              </a:lnSpc>
            </a:pP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전달됩니다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이를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통해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단순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합성을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넘어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 </a:t>
            </a:r>
          </a:p>
          <a:p>
            <a:pPr lvl="0">
              <a:lnSpc>
                <a:spcPct val="116199"/>
              </a:lnSpc>
            </a:pP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풍부한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감정과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표현력을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dirty="0" err="1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확보합니다</a:t>
            </a:r>
            <a:r>
              <a:rPr lang="en-US" altLang="ko-KR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
</a:t>
            </a:r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256A683B-260E-91B1-6196-4C5F4C86FA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675" y="3486150"/>
            <a:ext cx="3381374" cy="338137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C028E92-DF6B-BF2A-6A30-33C92F759788}"/>
              </a:ext>
            </a:extLst>
          </p:cNvPr>
          <p:cNvSpPr txBox="1"/>
          <p:nvPr/>
        </p:nvSpPr>
        <p:spPr>
          <a:xfrm>
            <a:off x="2838450" y="1577780"/>
            <a:ext cx="2495550" cy="355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PRONUNCIATION 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7BFA86-8DBC-283B-60A1-416ABC7F6F2B}"/>
              </a:ext>
            </a:extLst>
          </p:cNvPr>
          <p:cNvSpPr txBox="1"/>
          <p:nvPr/>
        </p:nvSpPr>
        <p:spPr>
          <a:xfrm>
            <a:off x="3865610" y="3186477"/>
            <a:ext cx="2495550" cy="355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ALIGNMENT STRATEGY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3C0963-D077-06DC-32BA-60242DAEBFBC}"/>
              </a:ext>
            </a:extLst>
          </p:cNvPr>
          <p:cNvSpPr txBox="1"/>
          <p:nvPr/>
        </p:nvSpPr>
        <p:spPr>
          <a:xfrm>
            <a:off x="3113950" y="4945996"/>
            <a:ext cx="2890693" cy="355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sz="1600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CONTEXTUAL EMBEDDING</a:t>
            </a:r>
          </a:p>
        </p:txBody>
      </p:sp>
    </p:spTree>
    <p:extLst>
      <p:ext uri="{BB962C8B-B14F-4D97-AF65-F5344CB8AC3E}">
        <p14:creationId xmlns:p14="http://schemas.microsoft.com/office/powerpoint/2010/main" val="1297813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00006-5E6D-DFCD-8CFF-06268F72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B15AC6-A448-2C2E-8A19-5546AC267D79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6F2D2-3362-EF37-0AD5-45A912236F70}"/>
              </a:ext>
            </a:extLst>
          </p:cNvPr>
          <p:cNvSpPr txBox="1"/>
          <p:nvPr/>
        </p:nvSpPr>
        <p:spPr>
          <a:xfrm>
            <a:off x="1037063" y="128900"/>
            <a:ext cx="3433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SQLite </a:t>
            </a:r>
            <a:r>
              <a:rPr lang="ko-KR" altLang="en-US" sz="3600" b="1" spc="-300" dirty="0">
                <a:solidFill>
                  <a:schemeClr val="bg1"/>
                </a:solidFill>
              </a:rPr>
              <a:t>시스템 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15819-C811-1381-FE4B-DD8A838EAA10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5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9ABDF9D-FAC4-F94C-92F4-6C622C87578F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E40BF49-F72B-CB31-98E8-BB821A285F8A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CAF3310-C104-9C56-2CCF-14DAAF51305E}"/>
              </a:ext>
            </a:extLst>
          </p:cNvPr>
          <p:cNvGrpSpPr/>
          <p:nvPr/>
        </p:nvGrpSpPr>
        <p:grpSpPr>
          <a:xfrm>
            <a:off x="4945685" y="1431662"/>
            <a:ext cx="2300630" cy="4016638"/>
            <a:chOff x="342981" y="1431662"/>
            <a:chExt cx="2300630" cy="4016638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A5E9FE95-D5ED-4F1E-C8CB-7F52838CB807}"/>
                </a:ext>
              </a:extLst>
            </p:cNvPr>
            <p:cNvGrpSpPr/>
            <p:nvPr/>
          </p:nvGrpSpPr>
          <p:grpSpPr>
            <a:xfrm>
              <a:off x="342981" y="1431662"/>
              <a:ext cx="2300630" cy="4016638"/>
              <a:chOff x="342981" y="1431662"/>
              <a:chExt cx="2300630" cy="4579766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B2826356-CB3F-A216-60A7-3EE76EE79C22}"/>
                  </a:ext>
                </a:extLst>
              </p:cNvPr>
              <p:cNvSpPr/>
              <p:nvPr/>
            </p:nvSpPr>
            <p:spPr>
              <a:xfrm>
                <a:off x="342981" y="1431662"/>
                <a:ext cx="2300630" cy="4579766"/>
              </a:xfrm>
              <a:prstGeom prst="roundRect">
                <a:avLst/>
              </a:prstGeom>
              <a:solidFill>
                <a:srgbClr val="FF4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0" name="Picture 16">
                <a:extLst>
                  <a:ext uri="{FF2B5EF4-FFF2-40B4-BE49-F238E27FC236}">
                    <a16:creationId xmlns:a16="http://schemas.microsoft.com/office/drawing/2014/main" id="{4DD9157B-15D2-9722-68BD-9EB9150C33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891" y="1669422"/>
                <a:ext cx="2075986" cy="44198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94DC3A3-8661-DD74-3E2E-2AE6D7B16E28}"/>
                  </a:ext>
                </a:extLst>
              </p:cNvPr>
              <p:cNvSpPr txBox="1"/>
              <p:nvPr/>
            </p:nvSpPr>
            <p:spPr>
              <a:xfrm>
                <a:off x="659215" y="1705748"/>
                <a:ext cx="1611339" cy="421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4F00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Key Function</a:t>
                </a:r>
                <a:endPara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E3C9232-1782-2EC6-30CB-6A3DBA81CFB7}"/>
                </a:ext>
              </a:extLst>
            </p:cNvPr>
            <p:cNvSpPr txBox="1"/>
            <p:nvPr/>
          </p:nvSpPr>
          <p:spPr>
            <a:xfrm>
              <a:off x="437836" y="2260924"/>
              <a:ext cx="211092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defTabSz="914400" rtl="0" eaLnBrk="1" latinLnBrk="1" hangingPunct="1">
                <a:buFontTx/>
                <a:buNone/>
              </a:pPr>
              <a:r>
                <a:rPr lang="en-US" altLang="ko-KR" kern="1200" dirty="0">
                  <a:solidFill>
                    <a:schemeClr val="dk1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RAG </a:t>
              </a:r>
              <a:r>
                <a:rPr lang="ko-KR" altLang="en-US" kern="1200" dirty="0">
                  <a:solidFill>
                    <a:schemeClr val="dk1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시스템을 위한</a:t>
              </a:r>
              <a:endParaRPr lang="en-US" altLang="ko-KR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  <a:p>
              <a:pPr marL="0" indent="0" algn="l" defTabSz="914400" rtl="0" eaLnBrk="1" latinLnBrk="1" hangingPunct="1">
                <a:buFontTx/>
                <a:buNone/>
              </a:pPr>
              <a:r>
                <a:rPr lang="en-US" altLang="ko-KR" dirty="0">
                  <a:solidFill>
                    <a:schemeClr val="dk1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SQLite </a:t>
              </a:r>
              <a:r>
                <a:rPr lang="ko-KR" altLang="en-US" dirty="0">
                  <a:solidFill>
                    <a:schemeClr val="dk1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기반</a:t>
              </a:r>
              <a:endParaRPr lang="en-US" altLang="ko-KR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  <a:p>
              <a:pPr marL="0" indent="0" algn="l" defTabSz="914400" rtl="0" eaLnBrk="1" latinLnBrk="1" hangingPunct="1">
                <a:buFontTx/>
                <a:buNone/>
              </a:pPr>
              <a:r>
                <a:rPr lang="ko-KR" altLang="en-US" kern="1200" dirty="0">
                  <a:solidFill>
                    <a:schemeClr val="dk1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대화 기록과</a:t>
              </a:r>
              <a:endParaRPr lang="en-US" altLang="ko-KR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  <a:p>
              <a:pPr marL="0" indent="0" algn="l" defTabSz="914400" rtl="0" eaLnBrk="1" latinLnBrk="1" hangingPunct="1">
                <a:buFontTx/>
                <a:buNone/>
              </a:pPr>
              <a:r>
                <a:rPr lang="ko-KR" altLang="en-US" kern="1200" dirty="0">
                  <a:solidFill>
                    <a:schemeClr val="dk1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피드백 관리</a:t>
              </a:r>
              <a:endParaRPr lang="en-US" altLang="ko-KR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pic>
        <p:nvPicPr>
          <p:cNvPr id="6" name="Picture 7">
            <a:extLst>
              <a:ext uri="{FF2B5EF4-FFF2-40B4-BE49-F238E27FC236}">
                <a16:creationId xmlns:a16="http://schemas.microsoft.com/office/drawing/2014/main" id="{6D74E590-B2F1-D7B7-2AFA-81258E83C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078178" y="3461253"/>
            <a:ext cx="1848000" cy="21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77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8EA153-AF1C-0DBA-0D38-A93E1EA1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3348B8-E705-238C-69B7-90ED5596964B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4C254-0B8C-F4B9-8A3F-9D161E5C3D61}"/>
              </a:ext>
            </a:extLst>
          </p:cNvPr>
          <p:cNvSpPr txBox="1"/>
          <p:nvPr/>
        </p:nvSpPr>
        <p:spPr>
          <a:xfrm>
            <a:off x="1037063" y="128900"/>
            <a:ext cx="5680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spc="-300" dirty="0">
                <a:solidFill>
                  <a:schemeClr val="bg1"/>
                </a:solidFill>
              </a:rPr>
              <a:t>SQLite </a:t>
            </a:r>
            <a:r>
              <a:rPr lang="ko-KR" altLang="en-US" sz="3600" b="1" spc="-300" dirty="0">
                <a:solidFill>
                  <a:schemeClr val="bg1"/>
                </a:solidFill>
              </a:rPr>
              <a:t>대화 기록과 피드백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A4DAB-56D0-EF8E-6019-2B1CEA6BEEF9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5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FA961C-C1BE-9870-3C03-E7872F156BF9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8BF65BC-F22C-79EF-00A1-63794D847A97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4C25D5-297B-980C-8E44-3D5516B8097E}"/>
              </a:ext>
            </a:extLst>
          </p:cNvPr>
          <p:cNvSpPr txBox="1"/>
          <p:nvPr/>
        </p:nvSpPr>
        <p:spPr>
          <a:xfrm>
            <a:off x="708741" y="950975"/>
            <a:ext cx="5704855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데이터베이스 스키마 설계</a:t>
            </a:r>
            <a:endParaRPr lang="en-US" altLang="ko-KR" b="1" dirty="0">
              <a:solidFill>
                <a:srgbClr val="FF4F00"/>
              </a:solidFill>
              <a:highlight>
                <a:srgbClr val="D69137"/>
              </a:highlight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CC5786B-FE42-DAFF-B42C-100A7284D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5" y="1338769"/>
            <a:ext cx="5146965" cy="4539456"/>
          </a:xfrm>
          <a:prstGeom prst="rect">
            <a:avLst/>
          </a:prstGeom>
        </p:spPr>
      </p:pic>
      <p:pic>
        <p:nvPicPr>
          <p:cNvPr id="16" name="Picture 10">
            <a:extLst>
              <a:ext uri="{FF2B5EF4-FFF2-40B4-BE49-F238E27FC236}">
                <a16:creationId xmlns:a16="http://schemas.microsoft.com/office/drawing/2014/main" id="{E8618166-D00E-C177-D63B-381B92E61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902" y="2752258"/>
            <a:ext cx="711200" cy="711200"/>
          </a:xfrm>
          <a:prstGeom prst="rect">
            <a:avLst/>
          </a:prstGeom>
        </p:spPr>
      </p:pic>
      <p:pic>
        <p:nvPicPr>
          <p:cNvPr id="19" name="Picture 13">
            <a:extLst>
              <a:ext uri="{FF2B5EF4-FFF2-40B4-BE49-F238E27FC236}">
                <a16:creationId xmlns:a16="http://schemas.microsoft.com/office/drawing/2014/main" id="{557B131D-7EA7-A00B-F64B-D808F41977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902" y="4222198"/>
            <a:ext cx="711200" cy="711200"/>
          </a:xfrm>
          <a:prstGeom prst="rect">
            <a:avLst/>
          </a:prstGeom>
        </p:spPr>
      </p:pic>
      <p:pic>
        <p:nvPicPr>
          <p:cNvPr id="20" name="Picture 16">
            <a:extLst>
              <a:ext uri="{FF2B5EF4-FFF2-40B4-BE49-F238E27FC236}">
                <a16:creationId xmlns:a16="http://schemas.microsoft.com/office/drawing/2014/main" id="{2739E1DC-E842-057B-4062-F9CEA3B3F3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902" y="5692138"/>
            <a:ext cx="711200" cy="711200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ED1147BA-308F-1D32-8322-7E2EF6D7FD89}"/>
              </a:ext>
            </a:extLst>
          </p:cNvPr>
          <p:cNvGrpSpPr/>
          <p:nvPr/>
        </p:nvGrpSpPr>
        <p:grpSpPr>
          <a:xfrm>
            <a:off x="7341088" y="946713"/>
            <a:ext cx="4611152" cy="1382411"/>
            <a:chOff x="7301448" y="4955915"/>
            <a:chExt cx="4611152" cy="1720730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75D87690-A5F8-AE59-D6CD-82478F1A267A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3" name="Picture 16">
              <a:extLst>
                <a:ext uri="{FF2B5EF4-FFF2-40B4-BE49-F238E27FC236}">
                  <a16:creationId xmlns:a16="http://schemas.microsoft.com/office/drawing/2014/main" id="{9F6213B0-D4C8-BFB1-41C0-9D1F79F1D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235BCFB-D84A-D065-27A1-E7DA80A1D2C3}"/>
                </a:ext>
              </a:extLst>
            </p:cNvPr>
            <p:cNvSpPr txBox="1"/>
            <p:nvPr/>
          </p:nvSpPr>
          <p:spPr>
            <a:xfrm>
              <a:off x="8111262" y="5069712"/>
              <a:ext cx="2991525" cy="459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01. ID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(Primary Key)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42B28B-E0E8-2022-C190-3523D971B7AF}"/>
                </a:ext>
              </a:extLst>
            </p:cNvPr>
            <p:cNvSpPr txBox="1"/>
            <p:nvPr/>
          </p:nvSpPr>
          <p:spPr>
            <a:xfrm>
              <a:off x="7469629" y="5503912"/>
              <a:ext cx="4354071" cy="435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테이블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내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고유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행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식별자로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무결성을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보장합니다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BBFD90F-EB59-4C14-2885-F7EA8C46BFE8}"/>
              </a:ext>
            </a:extLst>
          </p:cNvPr>
          <p:cNvGrpSpPr/>
          <p:nvPr/>
        </p:nvGrpSpPr>
        <p:grpSpPr>
          <a:xfrm>
            <a:off x="7341088" y="2416653"/>
            <a:ext cx="4611152" cy="1382411"/>
            <a:chOff x="7301448" y="4955915"/>
            <a:chExt cx="4611152" cy="1720730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D651F8EA-4978-6D7B-66D4-138B6D44E12A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3" name="Picture 16">
              <a:extLst>
                <a:ext uri="{FF2B5EF4-FFF2-40B4-BE49-F238E27FC236}">
                  <a16:creationId xmlns:a16="http://schemas.microsoft.com/office/drawing/2014/main" id="{09770935-F68A-9CF0-9CB1-D7D55F628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BEB80AB-E6B3-FB21-8958-47A52D2A5708}"/>
                </a:ext>
              </a:extLst>
            </p:cNvPr>
            <p:cNvSpPr txBox="1"/>
            <p:nvPr/>
          </p:nvSpPr>
          <p:spPr>
            <a:xfrm>
              <a:off x="7939741" y="5069712"/>
              <a:ext cx="3334567" cy="459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02. Question &amp; Answer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88472A1-CAAA-2BB4-A785-92FFD972D4D1}"/>
                </a:ext>
              </a:extLst>
            </p:cNvPr>
            <p:cNvSpPr txBox="1"/>
            <p:nvPr/>
          </p:nvSpPr>
          <p:spPr>
            <a:xfrm>
              <a:off x="7469629" y="5503912"/>
              <a:ext cx="4354071" cy="789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질문과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모델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답변을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쌍으로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저장하여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대화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맥락을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 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보존합니다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E405C4A-B539-95AB-8C71-5BD91F1EA0C7}"/>
              </a:ext>
            </a:extLst>
          </p:cNvPr>
          <p:cNvGrpSpPr/>
          <p:nvPr/>
        </p:nvGrpSpPr>
        <p:grpSpPr>
          <a:xfrm>
            <a:off x="7308001" y="3886593"/>
            <a:ext cx="4611152" cy="1382411"/>
            <a:chOff x="7301448" y="4955915"/>
            <a:chExt cx="4611152" cy="1720730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E6C3E02B-51D3-7397-9A5E-9F74F5F7B382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8" name="Picture 16">
              <a:extLst>
                <a:ext uri="{FF2B5EF4-FFF2-40B4-BE49-F238E27FC236}">
                  <a16:creationId xmlns:a16="http://schemas.microsoft.com/office/drawing/2014/main" id="{F99F60DF-2A19-087A-06F1-D62296C3A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D620937-781C-924A-C054-B723573EBCF1}"/>
                </a:ext>
              </a:extLst>
            </p:cNvPr>
            <p:cNvSpPr txBox="1"/>
            <p:nvPr/>
          </p:nvSpPr>
          <p:spPr>
            <a:xfrm>
              <a:off x="8003861" y="5069712"/>
              <a:ext cx="3206327" cy="459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03. Rating (Feedback)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8D4BB9-EDD4-45A7-103B-11104890A598}"/>
                </a:ext>
              </a:extLst>
            </p:cNvPr>
            <p:cNvSpPr txBox="1"/>
            <p:nvPr/>
          </p:nvSpPr>
          <p:spPr>
            <a:xfrm>
              <a:off x="7469629" y="5503912"/>
              <a:ext cx="4354071" cy="789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좋아요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(1),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싫어요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(-1)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피드백을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수집하여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성능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지표로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 </a:t>
              </a:r>
            </a:p>
            <a:p>
              <a:pPr>
                <a:lnSpc>
                  <a:spcPct val="132800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활용합니다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26F82FA-06DF-2C07-8B45-AB0B19FB49A0}"/>
              </a:ext>
            </a:extLst>
          </p:cNvPr>
          <p:cNvSpPr/>
          <p:nvPr/>
        </p:nvSpPr>
        <p:spPr>
          <a:xfrm>
            <a:off x="7308001" y="5356533"/>
            <a:ext cx="4611152" cy="138241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4" name="Picture 16">
            <a:extLst>
              <a:ext uri="{FF2B5EF4-FFF2-40B4-BE49-F238E27FC236}">
                <a16:creationId xmlns:a16="http://schemas.microsoft.com/office/drawing/2014/main" id="{6419BD1F-3A94-C163-3A52-652FEBB211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3128" y="5447956"/>
            <a:ext cx="4160898" cy="29671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B799E746-20D7-C559-1984-C805FC4F5534}"/>
              </a:ext>
            </a:extLst>
          </p:cNvPr>
          <p:cNvSpPr txBox="1"/>
          <p:nvPr/>
        </p:nvSpPr>
        <p:spPr>
          <a:xfrm>
            <a:off x="8427195" y="5447956"/>
            <a:ext cx="2372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Point</a:t>
            </a:r>
            <a:r>
              <a:rPr lang="ko-KR" altLang="en-US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b="1" dirty="0">
                <a:solidFill>
                  <a:srgbClr val="FF4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04. Created At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AC643F-8936-66BA-6F13-8FECD2DD4C43}"/>
              </a:ext>
            </a:extLst>
          </p:cNvPr>
          <p:cNvSpPr txBox="1"/>
          <p:nvPr/>
        </p:nvSpPr>
        <p:spPr>
          <a:xfrm>
            <a:off x="7476182" y="5796786"/>
            <a:ext cx="4354071" cy="634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2800"/>
              </a:lnSpc>
            </a:pPr>
            <a:r>
              <a:rPr lang="en-US" altLang="ko-KR" sz="14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YYYY-MM-DD HH:MM:SS </a:t>
            </a:r>
            <a:r>
              <a:rPr lang="en-US" altLang="ko-KR" sz="1400" spc="-100" dirty="0" err="1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형식의</a:t>
            </a:r>
            <a:r>
              <a:rPr lang="en-US" altLang="ko-KR" sz="14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en-US" altLang="ko-KR" sz="1400" spc="-100" dirty="0" err="1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타임스탬프를</a:t>
            </a:r>
            <a:r>
              <a:rPr lang="en-US" altLang="ko-KR" sz="14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 </a:t>
            </a:r>
          </a:p>
          <a:p>
            <a:pPr lvl="0">
              <a:lnSpc>
                <a:spcPct val="132800"/>
              </a:lnSpc>
            </a:pPr>
            <a:r>
              <a:rPr lang="en-US" altLang="ko-KR" sz="1400" spc="-100" dirty="0" err="1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기록합니다</a:t>
            </a:r>
            <a:r>
              <a:rPr lang="en-US" altLang="ko-KR" sz="1400" spc="-100" dirty="0">
                <a:solidFill>
                  <a:srgbClr val="272424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CF08160C-59D6-C72E-5DBB-4015D0EAA8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5902" y="1275968"/>
            <a:ext cx="7112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5AA7A-8087-C0D5-E75D-C7EA78A6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FE8F26-AD19-C417-1030-B127854B046C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DF08F1-2F68-0D94-4458-9719937232A3}"/>
              </a:ext>
            </a:extLst>
          </p:cNvPr>
          <p:cNvSpPr txBox="1"/>
          <p:nvPr/>
        </p:nvSpPr>
        <p:spPr>
          <a:xfrm>
            <a:off x="1037063" y="128900"/>
            <a:ext cx="32784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결과 및 기대효과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FAE53-4A34-6BAE-E787-2A70B22CD45F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6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50D47F-0CB2-3657-5DA2-3FB1680F4A71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2FB9B45-36F9-C828-ABA1-4622E6EEF4E7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B9F7115-1547-B71A-2612-57F5F18D8B88}"/>
              </a:ext>
            </a:extLst>
          </p:cNvPr>
          <p:cNvGrpSpPr/>
          <p:nvPr/>
        </p:nvGrpSpPr>
        <p:grpSpPr>
          <a:xfrm>
            <a:off x="4945685" y="1431662"/>
            <a:ext cx="2300630" cy="4016638"/>
            <a:chOff x="342981" y="1431662"/>
            <a:chExt cx="2300630" cy="4016638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3BFFA8FE-3BA1-BCF6-8409-98CF0C2727ED}"/>
                </a:ext>
              </a:extLst>
            </p:cNvPr>
            <p:cNvGrpSpPr/>
            <p:nvPr/>
          </p:nvGrpSpPr>
          <p:grpSpPr>
            <a:xfrm>
              <a:off x="342981" y="1431662"/>
              <a:ext cx="2300630" cy="4016638"/>
              <a:chOff x="342981" y="1431662"/>
              <a:chExt cx="2300630" cy="4579766"/>
            </a:xfrm>
          </p:grpSpPr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D3D0C125-CB92-7AF8-9679-253CECA223D8}"/>
                  </a:ext>
                </a:extLst>
              </p:cNvPr>
              <p:cNvSpPr/>
              <p:nvPr/>
            </p:nvSpPr>
            <p:spPr>
              <a:xfrm>
                <a:off x="342981" y="1431662"/>
                <a:ext cx="2300630" cy="4579766"/>
              </a:xfrm>
              <a:prstGeom prst="roundRect">
                <a:avLst/>
              </a:prstGeom>
              <a:solidFill>
                <a:srgbClr val="FF4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0" name="Picture 16">
                <a:extLst>
                  <a:ext uri="{FF2B5EF4-FFF2-40B4-BE49-F238E27FC236}">
                    <a16:creationId xmlns:a16="http://schemas.microsoft.com/office/drawing/2014/main" id="{AB13357B-92A8-471D-7E79-6EC0D53735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891" y="1669422"/>
                <a:ext cx="2075986" cy="441986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1DC6568-5635-7314-2E1A-514EB484F8C0}"/>
                  </a:ext>
                </a:extLst>
              </p:cNvPr>
              <p:cNvSpPr txBox="1"/>
              <p:nvPr/>
            </p:nvSpPr>
            <p:spPr>
              <a:xfrm>
                <a:off x="1121681" y="1705748"/>
                <a:ext cx="686406" cy="4211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4F00"/>
                    </a:solidFill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Goal</a:t>
                </a:r>
                <a:endPara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BA3BD99-10AB-3962-42F3-F8DFA023027A}"/>
                </a:ext>
              </a:extLst>
            </p:cNvPr>
            <p:cNvSpPr txBox="1"/>
            <p:nvPr/>
          </p:nvSpPr>
          <p:spPr>
            <a:xfrm>
              <a:off x="437836" y="2260924"/>
              <a:ext cx="211092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 defTabSz="914400" rtl="0" eaLnBrk="1" latinLnBrk="1" hangingPunct="1">
                <a:buFontTx/>
                <a:buNone/>
              </a:pPr>
              <a:r>
                <a:rPr lang="ko-KR" altLang="en-US" kern="1200" dirty="0">
                  <a:solidFill>
                    <a:schemeClr val="dk1"/>
                  </a:solidFill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데이터 활용 가치 및 기대효과</a:t>
              </a:r>
              <a:endParaRPr lang="en-US" altLang="ko-KR" kern="1200" dirty="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</p:grpSp>
      <p:pic>
        <p:nvPicPr>
          <p:cNvPr id="2" name="Picture 3">
            <a:extLst>
              <a:ext uri="{FF2B5EF4-FFF2-40B4-BE49-F238E27FC236}">
                <a16:creationId xmlns:a16="http://schemas.microsoft.com/office/drawing/2014/main" id="{280FE7EB-095D-C3C2-A503-76F82B7DB4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196" t="22950" r="3863" b="26177"/>
          <a:stretch>
            <a:fillRect/>
          </a:stretch>
        </p:blipFill>
        <p:spPr>
          <a:xfrm>
            <a:off x="10078177" y="3068921"/>
            <a:ext cx="1753478" cy="250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14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29D63-F531-DB48-C488-3C13E92E7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15">
            <a:extLst>
              <a:ext uri="{FF2B5EF4-FFF2-40B4-BE49-F238E27FC236}">
                <a16:creationId xmlns:a16="http://schemas.microsoft.com/office/drawing/2014/main" id="{D8AC41C8-F870-3933-6601-E34DB13EF492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5" y="1338769"/>
            <a:ext cx="5148000" cy="45396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9DD28B-A5AE-7CEA-DFB0-7135318FCEC4}"/>
              </a:ext>
            </a:extLst>
          </p:cNvPr>
          <p:cNvSpPr/>
          <p:nvPr/>
        </p:nvSpPr>
        <p:spPr>
          <a:xfrm>
            <a:off x="0" y="0"/>
            <a:ext cx="900097" cy="680224"/>
          </a:xfrm>
          <a:prstGeom prst="rect">
            <a:avLst/>
          </a:prstGeom>
          <a:solidFill>
            <a:srgbClr val="FF4F00"/>
          </a:solidFill>
          <a:ln>
            <a:solidFill>
              <a:srgbClr val="FF4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C80AB7-4E43-B4A2-223C-9CAC674EDDF5}"/>
              </a:ext>
            </a:extLst>
          </p:cNvPr>
          <p:cNvSpPr txBox="1"/>
          <p:nvPr/>
        </p:nvSpPr>
        <p:spPr>
          <a:xfrm>
            <a:off x="1037063" y="128900"/>
            <a:ext cx="5525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</a:rPr>
              <a:t>데이터 활용 가치 및 기대효과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E96D2-3DBE-4CCB-6CFC-9FFC1662DFC2}"/>
              </a:ext>
            </a:extLst>
          </p:cNvPr>
          <p:cNvSpPr txBox="1"/>
          <p:nvPr/>
        </p:nvSpPr>
        <p:spPr>
          <a:xfrm>
            <a:off x="426891" y="47427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chemeClr val="bg1"/>
                </a:solidFill>
              </a:rPr>
              <a:t>6</a:t>
            </a:r>
            <a:endParaRPr lang="ko-KR" altLang="en-US" sz="4800" b="1" dirty="0">
              <a:solidFill>
                <a:schemeClr val="bg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8D9663-BE54-0E55-671C-CF2FDBBA8D8F}"/>
              </a:ext>
            </a:extLst>
          </p:cNvPr>
          <p:cNvSpPr/>
          <p:nvPr/>
        </p:nvSpPr>
        <p:spPr>
          <a:xfrm>
            <a:off x="0" y="680223"/>
            <a:ext cx="900097" cy="195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918A189-5EEB-650B-EAE2-BE1D1050C598}"/>
              </a:ext>
            </a:extLst>
          </p:cNvPr>
          <p:cNvSpPr/>
          <p:nvPr/>
        </p:nvSpPr>
        <p:spPr>
          <a:xfrm>
            <a:off x="110835" y="846572"/>
            <a:ext cx="12081165" cy="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5458FB-05CB-0B2B-AD67-71A25956B6FC}"/>
              </a:ext>
            </a:extLst>
          </p:cNvPr>
          <p:cNvSpPr txBox="1"/>
          <p:nvPr/>
        </p:nvSpPr>
        <p:spPr>
          <a:xfrm>
            <a:off x="708741" y="950975"/>
            <a:ext cx="5704855" cy="388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199"/>
              </a:lnSpc>
            </a:pP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지속적인 </a:t>
            </a:r>
            <a:r>
              <a:rPr lang="en-US" altLang="ko-KR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RAG </a:t>
            </a:r>
            <a:r>
              <a:rPr lang="ko-KR" altLang="en-US" b="1" dirty="0">
                <a:solidFill>
                  <a:prstClr val="whit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성능 향상을 위한 데이터 기반 구조</a:t>
            </a:r>
            <a:endParaRPr lang="en-US" altLang="ko-KR" b="1" dirty="0">
              <a:solidFill>
                <a:srgbClr val="FF4F00"/>
              </a:solidFill>
              <a:highlight>
                <a:srgbClr val="D69137"/>
              </a:highlight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87B8FF1-9803-B777-DBF8-97BB8FBF91B3}"/>
              </a:ext>
            </a:extLst>
          </p:cNvPr>
          <p:cNvGrpSpPr/>
          <p:nvPr/>
        </p:nvGrpSpPr>
        <p:grpSpPr>
          <a:xfrm>
            <a:off x="7301448" y="4955915"/>
            <a:ext cx="4611152" cy="1720730"/>
            <a:chOff x="7301448" y="4955915"/>
            <a:chExt cx="4611152" cy="1720730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22BB9807-3092-288C-06C7-F9B1CB3908CC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" name="Picture 16">
              <a:extLst>
                <a:ext uri="{FF2B5EF4-FFF2-40B4-BE49-F238E27FC236}">
                  <a16:creationId xmlns:a16="http://schemas.microsoft.com/office/drawing/2014/main" id="{E78A16DE-C756-0D99-1284-E70A16058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C6A9B46-6F86-056F-FFCB-0DD078515960}"/>
                </a:ext>
              </a:extLst>
            </p:cNvPr>
            <p:cNvSpPr txBox="1"/>
            <p:nvPr/>
          </p:nvSpPr>
          <p:spPr>
            <a:xfrm>
              <a:off x="7849972" y="5069712"/>
              <a:ext cx="35141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03.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문제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진단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(Diagnosis)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38746F-DC73-7925-DBAA-F7529117BE08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5725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16199"/>
                </a:lnSpc>
              </a:pP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'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싫어요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'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로그를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분석하여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검색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(Retrieval)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또는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생성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(Generation)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단계의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병목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지점을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 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파악합니다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746FDCE-5249-1A79-B766-474A7C9ADF5D}"/>
              </a:ext>
            </a:extLst>
          </p:cNvPr>
          <p:cNvGrpSpPr/>
          <p:nvPr/>
        </p:nvGrpSpPr>
        <p:grpSpPr>
          <a:xfrm>
            <a:off x="7301448" y="2982716"/>
            <a:ext cx="4611152" cy="1720730"/>
            <a:chOff x="7301448" y="4955915"/>
            <a:chExt cx="4611152" cy="1720730"/>
          </a:xfrm>
        </p:grpSpPr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CA198352-D2DB-04D4-13E4-EBF081C7B1B2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5" name="Picture 16">
              <a:extLst>
                <a:ext uri="{FF2B5EF4-FFF2-40B4-BE49-F238E27FC236}">
                  <a16:creationId xmlns:a16="http://schemas.microsoft.com/office/drawing/2014/main" id="{B133E7B4-5946-8963-E315-C4726DC5C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51FECB8-3415-E921-165F-1ABB319969E7}"/>
                </a:ext>
              </a:extLst>
            </p:cNvPr>
            <p:cNvSpPr txBox="1"/>
            <p:nvPr/>
          </p:nvSpPr>
          <p:spPr>
            <a:xfrm>
              <a:off x="7753792" y="5069712"/>
              <a:ext cx="3706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 02. </a:t>
              </a:r>
              <a:r>
                <a:rPr lang="en-US" altLang="ko-KR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데이터셋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구축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(Dataset)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E596098-E175-FF91-CE5C-059AA6A36086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570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199"/>
                </a:lnSpc>
              </a:pP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'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좋아요'를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받은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양질의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답변을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선별하여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향후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GRPO 등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강화학습을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위한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고품질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데이터셋으로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활용합니다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3DEF748-1654-C459-EF55-69CBB52BA60F}"/>
              </a:ext>
            </a:extLst>
          </p:cNvPr>
          <p:cNvGrpSpPr/>
          <p:nvPr/>
        </p:nvGrpSpPr>
        <p:grpSpPr>
          <a:xfrm>
            <a:off x="7341088" y="1009517"/>
            <a:ext cx="4611152" cy="1720730"/>
            <a:chOff x="7301448" y="4955915"/>
            <a:chExt cx="4611152" cy="1720730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3DA8BD7B-01A8-C111-DA41-4666DDCD8EBE}"/>
                </a:ext>
              </a:extLst>
            </p:cNvPr>
            <p:cNvSpPr/>
            <p:nvPr/>
          </p:nvSpPr>
          <p:spPr>
            <a:xfrm>
              <a:off x="7301448" y="4955915"/>
              <a:ext cx="4611152" cy="17207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2" name="Picture 16">
              <a:extLst>
                <a:ext uri="{FF2B5EF4-FFF2-40B4-BE49-F238E27FC236}">
                  <a16:creationId xmlns:a16="http://schemas.microsoft.com/office/drawing/2014/main" id="{C81C907E-7A02-1328-4ABE-25B63463A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26575" y="5069712"/>
              <a:ext cx="4160898" cy="369332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B529E4-4796-8D83-C890-07A3C4432635}"/>
                </a:ext>
              </a:extLst>
            </p:cNvPr>
            <p:cNvSpPr txBox="1"/>
            <p:nvPr/>
          </p:nvSpPr>
          <p:spPr>
            <a:xfrm>
              <a:off x="7817912" y="5069712"/>
              <a:ext cx="35782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Point</a:t>
              </a:r>
              <a:r>
                <a:rPr lang="ko-KR" altLang="en-US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01. </a:t>
              </a:r>
              <a:r>
                <a:rPr lang="en-US" altLang="ko-KR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성능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b="1" dirty="0" err="1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평가</a:t>
              </a:r>
              <a:r>
                <a:rPr lang="en-US" altLang="ko-KR" b="1" dirty="0">
                  <a:solidFill>
                    <a:srgbClr val="FF4F00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(Evaluation)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B46FE66-C162-CC6F-7338-3A341EA90F16}"/>
                </a:ext>
              </a:extLst>
            </p:cNvPr>
            <p:cNvSpPr txBox="1"/>
            <p:nvPr/>
          </p:nvSpPr>
          <p:spPr>
            <a:xfrm>
              <a:off x="7469629" y="5503911"/>
              <a:ext cx="4354071" cy="5703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lnSpc>
                  <a:spcPct val="116199"/>
                </a:lnSpc>
              </a:pP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사용자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피드백을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정량화하여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RAG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모델의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답변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정확도와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신뢰도를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객관적으로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400" spc="-100" dirty="0" err="1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측정합니다</a:t>
              </a:r>
              <a:r>
                <a:rPr lang="en-US" altLang="ko-KR" sz="1400" spc="-100" dirty="0">
                  <a:solidFill>
                    <a:srgbClr val="272424"/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</a:p>
          </p:txBody>
        </p:sp>
      </p:grpSp>
      <p:pic>
        <p:nvPicPr>
          <p:cNvPr id="49" name="Picture 3">
            <a:extLst>
              <a:ext uri="{FF2B5EF4-FFF2-40B4-BE49-F238E27FC236}">
                <a16:creationId xmlns:a16="http://schemas.microsoft.com/office/drawing/2014/main" id="{08AA26D0-3915-FE76-87F9-B18EF6E78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349586" y="2177131"/>
            <a:ext cx="355600" cy="406400"/>
          </a:xfrm>
          <a:prstGeom prst="rect">
            <a:avLst/>
          </a:prstGeom>
        </p:spPr>
      </p:pic>
      <p:pic>
        <p:nvPicPr>
          <p:cNvPr id="50" name="Picture 4">
            <a:extLst>
              <a:ext uri="{FF2B5EF4-FFF2-40B4-BE49-F238E27FC236}">
                <a16:creationId xmlns:a16="http://schemas.microsoft.com/office/drawing/2014/main" id="{5CA1A1E6-2D9A-5957-654D-68AEC64B34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400386" y="4063171"/>
            <a:ext cx="304800" cy="406400"/>
          </a:xfrm>
          <a:prstGeom prst="rect">
            <a:avLst/>
          </a:prstGeom>
        </p:spPr>
      </p:pic>
      <p:pic>
        <p:nvPicPr>
          <p:cNvPr id="51" name="Picture 5">
            <a:extLst>
              <a:ext uri="{FF2B5EF4-FFF2-40B4-BE49-F238E27FC236}">
                <a16:creationId xmlns:a16="http://schemas.microsoft.com/office/drawing/2014/main" id="{00EF59CC-EF65-7F39-0A45-BF30911935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435776" y="6076504"/>
            <a:ext cx="3556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257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3B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B4B28-6F8C-603E-B2E7-80EF468EC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22A140D-4324-57C9-0976-37C15D005AB9}"/>
              </a:ext>
            </a:extLst>
          </p:cNvPr>
          <p:cNvSpPr/>
          <p:nvPr/>
        </p:nvSpPr>
        <p:spPr>
          <a:xfrm>
            <a:off x="-21140" y="4254695"/>
            <a:ext cx="12213140" cy="9581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EF0D25C-6333-896E-8293-B181333B7DA1}"/>
              </a:ext>
            </a:extLst>
          </p:cNvPr>
          <p:cNvGrpSpPr/>
          <p:nvPr/>
        </p:nvGrpSpPr>
        <p:grpSpPr>
          <a:xfrm>
            <a:off x="7799440" y="1151527"/>
            <a:ext cx="1682658" cy="1451778"/>
            <a:chOff x="10049830" y="1698245"/>
            <a:chExt cx="1682658" cy="1451778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02D61E18-5E40-2A73-B638-75B53CD767C5}"/>
                </a:ext>
              </a:extLst>
            </p:cNvPr>
            <p:cNvSpPr/>
            <p:nvPr/>
          </p:nvSpPr>
          <p:spPr>
            <a:xfrm>
              <a:off x="10049830" y="2427752"/>
              <a:ext cx="185420" cy="36396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8A33D4F-3A4D-B180-6749-9A6DDC585B69}"/>
                </a:ext>
              </a:extLst>
            </p:cNvPr>
            <p:cNvSpPr/>
            <p:nvPr/>
          </p:nvSpPr>
          <p:spPr>
            <a:xfrm>
              <a:off x="11547068" y="2427752"/>
              <a:ext cx="185420" cy="36396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말풍선: 모서리가 둥근 사각형 12">
              <a:extLst>
                <a:ext uri="{FF2B5EF4-FFF2-40B4-BE49-F238E27FC236}">
                  <a16:creationId xmlns:a16="http://schemas.microsoft.com/office/drawing/2014/main" id="{32971589-2067-5AEA-1DEF-D862CC79A5A4}"/>
                </a:ext>
              </a:extLst>
            </p:cNvPr>
            <p:cNvSpPr/>
            <p:nvPr/>
          </p:nvSpPr>
          <p:spPr>
            <a:xfrm>
              <a:off x="10141329" y="2121323"/>
              <a:ext cx="1498449" cy="1028700"/>
            </a:xfrm>
            <a:prstGeom prst="wedgeRoundRectCallout">
              <a:avLst>
                <a:gd name="adj1" fmla="val -44110"/>
                <a:gd name="adj2" fmla="val 75329"/>
                <a:gd name="adj3" fmla="val 166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CE5684C-6388-86ED-ECAF-D02474C70938}"/>
                </a:ext>
              </a:extLst>
            </p:cNvPr>
            <p:cNvSpPr/>
            <p:nvPr/>
          </p:nvSpPr>
          <p:spPr>
            <a:xfrm>
              <a:off x="10466136" y="2444658"/>
              <a:ext cx="185420" cy="18272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EF596AFB-9100-E108-8E6F-807358B20E1E}"/>
                </a:ext>
              </a:extLst>
            </p:cNvPr>
            <p:cNvSpPr/>
            <p:nvPr/>
          </p:nvSpPr>
          <p:spPr>
            <a:xfrm>
              <a:off x="11123213" y="2444658"/>
              <a:ext cx="185420" cy="18272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순서도: 수행의 시작/종료 16">
              <a:extLst>
                <a:ext uri="{FF2B5EF4-FFF2-40B4-BE49-F238E27FC236}">
                  <a16:creationId xmlns:a16="http://schemas.microsoft.com/office/drawing/2014/main" id="{D4E56DB7-D28A-A80B-A143-8C6FFAE44D27}"/>
                </a:ext>
              </a:extLst>
            </p:cNvPr>
            <p:cNvSpPr/>
            <p:nvPr/>
          </p:nvSpPr>
          <p:spPr>
            <a:xfrm rot="5400000">
              <a:off x="10496145" y="2116615"/>
              <a:ext cx="788816" cy="50002"/>
            </a:xfrm>
            <a:prstGeom prst="flowChartTermina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BE4B4FFA-D939-10F6-31AB-D9529F84C194}"/>
                </a:ext>
              </a:extLst>
            </p:cNvPr>
            <p:cNvSpPr/>
            <p:nvPr/>
          </p:nvSpPr>
          <p:spPr>
            <a:xfrm>
              <a:off x="10810818" y="1698245"/>
              <a:ext cx="175260" cy="1752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왼쪽 대괄호 19">
              <a:extLst>
                <a:ext uri="{FF2B5EF4-FFF2-40B4-BE49-F238E27FC236}">
                  <a16:creationId xmlns:a16="http://schemas.microsoft.com/office/drawing/2014/main" id="{136566E7-C548-CF70-CC54-E7DCBCBF8573}"/>
                </a:ext>
              </a:extLst>
            </p:cNvPr>
            <p:cNvSpPr/>
            <p:nvPr/>
          </p:nvSpPr>
          <p:spPr>
            <a:xfrm rot="16200000">
              <a:off x="10814895" y="2575488"/>
              <a:ext cx="151368" cy="530960"/>
            </a:xfrm>
            <a:prstGeom prst="leftBracket">
              <a:avLst/>
            </a:prstGeom>
            <a:ln w="38100" cmpd="sng">
              <a:solidFill>
                <a:srgbClr val="455D7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8898036-E2E3-B541-5F59-B67960DEF98D}"/>
              </a:ext>
            </a:extLst>
          </p:cNvPr>
          <p:cNvSpPr txBox="1"/>
          <p:nvPr/>
        </p:nvSpPr>
        <p:spPr>
          <a:xfrm>
            <a:off x="4309293" y="2967335"/>
            <a:ext cx="35734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감사합니다</a:t>
            </a:r>
            <a:r>
              <a:rPr lang="en-US" altLang="ko-KR" sz="54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956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BRANDNEW_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55D73"/>
      </a:accent1>
      <a:accent2>
        <a:srgbClr val="3F739B"/>
      </a:accent2>
      <a:accent3>
        <a:srgbClr val="D69137"/>
      </a:accent3>
      <a:accent4>
        <a:srgbClr val="EFBF81"/>
      </a:accent4>
      <a:accent5>
        <a:srgbClr val="F2818E"/>
      </a:accent5>
      <a:accent6>
        <a:srgbClr val="E73126"/>
      </a:accent6>
      <a:hlink>
        <a:srgbClr val="3F3F3F"/>
      </a:hlink>
      <a:folHlink>
        <a:srgbClr val="3F3F3F"/>
      </a:folHlink>
    </a:clrScheme>
    <a:fontScheme name="Pretendard_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4679</Words>
  <Application>Microsoft Office PowerPoint</Application>
  <PresentationFormat>와이드스크린</PresentationFormat>
  <Paragraphs>856</Paragraphs>
  <Slides>39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53" baseType="lpstr">
      <vt:lpstr>Noto Sans CJK KR Light</vt:lpstr>
      <vt:lpstr>Noto Sans KR</vt:lpstr>
      <vt:lpstr>Noto Sans KR Black</vt:lpstr>
      <vt:lpstr>Noto Sans KR DemiLight</vt:lpstr>
      <vt:lpstr>Noto Sans KR Light</vt:lpstr>
      <vt:lpstr>Noto Sans KR Medium</vt:lpstr>
      <vt:lpstr>Noto Serif KR</vt:lpstr>
      <vt:lpstr>Pretendard</vt:lpstr>
      <vt:lpstr>Pretendard Black</vt:lpstr>
      <vt:lpstr>Pretendard Regular</vt:lpstr>
      <vt:lpstr>맑은 고딕</vt:lpstr>
      <vt:lpstr>ADLaM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우정 장</cp:lastModifiedBy>
  <cp:revision>63</cp:revision>
  <cp:lastPrinted>2026-02-12T04:59:10Z</cp:lastPrinted>
  <dcterms:created xsi:type="dcterms:W3CDTF">2022-01-22T09:46:56Z</dcterms:created>
  <dcterms:modified xsi:type="dcterms:W3CDTF">2026-02-13T00:10:35Z</dcterms:modified>
</cp:coreProperties>
</file>